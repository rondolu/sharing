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96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規則分布</c:v>
                </c:pt>
              </c:strCache>
            </c:strRef>
          </c:tx>
          <c:dPt>
            <c:idx val="0"/>
            <c:bubble3D val="0"/>
            <c:spPr>
              <a:solidFill>
                <a:srgbClr val="F75801"/>
              </a:solidFill>
            </c:spPr>
            <c:extLst>
              <c:ext xmlns:c16="http://schemas.microsoft.com/office/drawing/2014/chart" uri="{C3380CC4-5D6E-409C-BE32-E72D297353CC}">
                <c16:uniqueId val="{00000001-788C-4F55-A7EB-ADAC1BD1DD5A}"/>
              </c:ext>
            </c:extLst>
          </c:dPt>
          <c:dPt>
            <c:idx val="1"/>
            <c:bubble3D val="0"/>
            <c:spPr>
              <a:solidFill>
                <a:srgbClr val="FFD600"/>
              </a:solidFill>
            </c:spPr>
            <c:extLst>
              <c:ext xmlns:c16="http://schemas.microsoft.com/office/drawing/2014/chart" uri="{C3380CC4-5D6E-409C-BE32-E72D297353CC}">
                <c16:uniqueId val="{00000003-788C-4F55-A7EB-ADAC1BD1DD5A}"/>
              </c:ext>
            </c:extLst>
          </c:dPt>
          <c:dPt>
            <c:idx val="2"/>
            <c:bubble3D val="0"/>
            <c:spPr>
              <a:solidFill>
                <a:srgbClr val="36CBDA"/>
              </a:solidFill>
            </c:spPr>
            <c:extLst>
              <c:ext xmlns:c16="http://schemas.microsoft.com/office/drawing/2014/chart" uri="{C3380CC4-5D6E-409C-BE32-E72D297353CC}">
                <c16:uniqueId val="{00000005-788C-4F55-A7EB-ADAC1BD1DD5A}"/>
              </c:ext>
            </c:extLst>
          </c:dPt>
          <c:cat>
            <c:strRef>
              <c:f>Sheet1!$A$2:$A$4</c:f>
              <c:strCache>
                <c:ptCount val="3"/>
                <c:pt idx="0">
                  <c:v>MUST (Fail)</c:v>
                </c:pt>
                <c:pt idx="1">
                  <c:v>SHOULD (Warning)</c:v>
                </c:pt>
                <c:pt idx="2">
                  <c:v>MAY (Pass)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88C-4F55-A7EB-ADAC1BD1D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900">
              <a:solidFill>
                <a:srgbClr val="262626"/>
              </a:solidFill>
            </a:defRPr>
          </a:pPr>
          <a:endParaRPr lang="zh-TW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規則數量</c:v>
                </c:pt>
              </c:strCache>
            </c:strRef>
          </c:tx>
          <c:spPr>
            <a:solidFill>
              <a:srgbClr val="186AFF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Formatting</c:v>
                </c:pt>
                <c:pt idx="1">
                  <c:v>Style</c:v>
                </c:pt>
                <c:pt idx="2">
                  <c:v>Security</c:v>
                </c:pt>
                <c:pt idx="3">
                  <c:v>Type Hints</c:v>
                </c:pt>
                <c:pt idx="4">
                  <c:v>SQL</c:v>
                </c:pt>
                <c:pt idx="5">
                  <c:v>BigQuery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69B-443A-BE9A-4442442D42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800">
                <a:solidFill>
                  <a:srgbClr val="A5A5A5"/>
                </a:solidFill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900">
                <a:solidFill>
                  <a:srgbClr val="A5A5A5"/>
                </a:solidFill>
              </a:defRPr>
            </a:pPr>
            <a:endParaRPr lang="zh-TW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Agentic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B2D9FC"/>
                </a:solidFill>
                <a:latin typeface="Microsoft JhengHei"/>
              </a:defRPr>
            </a:pPr>
            <a:r>
              <a:t>AI 驅動程式碼審查 — 使用者操作手冊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80A0D0"/>
                </a:solidFill>
                <a:latin typeface="Arial"/>
              </a:defRPr>
            </a:pPr>
            <a:r>
              <a:t>CDC-Projects  |  GitHub Copilot Agent  |  VS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5A5A5"/>
                </a:solidFill>
                <a:latin typeface="Microsoft JhengHei"/>
              </a:defRPr>
            </a:pPr>
            <a:r>
              <a:t>2026 年 2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目  錄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188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專案總覽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系統定位與核心價值</a:t>
            </a:r>
          </a:p>
        </p:txBody>
      </p:sp>
      <p:sp>
        <p:nvSpPr>
          <p:cNvPr id="7" name="Oval 6"/>
          <p:cNvSpPr/>
          <p:nvPr/>
        </p:nvSpPr>
        <p:spPr>
          <a:xfrm>
            <a:off x="4846320" y="1234440"/>
            <a:ext cx="411480" cy="4114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59" y="11887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系統架構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Prompt × Agent 分離架構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39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1031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功能模組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4231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審查規則、修正引擎、報告產出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2148839"/>
            <a:ext cx="411480" cy="4114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1031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操作流程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4231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從觸發到產出的完整步驟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063239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017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背後運作機制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337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技術流程深度解析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3063239"/>
            <a:ext cx="411480" cy="4114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0175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審查規則體系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3337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MUST / SHOULD / MAY 分級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977639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931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審查報告解讀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25195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報告結構與欄位說明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3977639"/>
            <a:ext cx="411480" cy="4114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393192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t>技術棧總覽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25195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語言、框架、雲端平台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專案總覽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系統定位 · 核心價值 · KPI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Agentic Code Review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利用</a:t>
            </a:r>
            <a:r>
              <a:rPr dirty="0"/>
              <a:t> GitHub Copilot Agent </a:t>
            </a:r>
            <a:r>
              <a:rPr dirty="0" err="1"/>
              <a:t>輔助程式碼審查，透過標準化規則自動偵測</a:t>
            </a:r>
            <a:r>
              <a:rPr dirty="0"/>
              <a:t> Python / SQL </a:t>
            </a:r>
            <a:r>
              <a:rPr dirty="0" err="1"/>
              <a:t>品質問題，並提供一鍵修正功能，大幅降低人工成本</a:t>
            </a:r>
            <a:r>
              <a:rPr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19" y="2148840"/>
            <a:ext cx="274320" cy="274320"/>
          </a:xfrm>
          <a:prstGeom prst="ellipse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46888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843AD"/>
                </a:solidFill>
                <a:latin typeface="Arial"/>
              </a:defRPr>
            </a:pPr>
            <a:r>
              <a:rPr sz="240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017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核心</a:t>
            </a:r>
            <a:r>
              <a:rPr dirty="0"/>
              <a:t>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11680"/>
            <a:ext cx="18288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20440" y="2148840"/>
            <a:ext cx="274320" cy="27432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77671" y="25146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86AFF"/>
                </a:solidFill>
                <a:latin typeface="Arial"/>
              </a:defRPr>
            </a:pPr>
            <a:r>
              <a:rPr sz="2400" dirty="0"/>
              <a:t>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17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審查規則類別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18288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23559" y="2148840"/>
            <a:ext cx="274320" cy="27432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59" y="2520315"/>
            <a:ext cx="1645920" cy="44577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36CBDA"/>
                </a:solidFill>
                <a:latin typeface="Arial"/>
              </a:defRPr>
            </a:pPr>
            <a:r>
              <a:rPr sz="2400" dirty="0"/>
              <a:t>3 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30175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嚴重度分級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949440" y="2011680"/>
            <a:ext cx="1828800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26679" y="2148840"/>
            <a:ext cx="274320" cy="274320"/>
          </a:xfrm>
          <a:prstGeom prst="ellipse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0" y="2521660"/>
            <a:ext cx="1645920" cy="5634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75801"/>
                </a:solidFill>
                <a:latin typeface="Arial"/>
              </a:defRPr>
            </a:pPr>
            <a:r>
              <a:rPr sz="2400" dirty="0"/>
              <a:t>1-Click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300272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自動修正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5A5A5"/>
                </a:solidFill>
                <a:latin typeface="Microsoft JhengHei"/>
              </a:defRPr>
            </a:pPr>
            <a:r>
              <a:rPr dirty="0" err="1"/>
              <a:t>審查範圍：Python</a:t>
            </a:r>
            <a:r>
              <a:rPr dirty="0"/>
              <a:t> 3.11  ·  </a:t>
            </a:r>
            <a:r>
              <a:rPr dirty="0" err="1"/>
              <a:t>BigQuery</a:t>
            </a:r>
            <a:r>
              <a:rPr dirty="0"/>
              <a:t> Standard SQL  ·  GCP Cloud Run </a:t>
            </a:r>
            <a:r>
              <a:rPr dirty="0" err="1"/>
              <a:t>微服務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Prompt × Agent 分離設計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Prompt × Agent 分離架構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A5A5A5"/>
                </a:solidFill>
                <a:latin typeface="Microsoft JhengHei"/>
              </a:defRPr>
            </a:pPr>
            <a:r>
              <a:t>規則定義（Prompt）與執行邏輯（Agent）完全分離，可獨立維護與擴充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57600" cy="2926080"/>
          </a:xfrm>
          <a:prstGeom prst="round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843AD"/>
                </a:solidFill>
                <a:latin typeface="Microsoft JhengHei"/>
              </a:defRPr>
            </a:pPr>
            <a:r>
              <a:t>📋 Prompt 層（規則定義）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3108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86AFF"/>
                </a:solidFill>
                <a:latin typeface="Arial"/>
              </a:defRPr>
            </a:pPr>
            <a:r>
              <a:t>code-review.prompt.md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62626"/>
                </a:solidFill>
                <a:latin typeface="Microsoft JhengHei"/>
              </a:defRPr>
            </a:pPr>
            <a:r>
              <a:t>審查規則：PEP8、Docstring、型別標註、SQL 規範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3108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3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86AFF"/>
                </a:solidFill>
                <a:latin typeface="Arial"/>
              </a:defRPr>
            </a:pPr>
            <a:r>
              <a:t>apply-fix.prompt.md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6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62626"/>
                </a:solidFill>
                <a:latin typeface="Microsoft JhengHei"/>
              </a:defRPr>
            </a:pPr>
            <a:r>
              <a:t>修正規則：安全檢查、保守策略、diff 套用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34840" y="2743200"/>
            <a:ext cx="457200" cy="32004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3657600" cy="2926080"/>
          </a:xfrm>
          <a:prstGeom prst="round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16459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843AD"/>
                </a:solidFill>
                <a:latin typeface="Microsoft JhengHei"/>
              </a:defRPr>
            </a:pPr>
            <a:r>
              <a:t>🤖 Agent 層（執行邏輯）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148840"/>
            <a:ext cx="3108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21945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86AFF"/>
                </a:solidFill>
                <a:latin typeface="Arial"/>
              </a:defRPr>
            </a:pPr>
            <a:r>
              <a:t>review.agent.md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688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62626"/>
                </a:solidFill>
                <a:latin typeface="Microsoft JhengHei"/>
              </a:defRPr>
            </a:pPr>
            <a:r>
              <a:t>啟動門檻檢查 → 逐檔審查 → 產出結構化報告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017520"/>
            <a:ext cx="310896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86AFF"/>
                </a:solidFill>
                <a:latin typeface="Arial"/>
              </a:defRPr>
            </a:pPr>
            <a:r>
              <a:t>apply-fix.agent.md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33756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262626"/>
                </a:solidFill>
                <a:latin typeface="Microsoft JhengHei"/>
              </a:defRPr>
            </a:pPr>
            <a:r>
              <a:t>解析 diff 區塊 → 安全驗證 → apply_patch 套用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核心檔案結構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45720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CCCCC"/>
                </a:solidFill>
                <a:latin typeface="Consolas"/>
              </a:defRPr>
            </a:pPr>
            <a:r>
              <a:t>.github/</a:t>
            </a:r>
          </a:p>
          <a:p>
            <a:pPr>
              <a:spcAft>
                <a:spcPts val="200"/>
              </a:spcAft>
              <a:defRPr sz="1300">
                <a:solidFill>
                  <a:srgbClr val="82DFE8"/>
                </a:solidFill>
                <a:latin typeface="Consolas"/>
              </a:defRPr>
            </a:pPr>
            <a:r>
              <a:t>  ├── prompts/</a:t>
            </a:r>
          </a:p>
          <a:p>
            <a:pPr>
              <a:spcAft>
                <a:spcPts val="200"/>
              </a:spcAft>
              <a:defRPr sz="1300">
                <a:solidFill>
                  <a:srgbClr val="82DFE8"/>
                </a:solidFill>
                <a:latin typeface="Consolas"/>
              </a:defRPr>
            </a:pPr>
            <a:r>
              <a:t>  │   ├── code-review.prompt.md</a:t>
            </a:r>
          </a:p>
          <a:p>
            <a:pPr>
              <a:spcAft>
                <a:spcPts val="200"/>
              </a:spcAft>
              <a:defRPr sz="1300">
                <a:solidFill>
                  <a:srgbClr val="82DFE8"/>
                </a:solidFill>
                <a:latin typeface="Consolas"/>
              </a:defRPr>
            </a:pPr>
            <a:r>
              <a:t>  │   └── apply-fix.prompt.md</a:t>
            </a:r>
          </a:p>
          <a:p>
            <a:pPr>
              <a:spcAft>
                <a:spcPts val="200"/>
              </a:spcAft>
              <a:defRPr sz="1300">
                <a:solidFill>
                  <a:srgbClr val="FFD600"/>
                </a:solidFill>
                <a:latin typeface="Consolas"/>
              </a:defRPr>
            </a:pPr>
            <a:r>
              <a:t>  └── agents/</a:t>
            </a:r>
          </a:p>
          <a:p>
            <a:pPr>
              <a:spcAft>
                <a:spcPts val="200"/>
              </a:spcAft>
              <a:defRPr sz="1300">
                <a:solidFill>
                  <a:srgbClr val="FFD600"/>
                </a:solidFill>
                <a:latin typeface="Consolas"/>
              </a:defRPr>
            </a:pPr>
            <a:r>
              <a:t>      ├── review.agent.md</a:t>
            </a:r>
          </a:p>
          <a:p>
            <a:pPr>
              <a:spcAft>
                <a:spcPts val="200"/>
              </a:spcAft>
              <a:defRPr sz="1300">
                <a:solidFill>
                  <a:srgbClr val="FFD600"/>
                </a:solidFill>
                <a:latin typeface="Consolas"/>
              </a:defRPr>
            </a:pPr>
            <a:r>
              <a:t>      └── apply-fix.agent.md</a:t>
            </a:r>
          </a:p>
          <a:p>
            <a:pPr>
              <a:spcAft>
                <a:spcPts val="200"/>
              </a:spcAft>
              <a:defRPr sz="1300">
                <a:solidFill>
                  <a:srgbClr val="F75801"/>
                </a:solidFill>
                <a:latin typeface="Consolas"/>
              </a:defRPr>
            </a:pPr>
            <a:r>
              <a:t>Code_review_result.md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1516" y="1245107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62626"/>
                </a:solidFill>
                <a:latin typeface="Microsoft JhengHei"/>
              </a:defRPr>
            </a:pPr>
            <a:r>
              <a:rPr dirty="0" err="1"/>
              <a:t>圖例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5669280" y="1910264"/>
            <a:ext cx="182880" cy="182880"/>
          </a:xfrm>
          <a:prstGeom prst="ellipse">
            <a:avLst/>
          </a:prstGeom>
          <a:solidFill>
            <a:srgbClr val="82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5943600" y="184625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rPr sz="1600" dirty="0"/>
              <a:t>Prompt 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55767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rPr b="1" dirty="0" err="1">
                <a:solidFill>
                  <a:schemeClr val="bg2">
                    <a:lumMod val="50000"/>
                  </a:schemeClr>
                </a:solidFill>
              </a:rPr>
              <a:t>定義審查</a:t>
            </a:r>
            <a:r>
              <a:rPr b="1" dirty="0">
                <a:solidFill>
                  <a:schemeClr val="bg2">
                    <a:lumMod val="50000"/>
                  </a:schemeClr>
                </a:solidFill>
              </a:rPr>
              <a:t> / </a:t>
            </a:r>
            <a:r>
              <a:rPr b="1" dirty="0" err="1">
                <a:solidFill>
                  <a:schemeClr val="bg2">
                    <a:lumMod val="50000"/>
                  </a:schemeClr>
                </a:solidFill>
              </a:rPr>
              <a:t>修正規則</a:t>
            </a:r>
            <a:endParaRPr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669280" y="2694293"/>
            <a:ext cx="182880" cy="18288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943600" y="2630285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rPr sz="1600"/>
              <a:t>Agent 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3979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rPr b="1" dirty="0" err="1">
                <a:solidFill>
                  <a:schemeClr val="bg2">
                    <a:lumMod val="50000"/>
                  </a:schemeClr>
                </a:solidFill>
              </a:rPr>
              <a:t>控制執行流程與邏輯</a:t>
            </a:r>
            <a:endParaRPr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69280" y="3488436"/>
            <a:ext cx="182880" cy="182880"/>
          </a:xfrm>
          <a:prstGeom prst="ellipse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5943600" y="34244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rPr sz="1600"/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706507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rPr b="1" dirty="0" err="1">
                <a:solidFill>
                  <a:schemeClr val="bg2">
                    <a:lumMod val="50000"/>
                  </a:schemeClr>
                </a:solidFill>
              </a:rPr>
              <a:t>審查結果報告</a:t>
            </a:r>
            <a:endParaRPr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功能模組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審查引擎 · 修正引擎 · 報告產出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三大功能模組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06040" cy="3474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17320" y="1280160"/>
            <a:ext cx="640080" cy="6400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6AFF"/>
                </a:solidFill>
                <a:latin typeface="Arial"/>
              </a:defRPr>
            </a:pPr>
            <a:r>
              <a:t>Code Review</a:t>
            </a:r>
          </a:p>
          <a:p>
            <a:pPr algn="ctr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審查引擎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載入審查規則集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逐檔掃描程式碼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偵測 Python / SQL 品質問題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計算審查覆蓋率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06040" cy="3474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97680" y="1280160"/>
            <a:ext cx="640080" cy="6400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6CBDA"/>
                </a:solidFill>
                <a:latin typeface="Arial"/>
              </a:defRPr>
            </a:pPr>
            <a:r>
              <a:t>Apply Fix</a:t>
            </a:r>
          </a:p>
          <a:p>
            <a:pPr algn="ctr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自動修正引擎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解析 diff 區塊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安全性檢查（路徑驗證）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保守策略套用修正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支援 --include-warning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606040" cy="34747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78040" y="1280160"/>
            <a:ext cx="640080" cy="640080"/>
          </a:xfrm>
          <a:prstGeom prst="ellipse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75801"/>
                </a:solidFill>
                <a:latin typeface="Arial"/>
              </a:defRPr>
            </a:pPr>
            <a:r>
              <a:t>Report</a:t>
            </a:r>
          </a:p>
          <a:p>
            <a:pPr algn="ctr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報告產出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結構化 Markdown 報告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規則狀態表格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可套用 diff 區塊</a:t>
            </a:r>
          </a:p>
          <a:p>
            <a:pPr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行動指南 (CTA)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從觸發到產出的完整步驟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使用者操作流程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325880"/>
            <a:ext cx="548640" cy="54864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86AFF"/>
                </a:solidFill>
                <a:latin typeface="Microsoft JhengHei"/>
              </a:defRPr>
            </a:pPr>
            <a:r>
              <a:rPr dirty="0" err="1"/>
              <a:t>觸發審查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在 VS Code </a:t>
            </a:r>
            <a:r>
              <a:rPr b="1" dirty="0" err="1"/>
              <a:t>中輸入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/code-review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並附上檔案路徑</a:t>
            </a:r>
            <a:endParaRPr b="1" dirty="0"/>
          </a:p>
        </p:txBody>
      </p:sp>
      <p:sp>
        <p:nvSpPr>
          <p:cNvPr id="9" name="Right Arrow 8"/>
          <p:cNvSpPr/>
          <p:nvPr/>
        </p:nvSpPr>
        <p:spPr>
          <a:xfrm>
            <a:off x="2423160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91839" y="1325880"/>
            <a:ext cx="548640" cy="548640"/>
          </a:xfrm>
          <a:prstGeom prst="ellipse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843AD"/>
                </a:solidFill>
                <a:latin typeface="Microsoft JhengHei"/>
              </a:defRPr>
            </a:pPr>
            <a:r>
              <a:rPr dirty="0"/>
              <a:t>AI </a:t>
            </a:r>
            <a:r>
              <a:rPr dirty="0" err="1"/>
              <a:t>執行審查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926079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Agent </a:t>
            </a:r>
            <a:r>
              <a:rPr b="1" dirty="0" err="1"/>
              <a:t>載入規則集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逐檔掃描程式碼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產出審查結果</a:t>
            </a:r>
            <a:endParaRPr b="1" dirty="0"/>
          </a:p>
        </p:txBody>
      </p:sp>
      <p:sp>
        <p:nvSpPr>
          <p:cNvPr id="15" name="Right Arrow 14"/>
          <p:cNvSpPr/>
          <p:nvPr/>
        </p:nvSpPr>
        <p:spPr>
          <a:xfrm>
            <a:off x="4617720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6320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0" y="1325880"/>
            <a:ext cx="548640" cy="548640"/>
          </a:xfrm>
          <a:prstGeom prst="ellipse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D8FD6"/>
                </a:solidFill>
                <a:latin typeface="Microsoft JhengHei"/>
              </a:defRPr>
            </a:pPr>
            <a:r>
              <a:t>檢視報告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560320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開啟報告檢視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規則狀態表格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Fail / Warning / Pass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12279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40879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80959" y="1325880"/>
            <a:ext cx="548640" cy="54864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6CBDA"/>
                </a:solidFill>
                <a:latin typeface="Microsoft JhengHei"/>
              </a:defRPr>
            </a:pPr>
            <a:r>
              <a:t>自動修正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199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2560320"/>
            <a:ext cx="16459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輸入 /apply-fix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自動套用 Fail 修正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可加 --include-warning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使用者操作流程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528" y="1316182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2423160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51760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91839" y="1325880"/>
            <a:ext cx="548640" cy="548640"/>
          </a:xfrm>
          <a:prstGeom prst="ellipse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 dirty="0"/>
              <a:t>2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843AD"/>
                </a:solidFill>
                <a:latin typeface="Microsoft JhengHei"/>
              </a:defRPr>
            </a:pPr>
            <a:r>
              <a:t>AI 執行審查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Agent </a:t>
            </a:r>
            <a:r>
              <a:rPr b="1" dirty="0" err="1"/>
              <a:t>載入規則集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逐檔掃描程式碼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產出審查結果</a:t>
            </a:r>
            <a:endParaRPr b="1" dirty="0"/>
          </a:p>
        </p:txBody>
      </p:sp>
      <p:sp>
        <p:nvSpPr>
          <p:cNvPr id="15" name="Right Arrow 14"/>
          <p:cNvSpPr/>
          <p:nvPr/>
        </p:nvSpPr>
        <p:spPr>
          <a:xfrm>
            <a:off x="4617720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6320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0" y="1325880"/>
            <a:ext cx="548640" cy="548640"/>
          </a:xfrm>
          <a:prstGeom prst="ellipse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 dirty="0"/>
              <a:t>3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937759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4D8FD6"/>
                </a:solidFill>
                <a:latin typeface="Microsoft JhengHei"/>
              </a:defRPr>
            </a:pPr>
            <a:r>
              <a:t>檢視報告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560320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開啟報告檢視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規則狀態表格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Fail / Warning / Pass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12279" y="256032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40879" y="1188720"/>
            <a:ext cx="1920240" cy="3108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80959" y="1325880"/>
            <a:ext cx="548640" cy="54864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36CBDA"/>
                </a:solidFill>
                <a:latin typeface="Microsoft JhengHei"/>
              </a:defRPr>
            </a:pPr>
            <a:r>
              <a:t>自動修正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199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2560320"/>
            <a:ext cx="16459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輸入 /apply-fix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自動套用 Fail 修正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/>
              <a:t>可加 --include-warning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D477367-79CC-FEAC-3BB9-AC55EE7961AF}"/>
              </a:ext>
            </a:extLst>
          </p:cNvPr>
          <p:cNvSpPr txBox="1"/>
          <p:nvPr/>
        </p:nvSpPr>
        <p:spPr>
          <a:xfrm>
            <a:off x="254820" y="894173"/>
            <a:ext cx="8706299" cy="3750978"/>
          </a:xfrm>
          <a:prstGeom prst="rect">
            <a:avLst/>
          </a:prstGeom>
          <a:solidFill>
            <a:schemeClr val="tx1">
              <a:lumMod val="50000"/>
              <a:lumOff val="50000"/>
              <a:alpha val="93000"/>
            </a:schemeClr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Oval 4"/>
          <p:cNvSpPr/>
          <p:nvPr/>
        </p:nvSpPr>
        <p:spPr>
          <a:xfrm>
            <a:off x="1097280" y="1325880"/>
            <a:ext cx="548640" cy="54864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sz="12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86AFF"/>
                </a:solidFill>
                <a:latin typeface="Microsoft JhengHei"/>
              </a:defRPr>
            </a:pPr>
            <a:r>
              <a:t>觸發審查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1371600" cy="274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598836"/>
            <a:ext cx="164592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在 VS Code </a:t>
            </a:r>
            <a:r>
              <a:rPr b="1" dirty="0" err="1"/>
              <a:t>中輸入</a:t>
            </a:r>
            <a:endParaRPr b="1" dirty="0"/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/>
              <a:t>/code-review</a:t>
            </a:r>
          </a:p>
          <a:p>
            <a:pPr algn="ctr">
              <a:spcAft>
                <a:spcPts val="4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rPr b="1" dirty="0" err="1"/>
              <a:t>並附上檔案路徑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83522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背後運作機制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技術流程深度解析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/code-review 背後流程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4114800" cy="457200"/>
          </a:xfrm>
          <a:prstGeom prst="round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使用者輸入 /code-review</a:t>
            </a:r>
          </a:p>
        </p:txBody>
      </p:sp>
      <p:sp>
        <p:nvSpPr>
          <p:cNvPr id="5" name="Down Arrow 4"/>
          <p:cNvSpPr/>
          <p:nvPr/>
        </p:nvSpPr>
        <p:spPr>
          <a:xfrm>
            <a:off x="2468880" y="1508760"/>
            <a:ext cx="137160" cy="164592"/>
          </a:xfrm>
          <a:prstGeom prst="downArrow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39"/>
            <a:ext cx="4114800" cy="457200"/>
          </a:xfrm>
          <a:prstGeom prst="round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review.agent.md 啟動</a:t>
            </a:r>
          </a:p>
        </p:txBody>
      </p:sp>
      <p:sp>
        <p:nvSpPr>
          <p:cNvPr id="7" name="Down Arrow 6"/>
          <p:cNvSpPr/>
          <p:nvPr/>
        </p:nvSpPr>
        <p:spPr>
          <a:xfrm>
            <a:off x="2468880" y="2148839"/>
            <a:ext cx="137160" cy="164592"/>
          </a:xfrm>
          <a:prstGeom prst="downArrow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4114800" cy="457200"/>
          </a:xfrm>
          <a:prstGeom prst="round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載入 code-review.prompt.md 規則</a:t>
            </a:r>
          </a:p>
        </p:txBody>
      </p:sp>
      <p:sp>
        <p:nvSpPr>
          <p:cNvPr id="9" name="Down Arrow 8"/>
          <p:cNvSpPr/>
          <p:nvPr/>
        </p:nvSpPr>
        <p:spPr>
          <a:xfrm>
            <a:off x="2468880" y="2788920"/>
            <a:ext cx="137160" cy="164592"/>
          </a:xfrm>
          <a:prstGeom prst="downArrow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971799"/>
            <a:ext cx="4114800" cy="457200"/>
          </a:xfrm>
          <a:prstGeom prst="round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計算 Coverage（覆蓋率）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468880" y="3428999"/>
            <a:ext cx="137160" cy="164592"/>
          </a:xfrm>
          <a:prstGeom prst="downArrow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4114800" cy="457200"/>
          </a:xfrm>
          <a:prstGeom prst="round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逐檔掃描 MUST / SHOULD / MAY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468880" y="4069079"/>
            <a:ext cx="137160" cy="164592"/>
          </a:xfrm>
          <a:prstGeom prst="downArrow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4114800" cy="457200"/>
          </a:xfrm>
          <a:prstGeom prst="round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t>產出結構化報告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051560"/>
            <a:ext cx="3474720" cy="3474720"/>
          </a:xfrm>
          <a:prstGeom prst="roundRect">
            <a:avLst/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94960" y="114300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843AD"/>
                </a:solidFill>
                <a:latin typeface="Microsoft JhengHei"/>
              </a:defRPr>
            </a:pPr>
            <a:r>
              <a:t>📄 Code_review_result.md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1645920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6002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Scope / Exclude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600200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審查範圍與排除項目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121408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3560" y="207568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07568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覆蓋率百分比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596896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60" y="2551176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Overall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551176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整體結果 Pass / Fail / Warning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3072384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3026664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Findings (Rules)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026664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每條規則的狀態表格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3547872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35021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Fail diff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02152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可自動套用的 diff 區塊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4023359"/>
            <a:ext cx="73152" cy="274320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3560" y="3977639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62626"/>
                </a:solidFill>
                <a:latin typeface="Arial"/>
              </a:defRPr>
            </a:pPr>
            <a:r>
              <a:t>CTA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77639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5A5A5"/>
                </a:solidFill>
                <a:latin typeface="Microsoft JhengHei"/>
              </a:defRPr>
            </a:pPr>
            <a:r>
              <a:t>操作行動指南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/apply-fix 背後流程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5087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508760" cy="73152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325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86AFF"/>
                </a:solidFill>
                <a:latin typeface="Microsoft JhengHei"/>
              </a:defRPr>
            </a:pPr>
            <a:r>
              <a:t>觸發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使用者輸入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/apply-fix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28800" y="228600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057400" y="1188720"/>
            <a:ext cx="15087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57400" y="1188720"/>
            <a:ext cx="1508760" cy="73152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1371600"/>
            <a:ext cx="1325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843AD"/>
                </a:solidFill>
                <a:latin typeface="Microsoft JhengHei"/>
              </a:defRPr>
            </a:pPr>
            <a:r>
              <a:t>Agent 啟動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8288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apply-fix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agent.md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載入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11880" y="228600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40480" y="1188720"/>
            <a:ext cx="15087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0" y="1188720"/>
            <a:ext cx="1508760" cy="73152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1371600"/>
            <a:ext cx="1325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75801"/>
                </a:solidFill>
                <a:latin typeface="Microsoft JhengHei"/>
              </a:defRPr>
            </a:pPr>
            <a:r>
              <a:t>安全檢查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8288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禁止絕對路徑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禁止 ..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不建立新檔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94960" y="228600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23559" y="1188720"/>
            <a:ext cx="15087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59" y="1188720"/>
            <a:ext cx="1508760" cy="73152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4999" y="1371600"/>
            <a:ext cx="1325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4D8FD6"/>
                </a:solidFill>
                <a:latin typeface="Microsoft JhengHei"/>
              </a:defRPr>
            </a:pPr>
            <a:r>
              <a:t>解析 Diff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999" y="18288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從報告擷取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diff 區塊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比對原始碼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78040" y="2286000"/>
            <a:ext cx="182880" cy="182880"/>
          </a:xfrm>
          <a:prstGeom prst="rightArrow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06640" y="1188720"/>
            <a:ext cx="1508760" cy="25603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06640" y="1188720"/>
            <a:ext cx="1508760" cy="73152"/>
          </a:xfrm>
          <a:prstGeom prst="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1371600"/>
            <a:ext cx="1325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6CBDA"/>
                </a:solidFill>
                <a:latin typeface="Microsoft JhengHei"/>
              </a:defRPr>
            </a:pPr>
            <a:r>
              <a:t>套用修正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82880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apply_patch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安全寫入</a:t>
            </a:r>
          </a:p>
          <a:p>
            <a:pPr algn="ctr">
              <a:spcAft>
                <a:spcPts val="300"/>
              </a:spcAft>
              <a:defRPr sz="1100">
                <a:solidFill>
                  <a:srgbClr val="262626"/>
                </a:solidFill>
                <a:latin typeface="Microsoft JhengHei"/>
              </a:defRPr>
            </a:pPr>
            <a:r>
              <a:t>完成修正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💡 預設僅套用 Fail 等級修正  |  加上 --include-warning 可擴大修正範圍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5A5A5"/>
                </a:solidFill>
                <a:latin typeface="Microsoft JhengHei"/>
              </a:defRPr>
            </a:pPr>
            <a:r>
              <a:t>保守策略：只套用有信心的修正，避免破壞性變更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審查規則體系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MUST / SHOULD / MAY 三級分類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規則嚴重度分級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" cy="2286000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75801"/>
                </a:solidFill>
                <a:latin typeface="Arial"/>
              </a:defRPr>
            </a:pPr>
            <a:r>
              <a:t>MUST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Fail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必須遵守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違反即判定失敗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強制要求修正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91440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39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D600"/>
                </a:solidFill>
                <a:latin typeface="Arial"/>
              </a:defRPr>
            </a:pPr>
            <a:r>
              <a:t>SHOULD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Warning 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建議遵守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列出改進建議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選擇性修正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25603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91440" cy="2286000"/>
          </a:xfrm>
          <a:prstGeom prst="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39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36CBDA"/>
                </a:solidFill>
                <a:latin typeface="Arial"/>
              </a:defRPr>
            </a:pPr>
            <a:r>
              <a:t>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62626"/>
                </a:solidFill>
                <a:latin typeface="Microsoft JhengHei"/>
              </a:defRPr>
            </a:pPr>
            <a:r>
              <a:t>Pass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可選遵守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最佳實踐推薦</a:t>
            </a:r>
          </a:p>
          <a:p>
            <a:pPr>
              <a:spcAft>
                <a:spcPts val="300"/>
              </a:spcAft>
              <a:defRPr sz="1200">
                <a:solidFill>
                  <a:srgbClr val="262626"/>
                </a:solidFill>
                <a:latin typeface="Microsoft JhengHei"/>
              </a:defRPr>
            </a:pPr>
            <a:r>
              <a:t>不影響通過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943600" y="3566160"/>
          <a:ext cx="27432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審查規則類別一覽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3035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Python Formatting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禁止 print 作為日誌、行長度、方法長度限制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Python Style (PEP8)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命名慣例、Docstring 規範、程式碼結構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39"/>
            <a:ext cx="53035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9455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Python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5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禁止回傳原始錯誤、Log Forging 防範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19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Python Type Hints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74319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使用 3.9+ 現代寫法 (dict 非 Dict)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39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SQL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91839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禁止 SELECT *、參數化查詢、Standard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843AD"/>
                </a:solidFill>
                <a:latin typeface="Arial"/>
              </a:defRPr>
            </a:pPr>
            <a:r>
              <a:t>BigQuery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4048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資料集 / 表命名規範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943600" y="1005840"/>
          <a:ext cx="2926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審查報告解讀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報告結構 · 欄位說明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843AD"/>
                </a:solidFill>
                <a:latin typeface="Microsoft JhengHei"/>
              </a:defRPr>
            </a:pPr>
            <a:r>
              <a:t>Code_review_result.md 報告結構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234439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86AFF"/>
                </a:solidFill>
                <a:latin typeface="Arial"/>
              </a:defRPr>
            </a:pPr>
            <a:r>
              <a:t>Scope / Exclude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定義此次審查的檔案範圍與排除項目，確保審查對象明確。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92040" y="1234439"/>
            <a:ext cx="411480" cy="411480"/>
          </a:xfrm>
          <a:prstGeom prst="ellipse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1887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843AD"/>
                </a:solidFill>
                <a:latin typeface="Arial"/>
              </a:defRPr>
            </a:pPr>
            <a: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55448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顯示審查覆蓋率百分比。若無法辨識檔案格式則標示 N/A → Fail。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39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4360" y="2514599"/>
            <a:ext cx="411480" cy="411480"/>
          </a:xfrm>
          <a:prstGeom prst="ellipse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79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D8FD6"/>
                </a:solidFill>
                <a:latin typeface="Arial"/>
              </a:defRPr>
            </a:pPr>
            <a:r>
              <a:t>Overall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39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整體結果判定：Pass ✅ / Fail ❌ / Warning ⚠️，一目了然。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377439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92040" y="2514599"/>
            <a:ext cx="411480" cy="411480"/>
          </a:xfrm>
          <a:prstGeom prst="ellipse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468879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6CBDA"/>
                </a:solidFill>
                <a:latin typeface="Arial"/>
              </a:defRPr>
            </a:pPr>
            <a:r>
              <a:t>Findings (Rules)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834639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每條規則的狀態表格，包含規則名稱、分級、判定結果。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3794760"/>
            <a:ext cx="411480" cy="411480"/>
          </a:xfrm>
          <a:prstGeom prst="ellipse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49039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86AFF"/>
                </a:solidFill>
                <a:latin typeface="Arial"/>
              </a:defRPr>
            </a:pPr>
            <a:r>
              <a:t>Fail 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可自動套用的 diff 區塊，使用 --- a/ +++ b/ 格式呈現。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657600"/>
            <a:ext cx="40233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92040" y="3794760"/>
            <a:ext cx="411480" cy="411480"/>
          </a:xfrm>
          <a:prstGeom prst="ellipse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749039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843AD"/>
                </a:solidFill>
                <a:latin typeface="Arial"/>
              </a:defRPr>
            </a:pPr>
            <a:r>
              <a:t>CTA (指南)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148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62626"/>
                </a:solidFill>
                <a:latin typeface="Microsoft JhengHei"/>
              </a:defRPr>
            </a:pPr>
            <a:r>
              <a:t>操作行動建議，指引使用者下一步驟（如執行 /apply-fix）。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36CBD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技術棧總覽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2D9FC"/>
                </a:solidFill>
                <a:latin typeface="Microsoft JhengHei"/>
              </a:defRPr>
            </a:pPr>
            <a:r>
              <a:t>語言 · 框架 · 雲端平台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843AD"/>
                </a:solidFill>
                <a:latin typeface="Microsoft JhengHei"/>
              </a:defRPr>
            </a:pPr>
            <a:r>
              <a:t>技術棧與雲端服務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rgbClr val="18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86AFF"/>
                </a:solidFill>
                <a:latin typeface="Microsoft JhengHei"/>
              </a:defRPr>
            </a:pPr>
            <a:r>
              <a:t>AI 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GitHub Copilot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VS Code Agent 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06040" cy="73152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280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843AD"/>
                </a:solidFill>
                <a:latin typeface="Microsoft JhengHei"/>
              </a:defRPr>
            </a:pPr>
            <a:r>
              <a:t>程式語言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Python 3.11 / 3.9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BigQuery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606040" cy="73152"/>
          </a:xfrm>
          <a:prstGeom prst="rect">
            <a:avLst/>
          </a:prstGeom>
          <a:solidFill>
            <a:srgbClr val="4D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D8FD6"/>
                </a:solidFill>
                <a:latin typeface="Microsoft JhengHei"/>
              </a:defRPr>
            </a:pPr>
            <a:r>
              <a:t>Web 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Flask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Gunicorn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2606040" cy="73152"/>
          </a:xfrm>
          <a:prstGeom prst="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004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36CBDA"/>
                </a:solidFill>
                <a:latin typeface="Microsoft JhengHei"/>
              </a:defRPr>
            </a:pPr>
            <a:r>
              <a:t>GCP 服務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BigQuery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Cloud Run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GCS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Pub/Sub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Secret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01752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7560" y="3017520"/>
            <a:ext cx="2606040" cy="73152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32004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75801"/>
                </a:solidFill>
                <a:latin typeface="Microsoft JhengHei"/>
              </a:defRPr>
            </a:pPr>
            <a:r>
              <a:t>API 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5661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Credolab API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Google Maps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2606040" cy="16916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26060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2004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600"/>
                </a:solidFill>
                <a:latin typeface="Microsoft JhengHei"/>
              </a:defRPr>
            </a:pPr>
            <a:r>
              <a:t>工具鏈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Docker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Pydantic v2</a:t>
            </a:r>
          </a:p>
          <a:p>
            <a:pPr>
              <a:spcAft>
                <a:spcPts val="200"/>
              </a:spcAft>
              <a:defRPr sz="1100">
                <a:solidFill>
                  <a:srgbClr val="262626"/>
                </a:solidFill>
                <a:latin typeface="Arial"/>
              </a:defRPr>
            </a:pPr>
            <a:r>
              <a:t>YAML 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Agentic Code Review 操作手冊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8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A5A5A5"/>
                </a:solidFill>
                <a:latin typeface="Microsoft Jheng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4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9144000" cy="937259"/>
          </a:xfrm>
          <a:prstGeom prst="rect">
            <a:avLst/>
          </a:prstGeom>
          <a:solidFill>
            <a:srgbClr val="36C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B2D9FC"/>
                </a:solidFill>
                <a:latin typeface="Microsoft JhengHei"/>
              </a:defRPr>
            </a:pPr>
            <a:r>
              <a:t>準備好用 AI 提升程式碼品質了嗎？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0A0D0"/>
                </a:solidFill>
                <a:latin typeface="Microsoft JhengHei"/>
              </a:defRPr>
            </a:pPr>
            <a:r>
              <a:t>在 VS Code 中輸入 /code-review 即刻開始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796</Words>
  <Application>Microsoft Office PowerPoint</Application>
  <PresentationFormat>如螢幕大小 (16:9)</PresentationFormat>
  <Paragraphs>298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呂孟哲 JACKY</cp:lastModifiedBy>
  <cp:revision>2</cp:revision>
  <dcterms:created xsi:type="dcterms:W3CDTF">2013-01-27T09:14:16Z</dcterms:created>
  <dcterms:modified xsi:type="dcterms:W3CDTF">2026-02-12T03:55:18Z</dcterms:modified>
  <cp:category/>
</cp:coreProperties>
</file>