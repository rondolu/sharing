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00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56032" y="320040"/>
            <a:ext cx="1554480" cy="1554480"/>
          </a:xfrm>
          <a:prstGeom prst="ellipse">
            <a:avLst/>
          </a:prstGeom>
          <a:solidFill>
            <a:srgbClr val="8DE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1234440"/>
            <a:ext cx="2011680" cy="201168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292608" y="2423160"/>
            <a:ext cx="2194560" cy="219456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rot="5400000">
            <a:off x="109728" y="1143000"/>
            <a:ext cx="5029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1" y="713232"/>
            <a:ext cx="11816119" cy="5349240"/>
          </a:xfrm>
          <a:prstGeom prst="roundRect">
            <a:avLst/>
          </a:prstGeom>
          <a:solidFill>
            <a:srgbClr val="F4FBF8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dirty="0"/>
          </a:p>
        </p:txBody>
      </p:sp>
      <p:sp>
        <p:nvSpPr>
          <p:cNvPr id="8" name="Rectangle 7"/>
          <p:cNvSpPr/>
          <p:nvPr/>
        </p:nvSpPr>
        <p:spPr>
          <a:xfrm>
            <a:off x="1481328" y="1078992"/>
            <a:ext cx="1874519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Autofit/>
          </a:bodyPr>
          <a:lstStyle/>
          <a:p>
            <a:pPr algn="l"/>
            <a:r>
              <a:rPr sz="800" b="1" i="0" dirty="0">
                <a:solidFill>
                  <a:srgbClr val="00AA64"/>
                </a:solidFill>
                <a:latin typeface="Arial"/>
              </a:rPr>
              <a:t>CODE REVIEW WORKFLOW</a:t>
            </a:r>
            <a:endParaRPr sz="800" b="1" i="0" dirty="0"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73282" y="1931254"/>
            <a:ext cx="5584744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4000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讓開發者能直接上手的</a:t>
            </a:r>
            <a:r>
              <a:rPr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
code-review </a:t>
            </a:r>
            <a:r>
              <a:rPr sz="4000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操作流程</a:t>
            </a:r>
            <a:endParaRPr sz="4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68887" y="3347474"/>
            <a:ext cx="8411991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400" b="1" dirty="0" err="1">
                <a:solidFill>
                  <a:srgbClr val="4B5563"/>
                </a:solidFill>
                <a:latin typeface="Microsoft JhengHei"/>
              </a:rPr>
              <a:t>把命令、報告、修正與再驗證串成一條可複製的治理操作鏈</a:t>
            </a:r>
            <a:r>
              <a:rPr sz="2400" b="1" dirty="0">
                <a:solidFill>
                  <a:srgbClr val="4B5563"/>
                </a:solidFill>
                <a:latin typeface="Microsoft JhengHe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0087" y="4390454"/>
            <a:ext cx="1554480" cy="256032"/>
          </a:xfrm>
          <a:prstGeom prst="roundRect">
            <a:avLst/>
          </a:prstGeom>
          <a:solidFill>
            <a:srgbClr val="00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治理導向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87719" y="4390454"/>
            <a:ext cx="1600200" cy="256032"/>
          </a:xfrm>
          <a:prstGeom prst="roundRect">
            <a:avLst/>
          </a:prstGeom>
          <a:solidFill>
            <a:srgbClr val="3BB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可驗證輸出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8503" y="4390454"/>
            <a:ext cx="1783080" cy="256032"/>
          </a:xfrm>
          <a:prstGeom prst="roundRect">
            <a:avLst/>
          </a:prstGeom>
          <a:solidFill>
            <a:srgbClr val="2BC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低摩擦上手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C7DEB3CA-5040-A1A8-34BF-57F0A3003D32}"/>
              </a:ext>
            </a:extLst>
          </p:cNvPr>
          <p:cNvSpPr txBox="1"/>
          <p:nvPr/>
        </p:nvSpPr>
        <p:spPr>
          <a:xfrm>
            <a:off x="1637073" y="4987664"/>
            <a:ext cx="23507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Jacky  </a:t>
            </a:r>
            <a:br>
              <a:rPr lang="en-US" altLang="zh-TW" sz="2000" dirty="0"/>
            </a:br>
            <a:r>
              <a:rPr lang="en-US" altLang="zh-TW" sz="2000" dirty="0"/>
              <a:t>2026-06-08</a:t>
            </a:r>
            <a:endParaRPr lang="zh-TW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00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56032" y="320040"/>
            <a:ext cx="1554480" cy="1554480"/>
          </a:xfrm>
          <a:prstGeom prst="ellipse">
            <a:avLst/>
          </a:prstGeom>
          <a:solidFill>
            <a:srgbClr val="8DE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1234440"/>
            <a:ext cx="2011680" cy="201168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292608" y="2423160"/>
            <a:ext cx="2194560" cy="219456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0432" y="658368"/>
            <a:ext cx="100584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600" b="1">
                <a:solidFill>
                  <a:srgbClr val="111827"/>
                </a:solidFill>
                <a:latin typeface="Microsoft JhengHei"/>
              </a:rPr>
              <a:t>開發者視角的操作全流程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181707"/>
            <a:ext cx="8961120" cy="457200"/>
          </a:xfrm>
          <a:prstGeom prst="roundRect">
            <a:avLst/>
          </a:prstGeom>
          <a:solidFill>
            <a:srgbClr val="F4FBF8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500" b="1" dirty="0" err="1">
                <a:solidFill>
                  <a:srgbClr val="111827"/>
                </a:solidFill>
                <a:latin typeface="Microsoft JhengHei"/>
              </a:rPr>
              <a:t>從輸入審查範圍，到閱讀報告、套用修正，再回到再驗證，形成一條低摩擦</a:t>
            </a:r>
            <a:r>
              <a:rPr sz="1500" b="1" dirty="0">
                <a:solidFill>
                  <a:srgbClr val="111827"/>
                </a:solidFill>
                <a:latin typeface="Microsoft JhengHei"/>
              </a:rPr>
              <a:t> loop。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99264"/>
            <a:ext cx="2638045" cy="15544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310896" rIns="310896" bIns="310896" rtlCol="0" anchor="t"/>
          <a:lstStyle/>
          <a:p>
            <a:pPr algn="l">
              <a:lnSpc>
                <a:spcPct val="150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dirty="0" err="1">
                <a:solidFill>
                  <a:schemeClr val="tx1"/>
                </a:solidFill>
              </a:rPr>
              <a:t>界定範圍</a:t>
            </a:r>
            <a:endParaRPr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sz="1200" dirty="0"/>
              <a:t>Folder / PR / </a:t>
            </a:r>
            <a:r>
              <a:rPr sz="1200" dirty="0" err="1"/>
              <a:t>FileList</a:t>
            </a:r>
            <a:endParaRPr sz="1200" dirty="0"/>
          </a:p>
          <a:p>
            <a:pPr algn="l">
              <a:lnSpc>
                <a:spcPct val="150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不要讓</a:t>
            </a:r>
            <a:r>
              <a:rPr sz="1200" dirty="0"/>
              <a:t> Coverage </a:t>
            </a:r>
            <a:r>
              <a:rPr sz="1200" dirty="0" err="1"/>
              <a:t>變成</a:t>
            </a:r>
            <a:r>
              <a:rPr sz="1200" dirty="0"/>
              <a:t> N/A</a:t>
            </a:r>
          </a:p>
        </p:txBody>
      </p:sp>
      <p:sp>
        <p:nvSpPr>
          <p:cNvPr id="10" name="Oval 9"/>
          <p:cNvSpPr/>
          <p:nvPr/>
        </p:nvSpPr>
        <p:spPr>
          <a:xfrm>
            <a:off x="837075" y="2036360"/>
            <a:ext cx="384048" cy="384048"/>
          </a:xfrm>
          <a:prstGeom prst="ellipse">
            <a:avLst/>
          </a:prstGeom>
          <a:solidFill>
            <a:srgbClr val="00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66744" y="2259481"/>
            <a:ext cx="2458360" cy="15544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310896" rIns="310896" bIns="310896" rtlCol="0" anchor="t"/>
          <a:lstStyle/>
          <a:p>
            <a:pPr algn="l">
              <a:lnSpc>
                <a:spcPct val="150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dirty="0" err="1">
                <a:solidFill>
                  <a:schemeClr val="tx1"/>
                </a:solidFill>
              </a:rPr>
              <a:t>執行</a:t>
            </a:r>
            <a:r>
              <a:rPr dirty="0">
                <a:solidFill>
                  <a:schemeClr val="tx1"/>
                </a:solidFill>
              </a:rPr>
              <a:t> /code-review</a:t>
            </a:r>
          </a:p>
          <a:p>
            <a:pPr algn="l">
              <a:lnSpc>
                <a:spcPct val="150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產出固定章節報告</a:t>
            </a:r>
            <a:endParaRPr dirty="0"/>
          </a:p>
          <a:p>
            <a:pPr algn="l">
              <a:lnSpc>
                <a:spcPct val="150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必要時</a:t>
            </a:r>
            <a:r>
              <a:rPr lang="zh-TW" altLang="en-US" dirty="0"/>
              <a:t>自</a:t>
            </a:r>
            <a:r>
              <a:rPr dirty="0" err="1"/>
              <a:t>動分批</a:t>
            </a:r>
            <a:endParaRPr dirty="0"/>
          </a:p>
        </p:txBody>
      </p:sp>
      <p:sp>
        <p:nvSpPr>
          <p:cNvPr id="12" name="Oval 11"/>
          <p:cNvSpPr/>
          <p:nvPr/>
        </p:nvSpPr>
        <p:spPr>
          <a:xfrm>
            <a:off x="3577590" y="2087273"/>
            <a:ext cx="384048" cy="384048"/>
          </a:xfrm>
          <a:prstGeom prst="ellipse">
            <a:avLst/>
          </a:prstGeom>
          <a:solidFill>
            <a:srgbClr val="3BB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2240280"/>
            <a:ext cx="2717367" cy="15633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310896" rIns="310896" bIns="310896" rtlCol="0" anchor="t"/>
          <a:lstStyle/>
          <a:p>
            <a:pPr>
              <a:lnSpc>
                <a:spcPct val="150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dirty="0" err="1">
                <a:solidFill>
                  <a:schemeClr val="tx1"/>
                </a:solidFill>
              </a:rPr>
              <a:t>閱讀報告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先看</a:t>
            </a:r>
            <a:r>
              <a:rPr dirty="0"/>
              <a:t> Overall /</a:t>
            </a:r>
            <a:r>
              <a:rPr lang="en-US" dirty="0"/>
              <a:t> </a:t>
            </a:r>
            <a:r>
              <a:rPr dirty="0"/>
              <a:t>Coverage</a:t>
            </a:r>
          </a:p>
          <a:p>
            <a:pPr>
              <a:lnSpc>
                <a:spcPct val="150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再決定是否要套用</a:t>
            </a:r>
            <a:r>
              <a:rPr dirty="0"/>
              <a:t> diff</a:t>
            </a:r>
          </a:p>
        </p:txBody>
      </p:sp>
      <p:sp>
        <p:nvSpPr>
          <p:cNvPr id="14" name="Oval 13"/>
          <p:cNvSpPr/>
          <p:nvPr/>
        </p:nvSpPr>
        <p:spPr>
          <a:xfrm>
            <a:off x="6153224" y="2087273"/>
            <a:ext cx="384048" cy="384048"/>
          </a:xfrm>
          <a:prstGeom prst="ellipse">
            <a:avLst/>
          </a:prstGeom>
          <a:solidFill>
            <a:srgbClr val="2BC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75427" y="2240280"/>
            <a:ext cx="2532089" cy="159287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310896" rIns="310896" bIns="310896" rtlCol="0" anchor="t"/>
          <a:lstStyle/>
          <a:p>
            <a:pPr>
              <a:lnSpc>
                <a:spcPct val="150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dirty="0" err="1">
                <a:solidFill>
                  <a:schemeClr val="tx1"/>
                </a:solidFill>
              </a:rPr>
              <a:t>視情況</a:t>
            </a:r>
            <a:r>
              <a:rPr dirty="0">
                <a:solidFill>
                  <a:schemeClr val="tx1"/>
                </a:solidFill>
              </a:rPr>
              <a:t> /apply-fix</a:t>
            </a:r>
          </a:p>
          <a:p>
            <a:pPr>
              <a:lnSpc>
                <a:spcPct val="150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預設只套用</a:t>
            </a:r>
            <a:r>
              <a:rPr dirty="0"/>
              <a:t> Fail❌</a:t>
            </a:r>
          </a:p>
          <a:p>
            <a:pPr>
              <a:lnSpc>
                <a:spcPct val="150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可指定</a:t>
            </a:r>
            <a:r>
              <a:rPr dirty="0"/>
              <a:t> --from </a:t>
            </a:r>
            <a:r>
              <a:rPr dirty="0" err="1"/>
              <a:t>批次報告</a:t>
            </a:r>
            <a:endParaRPr dirty="0"/>
          </a:p>
        </p:txBody>
      </p:sp>
      <p:sp>
        <p:nvSpPr>
          <p:cNvPr id="16" name="Oval 15"/>
          <p:cNvSpPr/>
          <p:nvPr/>
        </p:nvSpPr>
        <p:spPr>
          <a:xfrm>
            <a:off x="9131882" y="2057400"/>
            <a:ext cx="384048" cy="384048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01896" y="4185512"/>
            <a:ext cx="6588208" cy="402336"/>
          </a:xfrm>
          <a:prstGeom prst="roundRect">
            <a:avLst/>
          </a:prstGeom>
          <a:solidFill>
            <a:srgbClr val="F4FBF8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 dirty="0" err="1">
                <a:solidFill>
                  <a:srgbClr val="111827"/>
                </a:solidFill>
                <a:latin typeface="Microsoft JhengHei"/>
              </a:rPr>
              <a:t>核心</a:t>
            </a:r>
            <a:r>
              <a:rPr sz="1300" b="1" dirty="0">
                <a:solidFill>
                  <a:srgbClr val="111827"/>
                </a:solidFill>
                <a:latin typeface="Microsoft JhengHei"/>
              </a:rPr>
              <a:t> </a:t>
            </a:r>
            <a:r>
              <a:rPr sz="1300" b="1" dirty="0" err="1">
                <a:solidFill>
                  <a:srgbClr val="111827"/>
                </a:solidFill>
                <a:latin typeface="Microsoft JhengHei"/>
              </a:rPr>
              <a:t>loop：界定範圍</a:t>
            </a:r>
            <a:r>
              <a:rPr sz="1300" b="1" dirty="0">
                <a:solidFill>
                  <a:srgbClr val="111827"/>
                </a:solidFill>
                <a:latin typeface="Microsoft JhengHei"/>
              </a:rPr>
              <a:t> → </a:t>
            </a:r>
            <a:r>
              <a:rPr sz="1300" b="1" dirty="0" err="1">
                <a:solidFill>
                  <a:srgbClr val="111827"/>
                </a:solidFill>
                <a:latin typeface="Microsoft JhengHei"/>
              </a:rPr>
              <a:t>產生報告</a:t>
            </a:r>
            <a:r>
              <a:rPr sz="1300" b="1" dirty="0">
                <a:solidFill>
                  <a:srgbClr val="111827"/>
                </a:solidFill>
                <a:latin typeface="Microsoft JhengHei"/>
              </a:rPr>
              <a:t> → </a:t>
            </a:r>
            <a:r>
              <a:rPr sz="1300" b="1" dirty="0" err="1">
                <a:solidFill>
                  <a:srgbClr val="111827"/>
                </a:solidFill>
                <a:latin typeface="Microsoft JhengHei"/>
              </a:rPr>
              <a:t>決定是否自動修正</a:t>
            </a:r>
            <a:r>
              <a:rPr sz="1300" b="1" dirty="0">
                <a:solidFill>
                  <a:srgbClr val="111827"/>
                </a:solidFill>
                <a:latin typeface="Microsoft JhengHei"/>
              </a:rPr>
              <a:t> → </a:t>
            </a:r>
            <a:r>
              <a:rPr sz="1300" b="1" dirty="0" err="1">
                <a:solidFill>
                  <a:srgbClr val="111827"/>
                </a:solidFill>
                <a:latin typeface="Microsoft JhengHei"/>
              </a:rPr>
              <a:t>重新</a:t>
            </a:r>
            <a:r>
              <a:rPr sz="1300" b="1" dirty="0">
                <a:solidFill>
                  <a:srgbClr val="111827"/>
                </a:solidFill>
                <a:latin typeface="Microsoft JhengHei"/>
              </a:rPr>
              <a:t> review </a:t>
            </a:r>
            <a:r>
              <a:rPr sz="1300" b="1" dirty="0" err="1">
                <a:solidFill>
                  <a:srgbClr val="111827"/>
                </a:solidFill>
                <a:latin typeface="Microsoft JhengHei"/>
              </a:rPr>
              <a:t>驗證</a:t>
            </a:r>
            <a:endParaRPr sz="1300" b="1" dirty="0">
              <a:solidFill>
                <a:srgbClr val="111827"/>
              </a:solidFill>
              <a:latin typeface="Microsoft JhengHei"/>
            </a:endParaRPr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8501F9A7-9407-9270-9630-E29B4B7BC6AB}"/>
              </a:ext>
            </a:extLst>
          </p:cNvPr>
          <p:cNvGrpSpPr/>
          <p:nvPr/>
        </p:nvGrpSpPr>
        <p:grpSpPr>
          <a:xfrm>
            <a:off x="1335024" y="4976063"/>
            <a:ext cx="4663440" cy="1188720"/>
            <a:chOff x="1234440" y="4892040"/>
            <a:chExt cx="4663440" cy="1188720"/>
          </a:xfrm>
        </p:grpSpPr>
        <p:sp>
          <p:nvSpPr>
            <p:cNvPr id="26" name="Rounded Rectangle 25"/>
            <p:cNvSpPr/>
            <p:nvPr/>
          </p:nvSpPr>
          <p:spPr>
            <a:xfrm>
              <a:off x="1234440" y="4892040"/>
              <a:ext cx="4663440" cy="1188720"/>
            </a:xfrm>
            <a:prstGeom prst="roundRect">
              <a:avLst/>
            </a:prstGeom>
            <a:solidFill>
              <a:srgbClr val="111827"/>
            </a:solidFill>
            <a:ln w="12700">
              <a:solidFill>
                <a:srgbClr val="11182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73152" rIns="73152" bIns="73152" rtlCol="0" anchor="ctr"/>
            <a:lstStyle/>
            <a:p>
              <a:pPr algn="l"/>
              <a:endParaRPr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426465" y="5149759"/>
              <a:ext cx="4334255" cy="768096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Consolas"/>
                </a:defRPr>
              </a:pPr>
              <a:r>
                <a:rPr sz="1100" b="0" i="0" dirty="0">
                  <a:latin typeface="Consolas"/>
                </a:rPr>
                <a:t>/code-review src/module.py</a:t>
              </a:r>
            </a:p>
            <a:p>
              <a:pPr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Consolas"/>
                </a:defRPr>
              </a:pPr>
              <a:r>
                <a:rPr sz="1100" b="0" i="0" dirty="0">
                  <a:latin typeface="Consolas"/>
                </a:rPr>
                <a:t>/code-review </a:t>
              </a:r>
              <a:r>
                <a:rPr sz="1100" b="0" i="0" dirty="0" err="1">
                  <a:latin typeface="Consolas"/>
                </a:rPr>
                <a:t>src</a:t>
              </a:r>
              <a:r>
                <a:rPr sz="1100" b="0" i="0" dirty="0">
                  <a:latin typeface="Consolas"/>
                </a:rPr>
                <a:t> --batch-reset</a:t>
              </a:r>
            </a:p>
            <a:p>
              <a:pPr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Consolas"/>
                </a:defRPr>
              </a:pPr>
              <a:r>
                <a:rPr sz="1100" b="0" i="0" dirty="0">
                  <a:latin typeface="Consolas"/>
                </a:rPr>
                <a:t>/apply-fix</a:t>
              </a:r>
            </a:p>
            <a:p>
              <a:pPr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Consolas"/>
                </a:defRPr>
              </a:pPr>
              <a:r>
                <a:rPr sz="1100" b="0" i="0" dirty="0">
                  <a:latin typeface="Consolas"/>
                </a:rPr>
                <a:t>/apply-fix --from batch-01.report.md</a:t>
              </a: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6284976" y="5010912"/>
            <a:ext cx="527375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t"/>
          <a:lstStyle/>
          <a:p>
            <a:pPr algn="l">
              <a:lnSpc>
                <a:spcPct val="115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判斷原則</a:t>
            </a:r>
            <a:endParaRPr dirty="0"/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/>
              <a:t>Coverage </a:t>
            </a:r>
            <a:r>
              <a:rPr dirty="0" err="1"/>
              <a:t>不是</a:t>
            </a:r>
            <a:r>
              <a:rPr dirty="0"/>
              <a:t> 100% </a:t>
            </a:r>
            <a:r>
              <a:rPr dirty="0" err="1"/>
              <a:t>時，不要急著談</a:t>
            </a:r>
            <a:r>
              <a:rPr dirty="0"/>
              <a:t> diff。</a:t>
            </a:r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先確認分母有沒有被可靠枚舉，否則</a:t>
            </a:r>
            <a:r>
              <a:rPr dirty="0"/>
              <a:t> review </a:t>
            </a:r>
            <a:r>
              <a:rPr dirty="0" err="1"/>
              <a:t>只會產生流程性</a:t>
            </a:r>
            <a:r>
              <a:rPr dirty="0"/>
              <a:t> Fail。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00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56032" y="320040"/>
            <a:ext cx="1554480" cy="1554480"/>
          </a:xfrm>
          <a:prstGeom prst="ellipse">
            <a:avLst/>
          </a:prstGeom>
          <a:solidFill>
            <a:srgbClr val="8DE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1234440"/>
            <a:ext cx="2011680" cy="201168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292608" y="2423160"/>
            <a:ext cx="2194560" cy="219456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rot="5400000">
            <a:off x="109728" y="1143000"/>
            <a:ext cx="5029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658368"/>
            <a:ext cx="100584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600" b="1" dirty="0">
                <a:solidFill>
                  <a:srgbClr val="111827"/>
                </a:solidFill>
                <a:latin typeface="Microsoft JhengHei"/>
              </a:rPr>
              <a:t>/code-review </a:t>
            </a:r>
            <a:r>
              <a:rPr sz="2600" b="1" dirty="0" err="1">
                <a:solidFill>
                  <a:srgbClr val="111827"/>
                </a:solidFill>
                <a:latin typeface="Microsoft JhengHei"/>
              </a:rPr>
              <a:t>真正會幫你做什麼</a:t>
            </a:r>
            <a:endParaRPr sz="2600" b="1" dirty="0">
              <a:solidFill>
                <a:srgbClr val="111827"/>
              </a:solidFill>
              <a:latin typeface="Microsoft Jheng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98448" y="1192182"/>
            <a:ext cx="8961120" cy="457200"/>
          </a:xfrm>
          <a:prstGeom prst="roundRect">
            <a:avLst/>
          </a:prstGeom>
          <a:solidFill>
            <a:srgbClr val="F4FBF8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500" b="1" dirty="0" err="1">
                <a:solidFill>
                  <a:srgbClr val="111827"/>
                </a:solidFill>
                <a:latin typeface="Microsoft JhengHei"/>
              </a:rPr>
              <a:t>這不是單純掃描程式碼，而是依規範輸出一份結構化報告，並在需要時提供可套用的</a:t>
            </a:r>
            <a:r>
              <a:rPr sz="1500" b="1" dirty="0">
                <a:solidFill>
                  <a:srgbClr val="111827"/>
                </a:solidFill>
                <a:latin typeface="Microsoft JhengHei"/>
              </a:rPr>
              <a:t> unified diff。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8448" y="1828800"/>
            <a:ext cx="4032504" cy="2148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35024" y="1920240"/>
            <a:ext cx="1828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Autofit/>
          </a:bodyPr>
          <a:lstStyle/>
          <a:p>
            <a:pPr algn="l"/>
            <a:endParaRPr sz="400" b="1" i="0" dirty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81329" y="2288220"/>
            <a:ext cx="3831335" cy="1362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200" b="0" i="0" dirty="0">
                <a:latin typeface="Consolas"/>
              </a:rPr>
              <a:t>/code-review scripts/project_manager.py</a:t>
            </a:r>
          </a:p>
          <a:p>
            <a:pPr>
              <a:lnSpc>
                <a:spcPct val="15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200" b="0" i="0" dirty="0">
                <a:latin typeface="Consolas"/>
              </a:rPr>
              <a:t>/code-review scripts/</a:t>
            </a:r>
            <a:r>
              <a:rPr sz="1200" b="0" i="0" dirty="0" err="1">
                <a:latin typeface="Consolas"/>
              </a:rPr>
              <a:t>source_to_md</a:t>
            </a:r>
            <a:endParaRPr sz="1200" b="0" i="0" dirty="0">
              <a:latin typeface="Consolas"/>
            </a:endParaRPr>
          </a:p>
          <a:p>
            <a:pPr>
              <a:lnSpc>
                <a:spcPct val="15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200" b="0" i="0" dirty="0">
                <a:latin typeface="Consolas"/>
              </a:rPr>
              <a:t>/code-review scripts --batch-next</a:t>
            </a:r>
          </a:p>
          <a:p>
            <a:pPr>
              <a:lnSpc>
                <a:spcPct val="15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200" b="0" i="0" dirty="0">
                <a:latin typeface="Consolas"/>
              </a:rPr>
              <a:t>/code-review scripts --batch-id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04688" y="1863156"/>
            <a:ext cx="2331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t"/>
          <a:lstStyle/>
          <a:p>
            <a:pPr algn="l"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輸入端要給什麼</a:t>
            </a:r>
            <a:br>
              <a:rPr lang="en-US" dirty="0"/>
            </a:br>
            <a:endParaRPr dirty="0"/>
          </a:p>
          <a:p>
            <a:pPr algn="l"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lang="en-US" dirty="0"/>
              <a:t>- </a:t>
            </a:r>
            <a:r>
              <a:rPr dirty="0" err="1"/>
              <a:t>檔案、資料夾、或可枚舉的清單</a:t>
            </a:r>
            <a:br>
              <a:rPr lang="en-US" dirty="0"/>
            </a:br>
            <a:endParaRPr dirty="0"/>
          </a:p>
          <a:p>
            <a:pPr algn="l"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lang="en-US" dirty="0"/>
              <a:t>- </a:t>
            </a:r>
            <a:r>
              <a:rPr dirty="0" err="1"/>
              <a:t>必要時指定</a:t>
            </a:r>
            <a:r>
              <a:rPr dirty="0"/>
              <a:t> batch </a:t>
            </a:r>
            <a:r>
              <a:rPr dirty="0" err="1"/>
              <a:t>參數</a:t>
            </a:r>
            <a:endParaRPr dirty="0"/>
          </a:p>
          <a:p>
            <a:pPr algn="l"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若場景是報表</a:t>
            </a:r>
            <a:r>
              <a:rPr dirty="0"/>
              <a:t> / </a:t>
            </a:r>
            <a:r>
              <a:rPr dirty="0" err="1"/>
              <a:t>匯出</a:t>
            </a:r>
            <a:r>
              <a:rPr dirty="0"/>
              <a:t> / </a:t>
            </a:r>
            <a:r>
              <a:rPr dirty="0" err="1"/>
              <a:t>etl，關鍵字會啟動額外規則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065008" y="1828800"/>
            <a:ext cx="2724912" cy="2148840"/>
          </a:xfrm>
          <a:prstGeom prst="roundRect">
            <a:avLst/>
          </a:prstGeom>
          <a:solidFill>
            <a:srgbClr val="F4FBF8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t"/>
          <a:lstStyle/>
          <a:p>
            <a:pPr algn="l">
              <a:lnSpc>
                <a:spcPct val="115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sz="1300" dirty="0" err="1"/>
              <a:t>這個</a:t>
            </a:r>
            <a:r>
              <a:rPr sz="1300" dirty="0"/>
              <a:t> repo </a:t>
            </a:r>
            <a:r>
              <a:rPr sz="1300" dirty="0" err="1"/>
              <a:t>要搭配看的檔案</a:t>
            </a:r>
            <a:endParaRPr lang="en-US" sz="1300" dirty="0"/>
          </a:p>
          <a:p>
            <a:pPr algn="l">
              <a:lnSpc>
                <a:spcPct val="115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endParaRPr sz="1200" dirty="0"/>
          </a:p>
          <a:p>
            <a:pPr algn="l">
              <a:lnSpc>
                <a:spcPct val="150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/>
              <a:t>prompts/code-review.prompt.md</a:t>
            </a:r>
          </a:p>
          <a:p>
            <a:pPr algn="l">
              <a:lnSpc>
                <a:spcPct val="150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/>
              <a:t>agents/review.agent.md</a:t>
            </a:r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/>
              <a:t>prompts/apply-fix.prompt.md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1" y="4160520"/>
            <a:ext cx="9820123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t"/>
          <a:lstStyle/>
          <a:p>
            <a:pPr algn="l">
              <a:lnSpc>
                <a:spcPct val="115000"/>
              </a:lnSpc>
              <a:defRPr sz="1500" b="1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開發者最常忽略的事</a:t>
            </a:r>
            <a:endParaRPr dirty="0"/>
          </a:p>
          <a:p>
            <a:pPr algn="l">
              <a:lnSpc>
                <a:spcPct val="115000"/>
              </a:lnSpc>
              <a:defRPr sz="1500" b="0">
                <a:solidFill>
                  <a:srgbClr val="4B5563"/>
                </a:solidFill>
                <a:latin typeface="Microsoft JhengHei"/>
              </a:defRPr>
            </a:pPr>
            <a:r>
              <a:rPr dirty="0"/>
              <a:t>Coverage </a:t>
            </a:r>
            <a:r>
              <a:rPr dirty="0" err="1"/>
              <a:t>是第一道閘門</a:t>
            </a:r>
            <a:r>
              <a:rPr dirty="0"/>
              <a:t>。</a:t>
            </a:r>
            <a:br>
              <a:rPr lang="en-US" dirty="0"/>
            </a:br>
            <a:r>
              <a:rPr dirty="0"/>
              <a:t>Folder / PR / </a:t>
            </a:r>
            <a:r>
              <a:rPr dirty="0" err="1"/>
              <a:t>FileList</a:t>
            </a:r>
            <a:r>
              <a:rPr dirty="0"/>
              <a:t> </a:t>
            </a:r>
            <a:r>
              <a:rPr dirty="0" err="1"/>
              <a:t>只要無法可靠枚舉，就會直接得到流程性</a:t>
            </a:r>
            <a:r>
              <a:rPr dirty="0"/>
              <a:t> </a:t>
            </a:r>
            <a:r>
              <a:rPr dirty="0" err="1"/>
              <a:t>Fail；這不是規則不通過，而是輸入範圍定義失敗</a:t>
            </a:r>
            <a:r>
              <a:rPr dirty="0"/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898990"/>
            <a:ext cx="1143000" cy="256032"/>
          </a:xfrm>
          <a:prstGeom prst="roundRect">
            <a:avLst/>
          </a:prstGeom>
          <a:solidFill>
            <a:srgbClr val="009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MUST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2394" y="5875020"/>
            <a:ext cx="297180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200" b="1" dirty="0">
                <a:solidFill>
                  <a:srgbClr val="4B5563"/>
                </a:solidFill>
                <a:latin typeface="Microsoft JhengHei"/>
              </a:rPr>
              <a:t>Coverage </a:t>
            </a:r>
            <a:r>
              <a:rPr sz="1200" b="1" dirty="0" err="1">
                <a:solidFill>
                  <a:srgbClr val="4B5563"/>
                </a:solidFill>
                <a:latin typeface="Microsoft JhengHei"/>
              </a:rPr>
              <a:t>先過，Rules</a:t>
            </a:r>
            <a:r>
              <a:rPr sz="1200" b="1" dirty="0">
                <a:solidFill>
                  <a:srgbClr val="4B5563"/>
                </a:solidFill>
                <a:latin typeface="Microsoft JhengHei"/>
              </a:rPr>
              <a:t> </a:t>
            </a:r>
            <a:r>
              <a:rPr sz="1200" b="1" dirty="0" err="1">
                <a:solidFill>
                  <a:srgbClr val="4B5563"/>
                </a:solidFill>
                <a:latin typeface="Microsoft JhengHei"/>
              </a:rPr>
              <a:t>才有意義</a:t>
            </a:r>
            <a:endParaRPr sz="1200" b="1" dirty="0">
              <a:solidFill>
                <a:srgbClr val="4B5563"/>
              </a:solidFill>
              <a:latin typeface="Microsoft Jheng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779008" y="5898990"/>
            <a:ext cx="1463040" cy="256032"/>
          </a:xfrm>
          <a:prstGeom prst="roundRect">
            <a:avLst/>
          </a:prstGeom>
          <a:solidFill>
            <a:srgbClr val="2BC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Microsoft JhengHei"/>
              </a:rPr>
              <a:t>Fail diff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9842" y="5862414"/>
            <a:ext cx="324612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200" b="1" dirty="0" err="1">
                <a:solidFill>
                  <a:srgbClr val="4B5563"/>
                </a:solidFill>
                <a:latin typeface="Microsoft JhengHei"/>
              </a:rPr>
              <a:t>只對</a:t>
            </a:r>
            <a:r>
              <a:rPr sz="1200" b="1" dirty="0">
                <a:solidFill>
                  <a:srgbClr val="4B5563"/>
                </a:solidFill>
                <a:latin typeface="Microsoft JhengHei"/>
              </a:rPr>
              <a:t> MUST </a:t>
            </a:r>
            <a:r>
              <a:rPr sz="1200" b="1" dirty="0" err="1">
                <a:solidFill>
                  <a:srgbClr val="4B5563"/>
                </a:solidFill>
                <a:latin typeface="Microsoft JhengHei"/>
              </a:rPr>
              <a:t>未滿足項目提供修正片段</a:t>
            </a:r>
            <a:endParaRPr sz="1200" b="1" dirty="0">
              <a:solidFill>
                <a:srgbClr val="4B5563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00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56032" y="320040"/>
            <a:ext cx="1554480" cy="1554480"/>
          </a:xfrm>
          <a:prstGeom prst="ellipse">
            <a:avLst/>
          </a:prstGeom>
          <a:solidFill>
            <a:srgbClr val="8DE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1234440"/>
            <a:ext cx="2011680" cy="201168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292608" y="2423160"/>
            <a:ext cx="2194560" cy="219456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rot="5400000">
            <a:off x="109728" y="1143000"/>
            <a:ext cx="5029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624057"/>
            <a:ext cx="100584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600" b="1">
                <a:solidFill>
                  <a:srgbClr val="111827"/>
                </a:solidFill>
                <a:latin typeface="Microsoft JhengHei"/>
              </a:rPr>
              <a:t>閱讀 Code_review_result.md 的順序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4752" y="1156673"/>
            <a:ext cx="8961120" cy="457200"/>
          </a:xfrm>
          <a:prstGeom prst="roundRect">
            <a:avLst/>
          </a:prstGeom>
          <a:solidFill>
            <a:srgbClr val="F4FBF8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500" b="1">
                <a:solidFill>
                  <a:srgbClr val="111827"/>
                </a:solidFill>
                <a:latin typeface="Microsoft JhengHei"/>
              </a:rPr>
              <a:t>不要從 diff 開始看。先用三個問題判斷：這份報告可不可信、在審什麼、我現在應該做什麼。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70432" y="1828800"/>
            <a:ext cx="2103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310896" rIns="310896" bIns="310896" rtlCol="0" anchor="ctr" anchorCtr="1"/>
          <a:lstStyle/>
          <a:p>
            <a:pPr algn="ctr">
              <a:lnSpc>
                <a:spcPct val="115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sz="1400" dirty="0"/>
              <a:t>01 Overall</a:t>
            </a:r>
          </a:p>
          <a:p>
            <a:pPr algn="ctr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先看整體狀態</a:t>
            </a:r>
            <a:endParaRPr sz="1200" dirty="0"/>
          </a:p>
          <a:p>
            <a:pPr algn="ctr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sz="1200" dirty="0"/>
              <a:t>Fail❌ / Pass⚠️ / Pass✅</a:t>
            </a:r>
          </a:p>
          <a:p>
            <a:pPr algn="ctr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判斷是規則失敗還是</a:t>
            </a:r>
            <a:r>
              <a:rPr sz="1200" dirty="0"/>
              <a:t> Coverage </a:t>
            </a:r>
            <a:r>
              <a:rPr sz="1200" dirty="0" err="1"/>
              <a:t>失敗</a:t>
            </a:r>
            <a:endParaRPr sz="1200" dirty="0"/>
          </a:p>
        </p:txBody>
      </p:sp>
      <p:sp>
        <p:nvSpPr>
          <p:cNvPr id="10" name="Rounded Rectangle 9"/>
          <p:cNvSpPr/>
          <p:nvPr/>
        </p:nvSpPr>
        <p:spPr>
          <a:xfrm>
            <a:off x="3429000" y="1874519"/>
            <a:ext cx="2075682" cy="22954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310896" rIns="310896" bIns="310896" rtlCol="0" anchor="ctr" anchorCtr="1"/>
          <a:lstStyle/>
          <a:p>
            <a:pPr algn="ctr">
              <a:lnSpc>
                <a:spcPct val="115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sz="1400" dirty="0"/>
              <a:t>02 Scope /</a:t>
            </a:r>
            <a:r>
              <a:rPr lang="zh-TW" altLang="en-US" sz="1400" dirty="0"/>
              <a:t> </a:t>
            </a:r>
            <a:r>
              <a:rPr sz="1400" dirty="0"/>
              <a:t>Exclude</a:t>
            </a:r>
          </a:p>
          <a:p>
            <a:pPr algn="ctr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確認分母與排除規則</a:t>
            </a:r>
            <a:endParaRPr sz="1200" dirty="0"/>
          </a:p>
          <a:p>
            <a:pPr algn="ctr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避免以為有審到，其實被排除</a:t>
            </a:r>
            <a:endParaRPr sz="1200" dirty="0"/>
          </a:p>
        </p:txBody>
      </p:sp>
      <p:sp>
        <p:nvSpPr>
          <p:cNvPr id="11" name="Rounded Rectangle 10"/>
          <p:cNvSpPr/>
          <p:nvPr/>
        </p:nvSpPr>
        <p:spPr>
          <a:xfrm>
            <a:off x="7223760" y="1828800"/>
            <a:ext cx="19659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310896" rIns="310896" bIns="310896" rtlCol="0" anchor="ctr" anchorCtr="1"/>
          <a:lstStyle/>
          <a:p>
            <a:pPr algn="ctr">
              <a:lnSpc>
                <a:spcPct val="115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sz="1400" dirty="0"/>
              <a:t>03 Coverage</a:t>
            </a:r>
          </a:p>
          <a:p>
            <a:pPr algn="ctr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只要不是</a:t>
            </a:r>
            <a:r>
              <a:rPr sz="1200" dirty="0"/>
              <a:t> 100%，</a:t>
            </a:r>
            <a:r>
              <a:rPr sz="1200" dirty="0" err="1"/>
              <a:t>先修流程</a:t>
            </a:r>
            <a:endParaRPr sz="1200" dirty="0"/>
          </a:p>
          <a:p>
            <a:pPr algn="ctr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不要直接討論</a:t>
            </a:r>
            <a:r>
              <a:rPr sz="1200" dirty="0"/>
              <a:t>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19" y="1828800"/>
            <a:ext cx="2060507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310896" rIns="310896" bIns="310896" rtlCol="0" anchor="ctr" anchorCtr="1"/>
          <a:lstStyle/>
          <a:p>
            <a:pPr algn="ctr">
              <a:lnSpc>
                <a:spcPct val="115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sz="1400" dirty="0"/>
              <a:t>04 Rules</a:t>
            </a:r>
          </a:p>
          <a:p>
            <a:pPr algn="ctr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先讀</a:t>
            </a:r>
            <a:r>
              <a:rPr sz="1200" dirty="0"/>
              <a:t> Rules</a:t>
            </a:r>
          </a:p>
          <a:p>
            <a:pPr algn="ctr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再看</a:t>
            </a:r>
            <a:r>
              <a:rPr sz="1200" dirty="0"/>
              <a:t> diff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79005" y="2029968"/>
            <a:ext cx="1170432" cy="1920240"/>
          </a:xfrm>
          <a:prstGeom prst="roundRect">
            <a:avLst/>
          </a:prstGeom>
          <a:solidFill>
            <a:srgbClr val="00AA64"/>
          </a:solidFill>
          <a:ln w="12700">
            <a:solidFill>
              <a:srgbClr val="00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07021" y="2235664"/>
            <a:ext cx="9144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判斷閘門</a:t>
            </a:r>
            <a:endParaRPr sz="1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89483" y="2539007"/>
            <a:ext cx="1170432" cy="10621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icrosoft JhengHei"/>
              </a:rPr>
              <a:t>Coverage
</a:t>
            </a:r>
            <a:r>
              <a:rPr sz="1200" b="1" dirty="0" err="1">
                <a:solidFill>
                  <a:srgbClr val="FFFFFF"/>
                </a:solidFill>
                <a:latin typeface="Microsoft JhengHei"/>
              </a:rPr>
              <a:t>決定你能不能</a:t>
            </a:r>
            <a:r>
              <a:rPr sz="1200" b="1" dirty="0">
                <a:solidFill>
                  <a:srgbClr val="FFFFFF"/>
                </a:solidFill>
                <a:latin typeface="Microsoft JhengHei"/>
              </a:rPr>
              <a:t>
</a:t>
            </a:r>
            <a:r>
              <a:rPr sz="1200" b="1" dirty="0" err="1">
                <a:solidFill>
                  <a:srgbClr val="FFFFFF"/>
                </a:solidFill>
                <a:latin typeface="Microsoft JhengHei"/>
              </a:rPr>
              <a:t>進入</a:t>
            </a:r>
            <a:r>
              <a:rPr sz="1200" b="1" dirty="0">
                <a:solidFill>
                  <a:srgbClr val="FFFFFF"/>
                </a:solidFill>
                <a:latin typeface="Microsoft JhengHei"/>
              </a:rPr>
              <a:t> diff
與 CTA</a:t>
            </a: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5504682" y="2907792"/>
            <a:ext cx="274323" cy="0"/>
          </a:xfrm>
          <a:prstGeom prst="line">
            <a:avLst/>
          </a:prstGeom>
          <a:ln w="27940">
            <a:solidFill>
              <a:srgbClr val="D9D9D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</p:cNvCxnSpPr>
          <p:nvPr/>
        </p:nvCxnSpPr>
        <p:spPr>
          <a:xfrm>
            <a:off x="6949437" y="2907792"/>
            <a:ext cx="274323" cy="0"/>
          </a:xfrm>
          <a:prstGeom prst="line">
            <a:avLst/>
          </a:prstGeom>
          <a:ln w="31750">
            <a:solidFill>
              <a:srgbClr val="00AA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170432" y="4572000"/>
            <a:ext cx="4754880" cy="1234440"/>
          </a:xfrm>
          <a:prstGeom prst="roundRect">
            <a:avLst/>
          </a:prstGeom>
          <a:solidFill>
            <a:srgbClr val="F4FBF8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t"/>
          <a:lstStyle/>
          <a:p>
            <a:pPr algn="l">
              <a:lnSpc>
                <a:spcPct val="115000"/>
              </a:lnSpc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t>一個好用的閱讀心法</a:t>
            </a:r>
          </a:p>
          <a:p>
            <a:pPr algn="l">
              <a:lnSpc>
                <a:spcPct val="115000"/>
              </a:lnSpc>
              <a:defRPr sz="1400" b="0">
                <a:solidFill>
                  <a:srgbClr val="4B5563"/>
                </a:solidFill>
                <a:latin typeface="Microsoft JhengHei"/>
              </a:defRPr>
            </a:pPr>
            <a:r>
              <a:t>先問『這份報告是不是完整覆蓋』，再問『有哪些 MUST fail 需要行動』。這樣可以避免把流程問題誤判成程式碼品質問題。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72000"/>
            <a:ext cx="457200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6382512" y="4663440"/>
            <a:ext cx="1828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Autofit/>
          </a:bodyPr>
          <a:lstStyle/>
          <a:p>
            <a:pPr algn="l"/>
            <a:endParaRPr sz="400" b="1" i="0" dirty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00014" y="4750812"/>
            <a:ext cx="2818305" cy="8138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200" b="0" i="0" dirty="0">
                <a:latin typeface="Consolas"/>
              </a:rPr>
              <a:t>1. Overall</a:t>
            </a:r>
          </a:p>
          <a:p>
            <a:pPr>
              <a:lnSpc>
                <a:spcPct val="10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200" b="0" i="0" dirty="0">
                <a:latin typeface="Consolas"/>
              </a:rPr>
              <a:t>2. Scope / Exclude</a:t>
            </a:r>
          </a:p>
          <a:p>
            <a:pPr>
              <a:lnSpc>
                <a:spcPct val="10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200" b="0" i="0" dirty="0">
                <a:latin typeface="Consolas"/>
              </a:rPr>
              <a:t>3. Coverage</a:t>
            </a:r>
          </a:p>
          <a:p>
            <a:pPr>
              <a:lnSpc>
                <a:spcPct val="10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200" b="0" i="0" dirty="0">
                <a:latin typeface="Consolas"/>
              </a:rPr>
              <a:t>4. Rules</a:t>
            </a:r>
          </a:p>
          <a:p>
            <a:pPr>
              <a:lnSpc>
                <a:spcPct val="10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200" b="0" i="0" dirty="0">
                <a:latin typeface="Consolas"/>
              </a:rPr>
              <a:t>5. Fail diff / CTA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00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56032" y="320040"/>
            <a:ext cx="1554480" cy="1554480"/>
          </a:xfrm>
          <a:prstGeom prst="ellipse">
            <a:avLst/>
          </a:prstGeom>
          <a:solidFill>
            <a:srgbClr val="8DE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1234440"/>
            <a:ext cx="2011680" cy="201168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292608" y="2423160"/>
            <a:ext cx="2194560" cy="219456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rot="5400000">
            <a:off x="109728" y="1143000"/>
            <a:ext cx="5029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FIX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5024" y="591636"/>
            <a:ext cx="100584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600" b="1" dirty="0">
                <a:solidFill>
                  <a:srgbClr val="111827"/>
                </a:solidFill>
                <a:latin typeface="Microsoft JhengHei"/>
              </a:rPr>
              <a:t>/apply-fix </a:t>
            </a:r>
            <a:r>
              <a:rPr sz="2600" b="1" dirty="0" err="1">
                <a:solidFill>
                  <a:srgbClr val="111827"/>
                </a:solidFill>
                <a:latin typeface="Microsoft JhengHei"/>
              </a:rPr>
              <a:t>的安全邏輯</a:t>
            </a:r>
            <a:endParaRPr sz="2600" b="1" dirty="0">
              <a:solidFill>
                <a:srgbClr val="111827"/>
              </a:solidFill>
              <a:latin typeface="Microsoft Jheng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90472" y="1184288"/>
            <a:ext cx="6882003" cy="434340"/>
          </a:xfrm>
          <a:prstGeom prst="roundRect">
            <a:avLst/>
          </a:prstGeom>
          <a:solidFill>
            <a:srgbClr val="F4FBF8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500" b="1" dirty="0" err="1">
                <a:solidFill>
                  <a:srgbClr val="111827"/>
                </a:solidFill>
                <a:latin typeface="Microsoft JhengHei"/>
              </a:rPr>
              <a:t>它不是任意改檔工具，而是只讀報告裡的</a:t>
            </a:r>
            <a:r>
              <a:rPr sz="1500" b="1" dirty="0">
                <a:solidFill>
                  <a:srgbClr val="111827"/>
                </a:solidFill>
                <a:latin typeface="Microsoft JhengHei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Microsoft JhengHei"/>
              </a:rPr>
              <a:t>diff，通過安全檢查後才逐檔套用</a:t>
            </a:r>
            <a:r>
              <a:rPr sz="1500" b="1" dirty="0">
                <a:solidFill>
                  <a:srgbClr val="111827"/>
                </a:solidFill>
                <a:latin typeface="Microsoft JhengHei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70432" y="1828800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 anchorCtr="1"/>
          <a:lstStyle/>
          <a:p>
            <a:pPr algn="l">
              <a:lnSpc>
                <a:spcPct val="115000"/>
              </a:lnSpc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rPr sz="1600" dirty="0" err="1"/>
              <a:t>預設行為</a:t>
            </a:r>
            <a:endParaRPr sz="1600" dirty="0"/>
          </a:p>
          <a:p>
            <a:pPr algn="l">
              <a:lnSpc>
                <a:spcPct val="115000"/>
              </a:lnSpc>
              <a:defRPr sz="14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讀取</a:t>
            </a:r>
            <a:r>
              <a:rPr sz="1200" dirty="0"/>
              <a:t> Code_review_result.md</a:t>
            </a:r>
          </a:p>
          <a:p>
            <a:pPr algn="l">
              <a:lnSpc>
                <a:spcPct val="115000"/>
              </a:lnSpc>
              <a:defRPr sz="14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只套用</a:t>
            </a:r>
            <a:r>
              <a:rPr sz="1200" dirty="0"/>
              <a:t> Fail❌ </a:t>
            </a:r>
            <a:r>
              <a:rPr sz="1200" dirty="0" err="1"/>
              <a:t>對應的</a:t>
            </a:r>
            <a:r>
              <a:rPr sz="1200" dirty="0"/>
              <a:t> diff</a:t>
            </a:r>
          </a:p>
          <a:p>
            <a:pPr algn="l">
              <a:lnSpc>
                <a:spcPct val="115000"/>
              </a:lnSpc>
              <a:defRPr sz="14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檔案不存在、路徑穿越、絕對路徑都直接拒絕</a:t>
            </a:r>
            <a:endParaRPr sz="1200" dirty="0"/>
          </a:p>
          <a:p>
            <a:pPr algn="l">
              <a:lnSpc>
                <a:spcPct val="115000"/>
              </a:lnSpc>
              <a:defRPr sz="14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同檔案會用單次</a:t>
            </a:r>
            <a:r>
              <a:rPr sz="1200" dirty="0"/>
              <a:t> patch </a:t>
            </a:r>
            <a:r>
              <a:rPr sz="1200" dirty="0" err="1"/>
              <a:t>套完所有</a:t>
            </a:r>
            <a:r>
              <a:rPr sz="1200" dirty="0"/>
              <a:t> hunks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5152" y="1828800"/>
            <a:ext cx="2743200" cy="2834640"/>
          </a:xfrm>
          <a:prstGeom prst="roundRect">
            <a:avLst/>
          </a:prstGeom>
          <a:solidFill>
            <a:srgbClr val="F4FBF8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 anchorCtr="1"/>
          <a:lstStyle/>
          <a:p>
            <a:pPr algn="l">
              <a:lnSpc>
                <a:spcPct val="115000"/>
              </a:lnSpc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rPr sz="1600" dirty="0" err="1"/>
              <a:t>進階參數</a:t>
            </a:r>
            <a:endParaRPr sz="1600" dirty="0"/>
          </a:p>
          <a:p>
            <a:pPr algn="l">
              <a:lnSpc>
                <a:spcPct val="115000"/>
              </a:lnSpc>
              <a:defRPr sz="1400" b="0">
                <a:solidFill>
                  <a:srgbClr val="4B5563"/>
                </a:solidFill>
                <a:latin typeface="Microsoft JhengHei"/>
              </a:defRPr>
            </a:pPr>
            <a:r>
              <a:rPr sz="1200" dirty="0"/>
              <a:t>--include-warning</a:t>
            </a:r>
          </a:p>
          <a:p>
            <a:pPr algn="l">
              <a:lnSpc>
                <a:spcPct val="115000"/>
              </a:lnSpc>
              <a:defRPr sz="1400" b="0">
                <a:solidFill>
                  <a:srgbClr val="4B5563"/>
                </a:solidFill>
                <a:latin typeface="Microsoft JhengHei"/>
              </a:defRPr>
            </a:pPr>
            <a:r>
              <a:rPr sz="1200" dirty="0"/>
              <a:t>連 Warning⚠️ </a:t>
            </a:r>
            <a:r>
              <a:rPr sz="1200" dirty="0" err="1"/>
              <a:t>一起處理</a:t>
            </a:r>
            <a:endParaRPr sz="1200" dirty="0"/>
          </a:p>
          <a:p>
            <a:pPr algn="l">
              <a:lnSpc>
                <a:spcPct val="115000"/>
              </a:lnSpc>
              <a:defRPr sz="1400" b="0">
                <a:solidFill>
                  <a:srgbClr val="4B5563"/>
                </a:solidFill>
                <a:latin typeface="Microsoft JhengHei"/>
              </a:defRPr>
            </a:pPr>
            <a:r>
              <a:rPr sz="1200" dirty="0"/>
              <a:t>--from &lt;</a:t>
            </a:r>
            <a:r>
              <a:rPr sz="1200" dirty="0" err="1"/>
              <a:t>report_path</a:t>
            </a:r>
            <a:r>
              <a:rPr sz="1200" dirty="0"/>
              <a:t>&gt;</a:t>
            </a:r>
          </a:p>
          <a:p>
            <a:pPr algn="l">
              <a:lnSpc>
                <a:spcPct val="115000"/>
              </a:lnSpc>
              <a:defRPr sz="14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指定批次報告來源</a:t>
            </a:r>
            <a:endParaRPr sz="1200" dirty="0"/>
          </a:p>
        </p:txBody>
      </p:sp>
      <p:sp>
        <p:nvSpPr>
          <p:cNvPr id="11" name="Rounded Rectangle 10"/>
          <p:cNvSpPr/>
          <p:nvPr/>
        </p:nvSpPr>
        <p:spPr>
          <a:xfrm>
            <a:off x="7635240" y="1828800"/>
            <a:ext cx="31546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 anchorCtr="1"/>
          <a:lstStyle/>
          <a:p>
            <a:pPr algn="l">
              <a:lnSpc>
                <a:spcPct val="115000"/>
              </a:lnSpc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rPr sz="1600" dirty="0" err="1"/>
              <a:t>失敗時代表什麼</a:t>
            </a:r>
            <a:endParaRPr dirty="0"/>
          </a:p>
          <a:p>
            <a:pPr algn="l">
              <a:lnSpc>
                <a:spcPct val="115000"/>
              </a:lnSpc>
              <a:defRPr sz="14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通常是</a:t>
            </a:r>
            <a:r>
              <a:rPr sz="1200" dirty="0"/>
              <a:t> context </a:t>
            </a:r>
            <a:r>
              <a:rPr sz="1200" dirty="0" err="1"/>
              <a:t>對不上</a:t>
            </a:r>
            <a:endParaRPr sz="1200" dirty="0"/>
          </a:p>
          <a:p>
            <a:pPr algn="l">
              <a:lnSpc>
                <a:spcPct val="115000"/>
              </a:lnSpc>
              <a:defRPr sz="14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表示程式碼已經改過</a:t>
            </a:r>
            <a:r>
              <a:rPr lang="zh-TW" altLang="en-US" sz="1200" dirty="0"/>
              <a:t>，</a:t>
            </a:r>
            <a:r>
              <a:rPr sz="1200" dirty="0"/>
              <a:t>舊 diff </a:t>
            </a:r>
            <a:r>
              <a:rPr sz="1200" dirty="0" err="1"/>
              <a:t>不再可信</a:t>
            </a:r>
            <a:endParaRPr sz="1200" dirty="0"/>
          </a:p>
          <a:p>
            <a:pPr algn="l">
              <a:lnSpc>
                <a:spcPct val="115000"/>
              </a:lnSpc>
              <a:defRPr sz="1400" b="0">
                <a:solidFill>
                  <a:srgbClr val="4B5563"/>
                </a:solidFill>
                <a:latin typeface="Microsoft JhengHei"/>
              </a:defRPr>
            </a:pPr>
            <a:r>
              <a:rPr sz="1200" dirty="0" err="1"/>
              <a:t>正確動作是重新跑</a:t>
            </a:r>
            <a:r>
              <a:rPr sz="1200" dirty="0"/>
              <a:t> /code-</a:t>
            </a:r>
            <a:r>
              <a:rPr sz="1200" dirty="0" err="1"/>
              <a:t>review產生新報告</a:t>
            </a:r>
            <a:endParaRPr sz="1200" dirty="0"/>
          </a:p>
        </p:txBody>
      </p:sp>
      <p:cxnSp>
        <p:nvCxnSpPr>
          <p:cNvPr id="15" name="Connector 14"/>
          <p:cNvCxnSpPr>
            <a:cxnSpLocks/>
            <a:endCxn id="10" idx="1"/>
          </p:cNvCxnSpPr>
          <p:nvPr/>
        </p:nvCxnSpPr>
        <p:spPr>
          <a:xfrm>
            <a:off x="4416552" y="3246120"/>
            <a:ext cx="228600" cy="0"/>
          </a:xfrm>
          <a:prstGeom prst="line">
            <a:avLst/>
          </a:prstGeom>
          <a:ln w="27940">
            <a:solidFill>
              <a:srgbClr val="D9D9D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921198" y="2009279"/>
            <a:ext cx="384048" cy="38404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61288" y="4983479"/>
            <a:ext cx="4809744" cy="1435787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35024" y="5074920"/>
            <a:ext cx="1828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Autofit/>
          </a:bodyPr>
          <a:lstStyle/>
          <a:p>
            <a:pPr algn="l"/>
            <a:endParaRPr sz="400" b="1" i="0" dirty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02080" y="5256091"/>
            <a:ext cx="4471416" cy="5394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200" b="0" i="0" dirty="0">
                <a:latin typeface="Consolas"/>
              </a:rPr>
              <a:t>/apply-fix</a:t>
            </a:r>
          </a:p>
          <a:p>
            <a:pPr>
              <a:lnSpc>
                <a:spcPct val="15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200" b="0" i="0" dirty="0">
                <a:latin typeface="Consolas"/>
              </a:rPr>
              <a:t>/apply-fix --include-warning</a:t>
            </a:r>
          </a:p>
          <a:p>
            <a:pPr>
              <a:lnSpc>
                <a:spcPct val="15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200" b="0" i="0" dirty="0">
                <a:latin typeface="Consolas"/>
              </a:rPr>
              <a:t>/apply-fix --from batch-01.report.md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075" y="5580564"/>
            <a:ext cx="5217252" cy="384048"/>
          </a:xfrm>
          <a:prstGeom prst="roundRect">
            <a:avLst/>
          </a:prstGeom>
          <a:solidFill>
            <a:srgbClr val="F4FBF8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300" b="1" dirty="0" err="1">
                <a:solidFill>
                  <a:srgbClr val="111827"/>
                </a:solidFill>
                <a:latin typeface="Microsoft JhengHei"/>
              </a:rPr>
              <a:t>重點</a:t>
            </a:r>
            <a:r>
              <a:rPr sz="1300" b="1" dirty="0">
                <a:solidFill>
                  <a:srgbClr val="111827"/>
                </a:solidFill>
                <a:latin typeface="Microsoft JhengHei"/>
              </a:rPr>
              <a:t>：/apply-fix </a:t>
            </a:r>
            <a:r>
              <a:rPr sz="1300" b="1" dirty="0" err="1">
                <a:solidFill>
                  <a:srgbClr val="111827"/>
                </a:solidFill>
                <a:latin typeface="Microsoft JhengHei"/>
              </a:rPr>
              <a:t>只會套用報告明示的變更，不會順便重構或優化</a:t>
            </a:r>
            <a:r>
              <a:rPr sz="1300" b="1" dirty="0">
                <a:solidFill>
                  <a:srgbClr val="111827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00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56032" y="320040"/>
            <a:ext cx="1554480" cy="1554480"/>
          </a:xfrm>
          <a:prstGeom prst="ellipse">
            <a:avLst/>
          </a:prstGeom>
          <a:solidFill>
            <a:srgbClr val="8DE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1234440"/>
            <a:ext cx="2011680" cy="201168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292608" y="2423160"/>
            <a:ext cx="2194560" cy="219456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rot="5400000">
            <a:off x="109728" y="1143000"/>
            <a:ext cx="5029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1316736" y="621881"/>
            <a:ext cx="100584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600" b="1" dirty="0" err="1">
                <a:solidFill>
                  <a:srgbClr val="111827"/>
                </a:solidFill>
                <a:latin typeface="Microsoft JhengHei"/>
              </a:rPr>
              <a:t>開發者日常可以怎麼用這套</a:t>
            </a:r>
            <a:r>
              <a:rPr sz="2600" b="1" dirty="0">
                <a:solidFill>
                  <a:srgbClr val="111827"/>
                </a:solidFill>
                <a:latin typeface="Microsoft JhengHei"/>
              </a:rPr>
              <a:t>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187877"/>
            <a:ext cx="8961120" cy="457200"/>
          </a:xfrm>
          <a:prstGeom prst="roundRect">
            <a:avLst/>
          </a:prstGeom>
          <a:solidFill>
            <a:srgbClr val="F4FBF8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500" b="1" dirty="0" err="1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把它看成一個小迴圈，而不是一次性審查</a:t>
            </a:r>
            <a:r>
              <a:rPr lang="zh-TW" altLang="en-US" sz="15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作業</a:t>
            </a:r>
            <a:r>
              <a:rPr sz="15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01168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0" tIns="310896" rIns="288000" bIns="310896" rtlCol="0" anchor="t"/>
          <a:lstStyle/>
          <a:p>
            <a:pPr algn="l">
              <a:lnSpc>
                <a:spcPct val="115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本地修改前後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先界定要審的範圍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避免整包丟進去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導致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Coverage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過多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307592" y="1920240"/>
            <a:ext cx="384048" cy="384048"/>
          </a:xfrm>
          <a:prstGeom prst="ellipse">
            <a:avLst/>
          </a:prstGeom>
          <a:solidFill>
            <a:srgbClr val="00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01168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0" tIns="310896" rIns="288000" bIns="310896" rtlCol="0" anchor="t"/>
          <a:lstStyle/>
          <a:p>
            <a:pPr algn="l">
              <a:lnSpc>
                <a:spcPct val="115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dirty="0"/>
              <a:t>PR </a:t>
            </a:r>
            <a:r>
              <a:rPr dirty="0" err="1"/>
              <a:t>準備階段</a:t>
            </a:r>
            <a:endParaRPr dirty="0"/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endParaRPr lang="en-US" dirty="0"/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/>
              <a:t>用 /code-review </a:t>
            </a:r>
            <a:r>
              <a:rPr dirty="0" err="1"/>
              <a:t>對齊規範</a:t>
            </a:r>
            <a:endParaRPr dirty="0"/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必要時透過</a:t>
            </a:r>
            <a:r>
              <a:rPr dirty="0"/>
              <a:t> batch </a:t>
            </a:r>
            <a:r>
              <a:rPr dirty="0" err="1"/>
              <a:t>逐批消化大型範圍</a:t>
            </a:r>
            <a:endParaRPr dirty="0"/>
          </a:p>
        </p:txBody>
      </p:sp>
      <p:sp>
        <p:nvSpPr>
          <p:cNvPr id="12" name="Oval 11"/>
          <p:cNvSpPr/>
          <p:nvPr/>
        </p:nvSpPr>
        <p:spPr>
          <a:xfrm>
            <a:off x="3730752" y="1920240"/>
            <a:ext cx="384048" cy="384048"/>
          </a:xfrm>
          <a:prstGeom prst="ellipse">
            <a:avLst/>
          </a:prstGeom>
          <a:solidFill>
            <a:srgbClr val="3BB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01168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310896" rIns="310896" bIns="310896" rtlCol="0" anchor="t"/>
          <a:lstStyle/>
          <a:p>
            <a:pPr algn="l">
              <a:lnSpc>
                <a:spcPct val="115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報告失敗時</a:t>
            </a:r>
            <a:endParaRPr dirty="0"/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endParaRPr lang="en-US" dirty="0"/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先修</a:t>
            </a:r>
            <a:r>
              <a:rPr dirty="0"/>
              <a:t> Coverage </a:t>
            </a:r>
            <a:r>
              <a:rPr dirty="0" err="1"/>
              <a:t>或重新枚舉分母</a:t>
            </a:r>
            <a:endParaRPr dirty="0"/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不要直接抱怨規則太嚴</a:t>
            </a:r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6153912" y="1920240"/>
            <a:ext cx="384048" cy="384048"/>
          </a:xfrm>
          <a:prstGeom prst="ellipse">
            <a:avLst/>
          </a:prstGeom>
          <a:solidFill>
            <a:srgbClr val="2BC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01168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310896" rIns="310896" bIns="310896" rtlCol="0" anchor="t"/>
          <a:lstStyle/>
          <a:p>
            <a:pPr algn="l">
              <a:lnSpc>
                <a:spcPct val="115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修正完成後</a:t>
            </a:r>
            <a:endParaRPr dirty="0"/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endParaRPr lang="en-US" dirty="0"/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有套</a:t>
            </a:r>
            <a:r>
              <a:rPr dirty="0"/>
              <a:t> diff </a:t>
            </a:r>
            <a:r>
              <a:rPr dirty="0" err="1"/>
              <a:t>就重跑</a:t>
            </a:r>
            <a:r>
              <a:rPr dirty="0"/>
              <a:t> review</a:t>
            </a:r>
          </a:p>
          <a:p>
            <a:pPr algn="l">
              <a:lnSpc>
                <a:spcPct val="115000"/>
              </a:lnSpc>
              <a:defRPr sz="1300" b="0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確認</a:t>
            </a:r>
            <a:r>
              <a:rPr dirty="0"/>
              <a:t> Fail❌ </a:t>
            </a:r>
            <a:r>
              <a:rPr dirty="0" err="1"/>
              <a:t>是否真的消除</a:t>
            </a:r>
            <a:endParaRPr dirty="0"/>
          </a:p>
        </p:txBody>
      </p:sp>
      <p:sp>
        <p:nvSpPr>
          <p:cNvPr id="16" name="Oval 15"/>
          <p:cNvSpPr/>
          <p:nvPr/>
        </p:nvSpPr>
        <p:spPr>
          <a:xfrm>
            <a:off x="8577072" y="1920240"/>
            <a:ext cx="384048" cy="384048"/>
          </a:xfrm>
          <a:prstGeom prst="ellipse">
            <a:avLst/>
          </a:prstGeom>
          <a:solidFill>
            <a:srgbClr val="009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46120" y="3246120"/>
            <a:ext cx="411480" cy="0"/>
          </a:xfrm>
          <a:prstGeom prst="line">
            <a:avLst/>
          </a:prstGeom>
          <a:ln w="27940">
            <a:solidFill>
              <a:srgbClr val="D9D9D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80" y="3246120"/>
            <a:ext cx="411480" cy="0"/>
          </a:xfrm>
          <a:prstGeom prst="line">
            <a:avLst/>
          </a:prstGeom>
          <a:ln w="3175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92440" y="3246120"/>
            <a:ext cx="411480" cy="0"/>
          </a:xfrm>
          <a:prstGeom prst="line">
            <a:avLst/>
          </a:prstGeom>
          <a:ln w="27940">
            <a:solidFill>
              <a:srgbClr val="D9D9D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307592" y="5148693"/>
            <a:ext cx="9326880" cy="1078992"/>
          </a:xfrm>
          <a:prstGeom prst="roundRect">
            <a:avLst/>
          </a:prstGeom>
          <a:solidFill>
            <a:srgbClr val="F4FBF8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t"/>
          <a:lstStyle/>
          <a:p>
            <a:pPr algn="l">
              <a:lnSpc>
                <a:spcPct val="115000"/>
              </a:lnSpc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rPr dirty="0" err="1">
                <a:solidFill>
                  <a:schemeClr val="tx1"/>
                </a:solidFill>
              </a:rPr>
              <a:t>團隊默契</a:t>
            </a:r>
            <a:endParaRPr dirty="0">
              <a:solidFill>
                <a:schemeClr val="tx1"/>
              </a:solidFill>
            </a:endParaRPr>
          </a:p>
          <a:p>
            <a:pPr algn="l">
              <a:lnSpc>
                <a:spcPct val="115000"/>
              </a:lnSpc>
              <a:defRPr sz="1400" b="0">
                <a:solidFill>
                  <a:srgbClr val="4B5563"/>
                </a:solidFill>
                <a:latin typeface="Microsoft JhengHei"/>
              </a:defRPr>
            </a:pPr>
            <a:r>
              <a:rPr dirty="0"/>
              <a:t>把 /code-review </a:t>
            </a:r>
            <a:r>
              <a:rPr dirty="0" err="1"/>
              <a:t>當成『規範對齊</a:t>
            </a:r>
            <a:r>
              <a:rPr dirty="0"/>
              <a:t>』，把 /apply-fix </a:t>
            </a:r>
            <a:r>
              <a:rPr dirty="0" err="1"/>
              <a:t>當成『可追溯的局部套用</a:t>
            </a:r>
            <a:r>
              <a:rPr dirty="0"/>
              <a:t>』。</a:t>
            </a:r>
            <a:r>
              <a:rPr dirty="0" err="1"/>
              <a:t>兩者都不是為了省思考，而是把思考集中到真正需要判斷的地方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00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56032" y="320040"/>
            <a:ext cx="1554480" cy="1554480"/>
          </a:xfrm>
          <a:prstGeom prst="ellipse">
            <a:avLst/>
          </a:prstGeom>
          <a:solidFill>
            <a:srgbClr val="8DE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1234440"/>
            <a:ext cx="2011680" cy="201168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292608" y="2423160"/>
            <a:ext cx="2194560" cy="219456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81328" y="891541"/>
            <a:ext cx="100584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600" b="1" dirty="0" err="1">
                <a:solidFill>
                  <a:srgbClr val="111827"/>
                </a:solidFill>
                <a:latin typeface="Microsoft JhengHei"/>
              </a:rPr>
              <a:t>常見的誤用與修正方式</a:t>
            </a:r>
            <a:endParaRPr sz="2600" b="1" dirty="0">
              <a:solidFill>
                <a:srgbClr val="111827"/>
              </a:solidFill>
              <a:latin typeface="Microsoft JhengHei"/>
            </a:endParaRP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EF6C08B7-47BF-6E06-7554-54FE555D0143}"/>
              </a:ext>
            </a:extLst>
          </p:cNvPr>
          <p:cNvGrpSpPr/>
          <p:nvPr/>
        </p:nvGrpSpPr>
        <p:grpSpPr>
          <a:xfrm>
            <a:off x="2057400" y="1545602"/>
            <a:ext cx="8823960" cy="3931920"/>
            <a:chOff x="1170432" y="1737360"/>
            <a:chExt cx="8823960" cy="3931920"/>
          </a:xfrm>
        </p:grpSpPr>
        <p:sp>
          <p:nvSpPr>
            <p:cNvPr id="9" name="Rounded Rectangle 8"/>
            <p:cNvSpPr/>
            <p:nvPr/>
          </p:nvSpPr>
          <p:spPr>
            <a:xfrm>
              <a:off x="1170432" y="1737360"/>
              <a:ext cx="914400" cy="3931920"/>
            </a:xfrm>
            <a:prstGeom prst="roundRect">
              <a:avLst/>
            </a:prstGeom>
            <a:solidFill>
              <a:srgbClr val="F3FC78"/>
            </a:solidFill>
            <a:ln w="12700">
              <a:solidFill>
                <a:srgbClr val="F3FC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73152" rIns="73152" bIns="73152" rtlCol="0" anchor="ctr" anchorCtr="1"/>
            <a:lstStyle/>
            <a:p>
              <a:pPr algn="ctr"/>
              <a:r>
                <a:rPr sz="2000" b="1" dirty="0" err="1">
                  <a:solidFill>
                    <a:srgbClr val="009056"/>
                  </a:solidFill>
                  <a:latin typeface="Microsoft JhengHei"/>
                </a:rPr>
                <a:t>誤用</a:t>
              </a:r>
              <a:r>
                <a:rPr sz="2000" b="1" dirty="0">
                  <a:solidFill>
                    <a:srgbClr val="009056"/>
                  </a:solidFill>
                  <a:latin typeface="Microsoft JhengHei"/>
                </a:rPr>
                <a:t>
</a:t>
              </a:r>
              <a:r>
                <a:rPr sz="2000" b="1" dirty="0" err="1">
                  <a:solidFill>
                    <a:srgbClr val="009056"/>
                  </a:solidFill>
                  <a:latin typeface="Microsoft JhengHei"/>
                </a:rPr>
                <a:t>情境</a:t>
              </a:r>
              <a:endParaRPr sz="2000" b="1" dirty="0">
                <a:solidFill>
                  <a:srgbClr val="009056"/>
                </a:solidFill>
                <a:latin typeface="Microsoft JhengHei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13248" y="1965960"/>
              <a:ext cx="1097280" cy="3383280"/>
            </a:xfrm>
            <a:prstGeom prst="roundRect">
              <a:avLst/>
            </a:prstGeom>
            <a:solidFill>
              <a:srgbClr val="00AA64"/>
            </a:solidFill>
            <a:ln w="12700">
              <a:solidFill>
                <a:srgbClr val="00AA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73152" rIns="73152" bIns="73152" rtlCol="0" anchor="ctr" anchorCtr="1"/>
            <a:lstStyle/>
            <a:p>
              <a:pPr algn="l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判斷</a:t>
              </a:r>
              <a:b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原則</a:t>
              </a:r>
              <a:endParaRPr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212848" y="2331720"/>
              <a:ext cx="2862072" cy="7132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109728" rIns="109728" bIns="109728" rtlCol="0" anchor="ctr" anchorCtr="1"/>
            <a:lstStyle/>
            <a:p>
              <a:pPr algn="ctr">
                <a:lnSpc>
                  <a:spcPct val="115000"/>
                </a:lnSpc>
                <a:defRPr sz="1400" b="1">
                  <a:solidFill>
                    <a:srgbClr val="4B5563"/>
                  </a:solidFill>
                  <a:latin typeface="Microsoft JhengHei"/>
                </a:defRPr>
              </a:pPr>
              <a:r>
                <a:rPr 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非必要</a:t>
              </a:r>
              <a:r>
                <a:rPr 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r>
                <a:rPr dirty="0" err="1"/>
                <a:t>直接</a:t>
              </a:r>
              <a:r>
                <a:rPr dirty="0"/>
                <a:t> review </a:t>
              </a:r>
              <a:r>
                <a:rPr dirty="0" err="1"/>
                <a:t>整個</a:t>
              </a:r>
              <a:r>
                <a:rPr dirty="0"/>
                <a:t> repo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5074920" y="2679191"/>
              <a:ext cx="338328" cy="0"/>
            </a:xfrm>
            <a:prstGeom prst="line">
              <a:avLst/>
            </a:prstGeom>
            <a:ln w="27940">
              <a:solidFill>
                <a:srgbClr val="D9D9D9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510528" y="2705825"/>
              <a:ext cx="329184" cy="0"/>
            </a:xfrm>
            <a:prstGeom prst="line">
              <a:avLst/>
            </a:prstGeom>
            <a:ln w="31750">
              <a:solidFill>
                <a:srgbClr val="00AA64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/>
            <p:cNvSpPr/>
            <p:nvPr/>
          </p:nvSpPr>
          <p:spPr>
            <a:xfrm>
              <a:off x="6400800" y="2522946"/>
              <a:ext cx="310896" cy="310896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839712" y="2322842"/>
              <a:ext cx="3154680" cy="713232"/>
            </a:xfrm>
            <a:prstGeom prst="roundRect">
              <a:avLst/>
            </a:prstGeom>
            <a:solidFill>
              <a:srgbClr val="F4FBF8"/>
            </a:solidFill>
            <a:ln w="12700"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109728" rIns="109728" bIns="109728" rtlCol="0" anchor="ctr" anchorCtr="1"/>
            <a:lstStyle/>
            <a:p>
              <a:pPr algn="l">
                <a:lnSpc>
                  <a:spcPct val="115000"/>
                </a:lnSpc>
                <a:defRPr sz="1400" b="1">
                  <a:solidFill>
                    <a:srgbClr val="4B5563"/>
                  </a:solidFill>
                  <a:latin typeface="Microsoft JhengHei"/>
                </a:defRPr>
              </a:pPr>
              <a:r>
                <a:t>先縮到當次變更範圍，必要時再進 batch。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194560" y="3337560"/>
              <a:ext cx="2880360" cy="7132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109728" rIns="109728" bIns="109728" rtlCol="0" anchor="ctr" anchorCtr="1"/>
            <a:lstStyle/>
            <a:p>
              <a:pPr algn="l">
                <a:lnSpc>
                  <a:spcPct val="115000"/>
                </a:lnSpc>
                <a:defRPr sz="1400" b="1">
                  <a:solidFill>
                    <a:srgbClr val="4B5563"/>
                  </a:solidFill>
                  <a:latin typeface="Microsoft JhengHei"/>
                </a:defRPr>
              </a:pPr>
              <a:r>
                <a:rPr dirty="0" err="1"/>
                <a:t>看到</a:t>
              </a:r>
              <a:r>
                <a:rPr dirty="0"/>
                <a:t> Fail❌ </a:t>
              </a:r>
              <a:r>
                <a:rPr dirty="0" err="1"/>
                <a:t>就先</a:t>
              </a:r>
              <a:r>
                <a:rPr dirty="0"/>
                <a:t> /apply-fix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5074920" y="3685032"/>
              <a:ext cx="338328" cy="0"/>
            </a:xfrm>
            <a:prstGeom prst="line">
              <a:avLst/>
            </a:prstGeom>
            <a:ln w="27940">
              <a:solidFill>
                <a:srgbClr val="D9D9D9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510528" y="3711666"/>
              <a:ext cx="329184" cy="0"/>
            </a:xfrm>
            <a:prstGeom prst="line">
              <a:avLst/>
            </a:prstGeom>
            <a:ln w="31750">
              <a:solidFill>
                <a:srgbClr val="3BBB8E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6400800" y="3528786"/>
              <a:ext cx="310896" cy="310896"/>
            </a:xfrm>
            <a:prstGeom prst="ellipse">
              <a:avLst/>
            </a:prstGeom>
            <a:solidFill>
              <a:srgbClr val="3BBB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839712" y="3337560"/>
              <a:ext cx="3154680" cy="713232"/>
            </a:xfrm>
            <a:prstGeom prst="roundRect">
              <a:avLst/>
            </a:prstGeom>
            <a:solidFill>
              <a:srgbClr val="F4FBF8"/>
            </a:solidFill>
            <a:ln w="12700"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109728" rIns="109728" bIns="109728" rtlCol="0" anchor="ctr" anchorCtr="1"/>
            <a:lstStyle/>
            <a:p>
              <a:pPr algn="l">
                <a:lnSpc>
                  <a:spcPct val="115000"/>
                </a:lnSpc>
                <a:defRPr sz="1400" b="1">
                  <a:solidFill>
                    <a:srgbClr val="4B5563"/>
                  </a:solidFill>
                  <a:latin typeface="Microsoft JhengHei"/>
                </a:defRPr>
              </a:pPr>
              <a:r>
                <a:rPr dirty="0" err="1"/>
                <a:t>先確認</a:t>
              </a:r>
              <a:r>
                <a:rPr dirty="0"/>
                <a:t> Coverage=100%，</a:t>
              </a:r>
              <a:r>
                <a:rPr dirty="0" err="1"/>
                <a:t>且報告真的有</a:t>
              </a:r>
              <a:r>
                <a:rPr dirty="0"/>
                <a:t> diff。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194560" y="4343400"/>
              <a:ext cx="2880360" cy="7132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109728" rIns="109728" bIns="109728" rtlCol="0" anchor="ctr" anchorCtr="1"/>
            <a:lstStyle/>
            <a:p>
              <a:pPr algn="l">
                <a:lnSpc>
                  <a:spcPct val="115000"/>
                </a:lnSpc>
                <a:defRPr sz="1400" b="1">
                  <a:solidFill>
                    <a:srgbClr val="4B5563"/>
                  </a:solidFill>
                  <a:latin typeface="Microsoft JhengHei"/>
                </a:defRPr>
              </a:pPr>
              <a:r>
                <a:t>套用失敗後手動猜 patch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5074920" y="4690872"/>
              <a:ext cx="338328" cy="0"/>
            </a:xfrm>
            <a:prstGeom prst="line">
              <a:avLst/>
            </a:prstGeom>
            <a:ln w="27940">
              <a:solidFill>
                <a:srgbClr val="D9D9D9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6510528" y="4717506"/>
              <a:ext cx="329184" cy="0"/>
            </a:xfrm>
            <a:prstGeom prst="line">
              <a:avLst/>
            </a:prstGeom>
            <a:ln w="31750">
              <a:solidFill>
                <a:srgbClr val="2BCB8A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6400800" y="4543504"/>
              <a:ext cx="310896" cy="310896"/>
            </a:xfrm>
            <a:prstGeom prst="ellipse">
              <a:avLst/>
            </a:prstGeom>
            <a:solidFill>
              <a:srgbClr val="2BCB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839712" y="4378912"/>
              <a:ext cx="3154680" cy="713232"/>
            </a:xfrm>
            <a:prstGeom prst="roundRect">
              <a:avLst/>
            </a:prstGeom>
            <a:solidFill>
              <a:srgbClr val="F4FBF8"/>
            </a:solidFill>
            <a:ln w="12700"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109728" rIns="109728" bIns="109728" rtlCol="0" anchor="ctr" anchorCtr="1"/>
            <a:lstStyle/>
            <a:p>
              <a:pPr algn="l">
                <a:lnSpc>
                  <a:spcPct val="115000"/>
                </a:lnSpc>
                <a:defRPr sz="1400" b="1">
                  <a:solidFill>
                    <a:srgbClr val="4B5563"/>
                  </a:solidFill>
                  <a:latin typeface="Microsoft JhengHei"/>
                </a:defRPr>
              </a:pPr>
              <a:r>
                <a:rPr dirty="0" err="1"/>
                <a:t>不要猜，回去重跑</a:t>
              </a:r>
              <a:r>
                <a:rPr dirty="0"/>
                <a:t> /code-review </a:t>
              </a:r>
              <a:r>
                <a:rPr dirty="0" err="1"/>
                <a:t>產生新</a:t>
              </a:r>
              <a:r>
                <a:rPr dirty="0"/>
                <a:t> diff。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2971800" y="5809058"/>
            <a:ext cx="766267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 anchorCtr="1"/>
          <a:lstStyle/>
          <a:p>
            <a:pPr algn="l">
              <a:lnSpc>
                <a:spcPct val="115000"/>
              </a:lnSpc>
              <a:defRPr sz="1300" b="1">
                <a:solidFill>
                  <a:srgbClr val="4B5563"/>
                </a:solidFill>
                <a:latin typeface="Microsoft JhengHei"/>
              </a:defRPr>
            </a:pPr>
            <a:r>
              <a:rPr dirty="0" err="1"/>
              <a:t>補充：Warning</a:t>
            </a:r>
            <a:r>
              <a:rPr dirty="0"/>
              <a:t>⚠️ </a:t>
            </a:r>
            <a:r>
              <a:rPr dirty="0" err="1"/>
              <a:t>不是一定要立刻自動修正；若要一起套用，必須明確加上</a:t>
            </a:r>
            <a:r>
              <a:rPr dirty="0"/>
              <a:t> --include-warning。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00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56032" y="320040"/>
            <a:ext cx="1554480" cy="1554480"/>
          </a:xfrm>
          <a:prstGeom prst="ellipse">
            <a:avLst/>
          </a:prstGeom>
          <a:solidFill>
            <a:srgbClr val="8DE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1234440"/>
            <a:ext cx="2011680" cy="201168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292608" y="2423160"/>
            <a:ext cx="2194560" cy="219456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rot="5400000">
            <a:off x="109728" y="1143000"/>
            <a:ext cx="5029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2" y="731520"/>
            <a:ext cx="10149840" cy="5394960"/>
          </a:xfrm>
          <a:prstGeom prst="roundRect">
            <a:avLst/>
          </a:prstGeom>
          <a:solidFill>
            <a:srgbClr val="F4FBF8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36192" y="1170432"/>
            <a:ext cx="621792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2800" b="1">
                <a:solidFill>
                  <a:srgbClr val="111827"/>
                </a:solidFill>
                <a:latin typeface="Microsoft JhengHei"/>
              </a:rPr>
              <a:t>上手 checklist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471075" y="2112264"/>
            <a:ext cx="4983480" cy="2834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 anchorCtr="1"/>
          <a:lstStyle/>
          <a:p>
            <a:pPr algn="l">
              <a:lnSpc>
                <a:spcPct val="150000"/>
              </a:lnSpc>
              <a:defRPr sz="1500" b="0">
                <a:solidFill>
                  <a:srgbClr val="4B5563"/>
                </a:solidFill>
                <a:latin typeface="Microsoft JhengHei"/>
              </a:defRPr>
            </a:pPr>
            <a:r>
              <a:rPr b="1" dirty="0"/>
              <a:t>1. </a:t>
            </a:r>
            <a:r>
              <a:rPr b="1" dirty="0" err="1"/>
              <a:t>先決定</a:t>
            </a:r>
            <a:r>
              <a:rPr b="1" dirty="0"/>
              <a:t> review </a:t>
            </a:r>
            <a:r>
              <a:rPr b="1" dirty="0" err="1"/>
              <a:t>的分母：檔案、資料夾或</a:t>
            </a:r>
            <a:r>
              <a:rPr b="1" dirty="0"/>
              <a:t> PR </a:t>
            </a:r>
            <a:r>
              <a:rPr b="1" dirty="0" err="1"/>
              <a:t>範圍</a:t>
            </a:r>
            <a:r>
              <a:rPr b="1" dirty="0"/>
              <a:t>。</a:t>
            </a:r>
          </a:p>
          <a:p>
            <a:pPr algn="l">
              <a:lnSpc>
                <a:spcPct val="150000"/>
              </a:lnSpc>
              <a:defRPr sz="1500" b="0">
                <a:solidFill>
                  <a:srgbClr val="4B5563"/>
                </a:solidFill>
                <a:latin typeface="Microsoft JhengHei"/>
              </a:defRPr>
            </a:pPr>
            <a:r>
              <a:rPr b="1" dirty="0"/>
              <a:t>2. </a:t>
            </a:r>
            <a:r>
              <a:rPr b="1" dirty="0" err="1"/>
              <a:t>執行</a:t>
            </a:r>
            <a:r>
              <a:rPr b="1" dirty="0"/>
              <a:t> /</a:t>
            </a:r>
            <a:r>
              <a:rPr b="1" dirty="0" err="1"/>
              <a:t>code-review，先讀</a:t>
            </a:r>
            <a:r>
              <a:rPr b="1" dirty="0"/>
              <a:t> Overall / Scope / Coverage。</a:t>
            </a:r>
          </a:p>
          <a:p>
            <a:pPr algn="l">
              <a:lnSpc>
                <a:spcPct val="150000"/>
              </a:lnSpc>
              <a:defRPr sz="1500" b="0">
                <a:solidFill>
                  <a:srgbClr val="4B5563"/>
                </a:solidFill>
                <a:latin typeface="Microsoft JhengHei"/>
              </a:defRPr>
            </a:pPr>
            <a:r>
              <a:rPr b="1" dirty="0"/>
              <a:t>3. Coverage </a:t>
            </a:r>
            <a:r>
              <a:rPr b="1" dirty="0" err="1"/>
              <a:t>過關後，再看</a:t>
            </a:r>
            <a:r>
              <a:rPr b="1" dirty="0"/>
              <a:t> Rules 與 Fail diff。</a:t>
            </a:r>
          </a:p>
          <a:p>
            <a:pPr algn="l">
              <a:lnSpc>
                <a:spcPct val="150000"/>
              </a:lnSpc>
              <a:defRPr sz="1500" b="0">
                <a:solidFill>
                  <a:srgbClr val="4B5563"/>
                </a:solidFill>
                <a:latin typeface="Microsoft JhengHei"/>
              </a:defRPr>
            </a:pPr>
            <a:r>
              <a:rPr b="1" dirty="0"/>
              <a:t>4. </a:t>
            </a:r>
            <a:r>
              <a:rPr b="1" dirty="0" err="1"/>
              <a:t>要自動修正時，優先用</a:t>
            </a:r>
            <a:r>
              <a:rPr b="1" dirty="0"/>
              <a:t> /apply-fix 套 Fail❌。</a:t>
            </a:r>
          </a:p>
          <a:p>
            <a:pPr algn="l">
              <a:lnSpc>
                <a:spcPct val="150000"/>
              </a:lnSpc>
              <a:defRPr sz="1500" b="0">
                <a:solidFill>
                  <a:srgbClr val="4B5563"/>
                </a:solidFill>
                <a:latin typeface="Microsoft JhengHei"/>
              </a:defRPr>
            </a:pPr>
            <a:r>
              <a:rPr b="1" dirty="0"/>
              <a:t>5. </a:t>
            </a:r>
            <a:r>
              <a:rPr b="1" dirty="0" err="1"/>
              <a:t>修正後重跑</a:t>
            </a:r>
            <a:r>
              <a:rPr b="1" dirty="0"/>
              <a:t> </a:t>
            </a:r>
            <a:r>
              <a:rPr b="1" dirty="0" err="1"/>
              <a:t>review，把</a:t>
            </a:r>
            <a:r>
              <a:rPr b="1" dirty="0"/>
              <a:t> loop </a:t>
            </a:r>
            <a:r>
              <a:rPr b="1" dirty="0" err="1"/>
              <a:t>關起來</a:t>
            </a:r>
            <a:r>
              <a:rPr b="1" dirty="0"/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4573" y="1933956"/>
            <a:ext cx="4508917" cy="31501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9564" y="2546073"/>
            <a:ext cx="4209013" cy="1545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b="0" i="0" dirty="0">
                <a:latin typeface="Consolas"/>
              </a:rPr>
              <a:t>/code-review </a:t>
            </a:r>
            <a:r>
              <a:rPr sz="1600" b="0" i="0" dirty="0" err="1">
                <a:latin typeface="Consolas"/>
              </a:rPr>
              <a:t>src</a:t>
            </a:r>
            <a:r>
              <a:rPr sz="1600" b="0" i="0" dirty="0">
                <a:latin typeface="Consolas"/>
              </a:rPr>
              <a:t>/</a:t>
            </a:r>
            <a:r>
              <a:rPr sz="1600" b="0" i="0" dirty="0" err="1">
                <a:latin typeface="Consolas"/>
              </a:rPr>
              <a:t>feature_x</a:t>
            </a:r>
            <a:endParaRPr sz="1600" b="0" i="0" dirty="0">
              <a:latin typeface="Consolas"/>
            </a:endParaRPr>
          </a:p>
          <a:p>
            <a:pPr>
              <a:lnSpc>
                <a:spcPct val="15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b="0" i="0" dirty="0">
                <a:latin typeface="Consolas"/>
              </a:rPr>
              <a:t>/code-review --batch-next</a:t>
            </a:r>
          </a:p>
          <a:p>
            <a:pPr>
              <a:lnSpc>
                <a:spcPct val="15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b="0" i="0" dirty="0">
                <a:latin typeface="Consolas"/>
              </a:rPr>
              <a:t>/apply-fix</a:t>
            </a:r>
          </a:p>
          <a:p>
            <a:pPr>
              <a:lnSpc>
                <a:spcPct val="15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b="0" i="0" dirty="0">
                <a:latin typeface="Consolas"/>
              </a:rPr>
              <a:t>/apply-fix --include-warning</a:t>
            </a:r>
          </a:p>
          <a:p>
            <a:pPr>
              <a:lnSpc>
                <a:spcPct val="15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b="0" i="0" dirty="0">
                <a:latin typeface="Consolas"/>
              </a:rPr>
              <a:t>/apply-fix --from batch-02.report.md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626</Words>
  <Application>Microsoft Office PowerPoint</Application>
  <PresentationFormat>寬螢幕</PresentationFormat>
  <Paragraphs>150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Jacky L</cp:lastModifiedBy>
  <cp:revision>7</cp:revision>
  <dcterms:created xsi:type="dcterms:W3CDTF">2013-01-27T09:14:16Z</dcterms:created>
  <dcterms:modified xsi:type="dcterms:W3CDTF">2026-06-09T01:58:08Z</dcterms:modified>
  <cp:category/>
</cp:coreProperties>
</file>