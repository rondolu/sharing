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1" r:id="rId5"/>
    <p:sldId id="269" r:id="rId6"/>
    <p:sldId id="268" r:id="rId7"/>
    <p:sldId id="262" r:id="rId8"/>
    <p:sldId id="263" r:id="rId9"/>
    <p:sldId id="265" r:id="rId10"/>
    <p:sldId id="264" r:id="rId11"/>
    <p:sldId id="266" r:id="rId12"/>
    <p:sldId id="271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6AFF"/>
    <a:srgbClr val="F75801"/>
    <a:srgbClr val="36CBDA"/>
    <a:srgbClr val="FFD600"/>
    <a:srgbClr val="041A5E"/>
    <a:srgbClr val="67AD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2000" autoAdjust="0"/>
  </p:normalViewPr>
  <p:slideViewPr>
    <p:cSldViewPr snapToGrid="0">
      <p:cViewPr varScale="1">
        <p:scale>
          <a:sx n="105" d="100"/>
          <a:sy n="105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4F8AB4-5F1D-4869-A564-01E29C575B12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2B05B-93FE-433E-8507-A003322FD2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4767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2B05B-93FE-433E-8507-A003322FD2A1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3030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TW" altLang="en-US" b="0" i="0" dirty="0">
                <a:effectLst/>
                <a:latin typeface="Roboto Flex"/>
              </a:rPr>
              <a:t>想像你雇了一個新助理，第一週每件事都要手把手教，格式、邏輯、注意事項逐一說明。如果你能把這些全部寫成一份說明書，下一個助理直接照做，不用重教</a:t>
            </a:r>
            <a:r>
              <a:rPr lang="en-US" altLang="zh-TW" b="0" i="0" dirty="0">
                <a:effectLst/>
                <a:latin typeface="Roboto Flex"/>
              </a:rPr>
              <a:t>—— Agent Skill </a:t>
            </a:r>
            <a:r>
              <a:rPr lang="zh-TW" altLang="en-US" b="0" i="0" dirty="0">
                <a:effectLst/>
                <a:latin typeface="Roboto Flex"/>
              </a:rPr>
              <a:t>就是那份說明書，只是對象換成了 </a:t>
            </a:r>
            <a:r>
              <a:rPr lang="en-US" altLang="zh-TW" b="0" i="0" dirty="0">
                <a:effectLst/>
                <a:latin typeface="Roboto Flex"/>
              </a:rPr>
              <a:t>AI</a:t>
            </a:r>
            <a:r>
              <a:rPr lang="zh-TW" altLang="en-US" b="0" i="0" dirty="0">
                <a:effectLst/>
                <a:latin typeface="Roboto Flex"/>
              </a:rPr>
              <a:t>。</a:t>
            </a:r>
          </a:p>
          <a:p>
            <a:pPr algn="l"/>
            <a:r>
              <a:rPr lang="zh-TW" altLang="en-US" b="0" i="0" dirty="0">
                <a:effectLst/>
                <a:latin typeface="Roboto Flex"/>
              </a:rPr>
              <a:t>更具體一點，想像你去星巴克點咖啡，如果每次都要從頭說一遍：「我要大杯、燕麥奶、少糖、不加糖漿、冰的、拿鐵」，點個咖啡要花三十秒，店員也容易聽錯。但如果你是常客，跟店員說一句「老樣子」，對方就知道要幫你做什麼了。</a:t>
            </a:r>
          </a:p>
          <a:p>
            <a:pPr algn="l"/>
            <a:r>
              <a:rPr lang="en-US" altLang="zh-TW" b="0" i="0" dirty="0">
                <a:effectLst/>
                <a:latin typeface="Roboto Flex"/>
              </a:rPr>
              <a:t>Skill </a:t>
            </a:r>
            <a:r>
              <a:rPr lang="zh-TW" altLang="en-US" b="0" i="0" dirty="0">
                <a:effectLst/>
                <a:latin typeface="Roboto Flex"/>
              </a:rPr>
              <a:t>就是那句「老樣子」。它是你幫 </a:t>
            </a:r>
            <a:r>
              <a:rPr lang="en-US" altLang="zh-TW" b="0" i="0" dirty="0">
                <a:effectLst/>
                <a:latin typeface="Roboto Flex"/>
              </a:rPr>
              <a:t>AI </a:t>
            </a:r>
            <a:r>
              <a:rPr lang="zh-TW" altLang="en-US" b="0" i="0" dirty="0">
                <a:effectLst/>
                <a:latin typeface="Roboto Flex"/>
              </a:rPr>
              <a:t>預設好的一套「遇到這類任務，你該這樣做」的指令包。不用每次重新說明背景、格式、注意事項，</a:t>
            </a:r>
            <a:r>
              <a:rPr lang="en-US" altLang="zh-TW" b="0" i="0" dirty="0">
                <a:effectLst/>
                <a:latin typeface="Roboto Flex"/>
              </a:rPr>
              <a:t>AI </a:t>
            </a:r>
            <a:r>
              <a:rPr lang="zh-TW" altLang="en-US" b="0" i="0" dirty="0">
                <a:effectLst/>
                <a:latin typeface="Roboto Flex"/>
              </a:rPr>
              <a:t>看到任務就知道怎麼跑。</a:t>
            </a:r>
          </a:p>
          <a:p>
            <a:pPr algn="l"/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2B05B-93FE-433E-8507-A003322FD2A1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2724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ADE106-7003-0F65-2840-A83CF313D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A70B65E-7F7E-D159-C633-8DA62DA17C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AA132B-A625-1AF0-B688-A6ABDF773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000C-B549-4B8A-89A9-6CAD41DD9918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EBA14E-ED3D-F74A-8D90-57FF87A9B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926333-08D9-EB49-9D78-D7B5433F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ECF2D-701B-41EC-A454-F53BC857C3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929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390084-A654-5A8E-41E5-AFE6EEC65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3BCF03-F318-602A-0FE2-946D5AEB7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D9B3E0B-F74D-8383-A629-AAA28D487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000C-B549-4B8A-89A9-6CAD41DD9918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B7A77E-9D42-2C5E-26BB-E07584089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4A2468-8544-91C8-41BC-4CBEBCC4A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ECF2D-701B-41EC-A454-F53BC857C3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7044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78B378-1D6B-8EA7-2AD0-4DC6E1656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A4A744F-BAD4-842F-6174-918C4732D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D4B22C-AA59-E3B6-6A12-28447C934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000C-B549-4B8A-89A9-6CAD41DD9918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838AE8-48D1-EC09-46C5-1E36C507F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D52AC8-E332-DA51-B564-09D8238F8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ECF2D-701B-41EC-A454-F53BC857C3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956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BBD6C3-3222-3092-B409-32A3285F8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B0E007-2B64-6B18-7CEB-B1A40AFD4F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105F294-A84D-0A9B-A3F7-884513278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EDF7AF4-CB31-4EEE-DB4D-0387AF41C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000C-B549-4B8A-89A9-6CAD41DD9918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CB2CE2B-2F9D-B1D5-7C7F-4929ABAEA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C2A4B54-989C-7E02-823F-C6AEB9034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ECF2D-701B-41EC-A454-F53BC857C3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3714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C1A084-02AC-D41D-AD57-F6C89C72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779775D-BC3B-4D0D-9B3C-FE385875E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A392233-DF37-5125-059D-FFEB84DD4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097EB92-C8F2-D76F-7598-962957F670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957993E-6FBB-DEA5-927A-EE0447E453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5510E07-A9B2-8F88-AB0A-454A75358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000C-B549-4B8A-89A9-6CAD41DD9918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B93F786-5FE8-84D8-2F79-B1FF1DF5F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376AC56-8B1C-3B17-AB72-0AF4B24FD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ECF2D-701B-41EC-A454-F53BC857C3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2344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4344F8-9322-39CF-F443-65024362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35BED73-8125-3709-B437-0CA8956BB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000C-B549-4B8A-89A9-6CAD41DD9918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15D8F57-4514-E79D-1750-385598E6D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BAAA027-FAB8-C03D-510E-E18D34F86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ECF2D-701B-41EC-A454-F53BC857C3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298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B5160C4-BF6D-657B-2715-FAD024D2E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000C-B549-4B8A-89A9-6CAD41DD9918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24951EA-8B96-76AB-AFB9-593739854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6821EB-68E7-FD56-1798-DC99F2C94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ECF2D-701B-41EC-A454-F53BC857C3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9131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162F4A-F759-7B6C-AB61-D55FBC80F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250951-2451-1F50-F652-AC2FF9316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1F01896-68A0-A3AA-43E4-330AFCF15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25D3304-71BC-C2D0-62AB-015FA1E54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000C-B549-4B8A-89A9-6CAD41DD9918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BB19F50-A968-0E22-7534-89930043F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22F8711-9D6A-FDD1-1C10-307D50316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ECF2D-701B-41EC-A454-F53BC857C3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7404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230EB1-201B-6A7C-01C3-CBB60619D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5E43143-1784-6093-0CF6-2384D9617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D64470C-09FA-F70E-9DFD-0991E7829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6172C9F-9074-FAC9-B646-322C77376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000C-B549-4B8A-89A9-6CAD41DD9918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876F23B-3914-1B97-1A88-D8F66B99B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597C6AB-30B1-AC4B-C6DE-15C04C2BA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ECF2D-701B-41EC-A454-F53BC857C3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9927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195A1C-B2B6-6959-FC90-D23606DCF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FE90FFB-3176-8861-180D-890704DA2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18ACC5-3DE3-199E-6B76-227BBE1BD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000C-B549-4B8A-89A9-6CAD41DD9918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03C6DBA-C133-F0B4-3FEA-B41260910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73575E-06BA-E2CD-0680-4B6EE6E34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ECF2D-701B-41EC-A454-F53BC857C3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0892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9D3A4E-871D-3F17-7C67-66D648FA0E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AA2AEE7-81E1-0AF0-F409-5D5131F707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342E016-0EB8-B975-45DD-CBDE65369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6000C-B549-4B8A-89A9-6CAD41DD9918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9A25E10-9BF4-21BA-A9E5-3FF5AD01D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FF2702A-904B-7761-03D6-4AD118AEF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ECF2D-701B-41EC-A454-F53BC857C3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2629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E735963-DE18-6F21-52B0-8600E8235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2BBDF01-DA04-7EFA-57EC-EF3413AEA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731B03-BEC3-071C-106C-77E47E4D30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6000C-B549-4B8A-89A9-6CAD41DD9918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6C56BD-D890-0A85-C808-1A60FD45B3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6474D1-6321-9414-726F-ADD085299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ECF2D-701B-41EC-A454-F53BC857C3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9515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aihao.tw/2026/02/24/dont-build-agents-build-skills/" TargetMode="External"/><Relationship Id="rId2" Type="http://schemas.openxmlformats.org/officeDocument/2006/relationships/hyperlink" Target="https://furoku.github.io/bananaX/projects/infographic-evaluation/zh/index.html?lang=zh&amp;tab=Business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anthropics/skills" TargetMode="External"/><Relationship Id="rId5" Type="http://schemas.openxmlformats.org/officeDocument/2006/relationships/hyperlink" Target="https://www.bnext.com.tw/article/90186/what-is-agent-skill" TargetMode="External"/><Relationship Id="rId4" Type="http://schemas.openxmlformats.org/officeDocument/2006/relationships/hyperlink" Target="https://www.bnext.com.tw/article/90058/agent-skills-free-course-deeplearning-ai-anthropic-latest-partnershi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20DAE0DE-E3AC-4325-9F82-21BA4A2F1C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43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71935C9-FAE1-4B95-B243-BF68952C9DE7}"/>
              </a:ext>
            </a:extLst>
          </p:cNvPr>
          <p:cNvSpPr/>
          <p:nvPr/>
        </p:nvSpPr>
        <p:spPr>
          <a:xfrm>
            <a:off x="44450" y="-114300"/>
            <a:ext cx="12192000" cy="6858000"/>
          </a:xfrm>
          <a:prstGeom prst="rect">
            <a:avLst/>
          </a:prstGeom>
          <a:solidFill>
            <a:srgbClr val="07298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F2E3C49-4638-4C48-8300-89848CAFDBD1}"/>
              </a:ext>
            </a:extLst>
          </p:cNvPr>
          <p:cNvSpPr/>
          <p:nvPr/>
        </p:nvSpPr>
        <p:spPr>
          <a:xfrm>
            <a:off x="0" y="50800"/>
            <a:ext cx="4064000" cy="6858000"/>
          </a:xfrm>
          <a:prstGeom prst="rect">
            <a:avLst/>
          </a:prstGeom>
          <a:solidFill>
            <a:srgbClr val="041A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2400094-1660-478F-AAD4-EB49E9FC8A22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604717C-394B-4496-978C-21AA4ED2DB0E}"/>
              </a:ext>
            </a:extLst>
          </p:cNvPr>
          <p:cNvSpPr/>
          <p:nvPr/>
        </p:nvSpPr>
        <p:spPr>
          <a:xfrm>
            <a:off x="431800" y="431800"/>
            <a:ext cx="76200" cy="762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4B94DF5-B13F-4DCF-A58B-B386B81E11C1}"/>
              </a:ext>
            </a:extLst>
          </p:cNvPr>
          <p:cNvSpPr/>
          <p:nvPr/>
        </p:nvSpPr>
        <p:spPr>
          <a:xfrm>
            <a:off x="762000" y="431800"/>
            <a:ext cx="76200" cy="762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30846F0-20E0-437C-A1B2-4BDED34910FD}"/>
              </a:ext>
            </a:extLst>
          </p:cNvPr>
          <p:cNvSpPr/>
          <p:nvPr/>
        </p:nvSpPr>
        <p:spPr>
          <a:xfrm>
            <a:off x="1092200" y="431800"/>
            <a:ext cx="76200" cy="762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C5771F6-2CF8-43DF-82BA-8E4BF09A9530}"/>
              </a:ext>
            </a:extLst>
          </p:cNvPr>
          <p:cNvSpPr/>
          <p:nvPr/>
        </p:nvSpPr>
        <p:spPr>
          <a:xfrm>
            <a:off x="1422400" y="431800"/>
            <a:ext cx="76200" cy="762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AA015DE-0D56-4414-9DAB-D8AF2974D9D9}"/>
              </a:ext>
            </a:extLst>
          </p:cNvPr>
          <p:cNvSpPr/>
          <p:nvPr/>
        </p:nvSpPr>
        <p:spPr>
          <a:xfrm>
            <a:off x="431800" y="762000"/>
            <a:ext cx="76200" cy="762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4A436DF-A91E-44DD-BBAB-C2731DB351F9}"/>
              </a:ext>
            </a:extLst>
          </p:cNvPr>
          <p:cNvSpPr/>
          <p:nvPr/>
        </p:nvSpPr>
        <p:spPr>
          <a:xfrm>
            <a:off x="762000" y="762000"/>
            <a:ext cx="76200" cy="762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913B008-2A1B-4A6B-AF9E-E8C033F7FDC0}"/>
              </a:ext>
            </a:extLst>
          </p:cNvPr>
          <p:cNvSpPr/>
          <p:nvPr/>
        </p:nvSpPr>
        <p:spPr>
          <a:xfrm>
            <a:off x="1092200" y="762000"/>
            <a:ext cx="76200" cy="762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AD071BD-EC15-46C0-9CFB-1BBFFAD349C8}"/>
              </a:ext>
            </a:extLst>
          </p:cNvPr>
          <p:cNvSpPr/>
          <p:nvPr/>
        </p:nvSpPr>
        <p:spPr>
          <a:xfrm>
            <a:off x="1422400" y="762000"/>
            <a:ext cx="76200" cy="762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3F569C3-BEE0-46E5-BB23-767044DF7C37}"/>
              </a:ext>
            </a:extLst>
          </p:cNvPr>
          <p:cNvSpPr/>
          <p:nvPr/>
        </p:nvSpPr>
        <p:spPr>
          <a:xfrm>
            <a:off x="431800" y="1092200"/>
            <a:ext cx="76200" cy="762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CBE587C-06B5-46E9-9781-D06F0F39B1E8}"/>
              </a:ext>
            </a:extLst>
          </p:cNvPr>
          <p:cNvSpPr/>
          <p:nvPr/>
        </p:nvSpPr>
        <p:spPr>
          <a:xfrm>
            <a:off x="762000" y="1092200"/>
            <a:ext cx="76200" cy="762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4BCC596-787E-4117-886F-4E714F358640}"/>
              </a:ext>
            </a:extLst>
          </p:cNvPr>
          <p:cNvSpPr/>
          <p:nvPr/>
        </p:nvSpPr>
        <p:spPr>
          <a:xfrm>
            <a:off x="1092200" y="1092200"/>
            <a:ext cx="76200" cy="762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9FF1D27-6DE2-47F6-A2E3-CC33DA65139A}"/>
              </a:ext>
            </a:extLst>
          </p:cNvPr>
          <p:cNvSpPr/>
          <p:nvPr/>
        </p:nvSpPr>
        <p:spPr>
          <a:xfrm>
            <a:off x="1422400" y="1092200"/>
            <a:ext cx="76200" cy="762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D564E1C-7B80-4C2A-92AD-7A469B9DB392}"/>
              </a:ext>
            </a:extLst>
          </p:cNvPr>
          <p:cNvSpPr/>
          <p:nvPr/>
        </p:nvSpPr>
        <p:spPr>
          <a:xfrm>
            <a:off x="431800" y="1422400"/>
            <a:ext cx="76200" cy="762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3574077-39F6-444F-AF31-F00A688678F2}"/>
              </a:ext>
            </a:extLst>
          </p:cNvPr>
          <p:cNvSpPr/>
          <p:nvPr/>
        </p:nvSpPr>
        <p:spPr>
          <a:xfrm>
            <a:off x="762000" y="1422400"/>
            <a:ext cx="76200" cy="762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94BF347-099C-4E04-8C04-400B0CE34415}"/>
              </a:ext>
            </a:extLst>
          </p:cNvPr>
          <p:cNvSpPr/>
          <p:nvPr/>
        </p:nvSpPr>
        <p:spPr>
          <a:xfrm>
            <a:off x="1092200" y="1422400"/>
            <a:ext cx="76200" cy="762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5D196CD-E512-4CF0-8F45-CF6B99E6CE47}"/>
              </a:ext>
            </a:extLst>
          </p:cNvPr>
          <p:cNvSpPr/>
          <p:nvPr/>
        </p:nvSpPr>
        <p:spPr>
          <a:xfrm>
            <a:off x="1422400" y="1422400"/>
            <a:ext cx="76200" cy="762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31F0807-BAE5-42A6-876C-E8DE0F539920}"/>
              </a:ext>
            </a:extLst>
          </p:cNvPr>
          <p:cNvSpPr/>
          <p:nvPr/>
        </p:nvSpPr>
        <p:spPr>
          <a:xfrm>
            <a:off x="431800" y="1651000"/>
            <a:ext cx="2286000" cy="254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EECED819-205E-4A51-97A7-4AB441FEAE8A}"/>
              </a:ext>
            </a:extLst>
          </p:cNvPr>
          <p:cNvSpPr txBox="1"/>
          <p:nvPr/>
        </p:nvSpPr>
        <p:spPr>
          <a:xfrm>
            <a:off x="4417997" y="2258193"/>
            <a:ext cx="7112000" cy="863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altLang="zh-TW" sz="4000" b="1" dirty="0">
                <a:solidFill>
                  <a:srgbClr val="FFFFFF"/>
                </a:solidFill>
                <a:latin typeface="Microsoft JhengHei"/>
                <a:ea typeface="Microsoft JhengHei"/>
              </a:rPr>
              <a:t>Agent Skills </a:t>
            </a:r>
            <a:r>
              <a:rPr lang="zh-TW" altLang="en-US" sz="4000" b="1" dirty="0">
                <a:solidFill>
                  <a:srgbClr val="FFFFFF"/>
                </a:solidFill>
                <a:latin typeface="Microsoft JhengHei"/>
                <a:ea typeface="Microsoft JhengHei"/>
              </a:rPr>
              <a:t>實作與應用</a:t>
            </a:r>
          </a:p>
          <a:p>
            <a:pPr algn="l"/>
            <a:endParaRPr lang="zh-TW" altLang="en-US" sz="4000" b="1" dirty="0">
              <a:solidFill>
                <a:schemeClr val="bg1">
                  <a:lumMod val="95000"/>
                </a:schemeClr>
              </a:solidFill>
              <a:latin typeface="Microsoft JhengHei"/>
              <a:ea typeface="Microsoft JhengHei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F95C23E-16E7-4DE3-B93E-8BC68C4377AD}"/>
              </a:ext>
            </a:extLst>
          </p:cNvPr>
          <p:cNvSpPr/>
          <p:nvPr/>
        </p:nvSpPr>
        <p:spPr>
          <a:xfrm>
            <a:off x="4533501" y="3115443"/>
            <a:ext cx="5080000" cy="63500"/>
          </a:xfrm>
          <a:prstGeom prst="rect">
            <a:avLst/>
          </a:prstGeom>
          <a:solidFill>
            <a:srgbClr val="FFD6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C53E2BC0-6EAC-4906-8EE8-3EC04E88C074}"/>
              </a:ext>
            </a:extLst>
          </p:cNvPr>
          <p:cNvSpPr txBox="1"/>
          <p:nvPr/>
        </p:nvSpPr>
        <p:spPr>
          <a:xfrm>
            <a:off x="4572000" y="3708400"/>
            <a:ext cx="7112000" cy="508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endParaRPr lang="zh-TW" altLang="en-US" sz="2200" b="1" dirty="0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9FA7D3C4-35F0-4D26-934C-B9777F29EE77}"/>
              </a:ext>
            </a:extLst>
          </p:cNvPr>
          <p:cNvSpPr txBox="1"/>
          <p:nvPr/>
        </p:nvSpPr>
        <p:spPr>
          <a:xfrm>
            <a:off x="4417997" y="3345044"/>
            <a:ext cx="7112000" cy="607461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TW" altLang="en-US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將零散的 </a:t>
            </a:r>
            <a:r>
              <a:rPr lang="en-US" altLang="zh-TW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Prompt</a:t>
            </a:r>
            <a:r>
              <a:rPr lang="zh-TW" altLang="en-US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，
轉換為標準化的 </a:t>
            </a:r>
            <a:r>
              <a:rPr lang="en-US" altLang="zh-TW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AI </a:t>
            </a:r>
            <a:r>
              <a:rPr lang="zh-TW" altLang="en-US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自動化資產。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A31D8C0-A0B6-453D-88ED-79A7D67E4DC5}"/>
              </a:ext>
            </a:extLst>
          </p:cNvPr>
          <p:cNvSpPr/>
          <p:nvPr/>
        </p:nvSpPr>
        <p:spPr>
          <a:xfrm>
            <a:off x="0" y="6578600"/>
            <a:ext cx="4064000" cy="2794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19DF8B9-79E2-49A5-99D7-C656C91A7F14}"/>
              </a:ext>
            </a:extLst>
          </p:cNvPr>
          <p:cNvSpPr/>
          <p:nvPr/>
        </p:nvSpPr>
        <p:spPr>
          <a:xfrm>
            <a:off x="4064000" y="6578600"/>
            <a:ext cx="4064000" cy="2794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2690EBD-ED1E-4F5D-B2FE-940C1D69FA61}"/>
              </a:ext>
            </a:extLst>
          </p:cNvPr>
          <p:cNvSpPr/>
          <p:nvPr/>
        </p:nvSpPr>
        <p:spPr>
          <a:xfrm>
            <a:off x="8128000" y="6578600"/>
            <a:ext cx="4064000" cy="279400"/>
          </a:xfrm>
          <a:prstGeom prst="rect">
            <a:avLst/>
          </a:prstGeom>
          <a:solidFill>
            <a:srgbClr val="0843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015FC75-8486-D23B-DE52-22346C536A94}"/>
              </a:ext>
            </a:extLst>
          </p:cNvPr>
          <p:cNvSpPr/>
          <p:nvPr/>
        </p:nvSpPr>
        <p:spPr>
          <a:xfrm>
            <a:off x="3663950" y="5128393"/>
            <a:ext cx="381000" cy="3810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B746D21-2D85-6BF2-D4DE-39A4C13F16EE}"/>
              </a:ext>
            </a:extLst>
          </p:cNvPr>
          <p:cNvSpPr/>
          <p:nvPr/>
        </p:nvSpPr>
        <p:spPr>
          <a:xfrm>
            <a:off x="3663950" y="5560193"/>
            <a:ext cx="381000" cy="3810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109B1B84-A41C-F7E4-F8DD-BF44BFEB4085}"/>
              </a:ext>
            </a:extLst>
          </p:cNvPr>
          <p:cNvSpPr txBox="1"/>
          <p:nvPr/>
        </p:nvSpPr>
        <p:spPr>
          <a:xfrm>
            <a:off x="5361272" y="5053263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F647E87E-8CE9-3B21-67A8-98EA3F7F636D}"/>
              </a:ext>
            </a:extLst>
          </p:cNvPr>
          <p:cNvSpPr txBox="1"/>
          <p:nvPr/>
        </p:nvSpPr>
        <p:spPr>
          <a:xfrm>
            <a:off x="5361272" y="5053263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DDF4DA14-EF08-5B7C-ADFC-2664433B0F6F}"/>
              </a:ext>
            </a:extLst>
          </p:cNvPr>
          <p:cNvSpPr txBox="1"/>
          <p:nvPr/>
        </p:nvSpPr>
        <p:spPr>
          <a:xfrm>
            <a:off x="4417997" y="4485637"/>
            <a:ext cx="7112000" cy="607461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zh-TW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Jacky </a:t>
            </a:r>
            <a:br>
              <a:rPr lang="en-US" altLang="zh-TW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</a:br>
            <a:br>
              <a:rPr lang="en-US" altLang="zh-TW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</a:br>
            <a:r>
              <a:rPr lang="en-US" altLang="zh-TW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2026/03/03</a:t>
            </a:r>
            <a:endParaRPr lang="zh-TW" altLang="en-US" sz="1600" b="1" dirty="0">
              <a:solidFill>
                <a:srgbClr val="B2D9FC"/>
              </a:solidFill>
              <a:latin typeface="Microsoft Jheng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9458530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C027DFCE-E7B5-46A6-BAC7-5503D926570B}"/>
              </a:ext>
            </a:extLst>
          </p:cNvPr>
          <p:cNvSpPr/>
          <p:nvPr/>
        </p:nvSpPr>
        <p:spPr>
          <a:xfrm>
            <a:off x="0" y="6350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8CD547B-8D2B-44A1-9F7D-9FA849177996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D0D1947-272A-4908-89D3-8EF4F738C961}"/>
              </a:ext>
            </a:extLst>
          </p:cNvPr>
          <p:cNvSpPr/>
          <p:nvPr/>
        </p:nvSpPr>
        <p:spPr>
          <a:xfrm>
            <a:off x="0" y="6578600"/>
            <a:ext cx="4064000" cy="2794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E9C405B-9E4E-4451-9B0D-1D1FF706D765}"/>
              </a:ext>
            </a:extLst>
          </p:cNvPr>
          <p:cNvSpPr/>
          <p:nvPr/>
        </p:nvSpPr>
        <p:spPr>
          <a:xfrm>
            <a:off x="4064000" y="6578600"/>
            <a:ext cx="4064000" cy="2794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E03E40A-3FD9-44C7-B2EF-E1239F0F98B8}"/>
              </a:ext>
            </a:extLst>
          </p:cNvPr>
          <p:cNvSpPr/>
          <p:nvPr/>
        </p:nvSpPr>
        <p:spPr>
          <a:xfrm>
            <a:off x="8128000" y="6578600"/>
            <a:ext cx="4064000" cy="279400"/>
          </a:xfrm>
          <a:prstGeom prst="rect">
            <a:avLst/>
          </a:prstGeom>
          <a:solidFill>
            <a:srgbClr val="0843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713DFBB-5CEA-4623-AC25-8BF209C4B743}"/>
              </a:ext>
            </a:extLst>
          </p:cNvPr>
          <p:cNvSpPr/>
          <p:nvPr/>
        </p:nvSpPr>
        <p:spPr>
          <a:xfrm>
            <a:off x="0" y="63500"/>
            <a:ext cx="2794000" cy="6515100"/>
          </a:xfrm>
          <a:prstGeom prst="rect">
            <a:avLst/>
          </a:prstGeom>
          <a:solidFill>
            <a:srgbClr val="0843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CCDB7A9-C2CF-4782-ACFE-FB644C37C0FE}"/>
              </a:ext>
            </a:extLst>
          </p:cNvPr>
          <p:cNvSpPr/>
          <p:nvPr/>
        </p:nvSpPr>
        <p:spPr>
          <a:xfrm>
            <a:off x="0" y="63500"/>
            <a:ext cx="76200" cy="65151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8EB1CF69-427F-463E-B2A9-AE5AE60EAA3D}"/>
              </a:ext>
            </a:extLst>
          </p:cNvPr>
          <p:cNvSpPr txBox="1"/>
          <p:nvPr/>
        </p:nvSpPr>
        <p:spPr>
          <a:xfrm>
            <a:off x="152400" y="1873250"/>
            <a:ext cx="2362200" cy="1524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altLang="zh-TW" sz="3600" b="1" dirty="0">
                <a:solidFill>
                  <a:srgbClr val="FFFFFF"/>
                </a:solidFill>
                <a:latin typeface="Microsoft JhengHei"/>
                <a:ea typeface="Microsoft JhengHei"/>
              </a:rPr>
              <a:t>Agenda</a:t>
            </a:r>
            <a:endParaRPr lang="zh-TW" altLang="en-US" sz="3600" b="1" dirty="0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C589280-7350-47AB-BBCC-C8D235099315}"/>
              </a:ext>
            </a:extLst>
          </p:cNvPr>
          <p:cNvSpPr/>
          <p:nvPr/>
        </p:nvSpPr>
        <p:spPr>
          <a:xfrm>
            <a:off x="228600" y="2641600"/>
            <a:ext cx="1524000" cy="38100"/>
          </a:xfrm>
          <a:prstGeom prst="rect">
            <a:avLst/>
          </a:prstGeom>
          <a:solidFill>
            <a:srgbClr val="FFD6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CBA4434-C851-4178-B879-CBC74424A0E4}"/>
              </a:ext>
            </a:extLst>
          </p:cNvPr>
          <p:cNvSpPr/>
          <p:nvPr/>
        </p:nvSpPr>
        <p:spPr>
          <a:xfrm>
            <a:off x="2413000" y="5624897"/>
            <a:ext cx="381000" cy="3810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62C80F5-519E-428E-B5C3-1D033EA29111}"/>
              </a:ext>
            </a:extLst>
          </p:cNvPr>
          <p:cNvSpPr/>
          <p:nvPr/>
        </p:nvSpPr>
        <p:spPr>
          <a:xfrm>
            <a:off x="2413000" y="6056697"/>
            <a:ext cx="381000" cy="3810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A953731-B925-4694-9E9B-7042064BAAB4}"/>
              </a:ext>
            </a:extLst>
          </p:cNvPr>
          <p:cNvSpPr/>
          <p:nvPr/>
        </p:nvSpPr>
        <p:spPr>
          <a:xfrm>
            <a:off x="3022600" y="381000"/>
            <a:ext cx="2971800" cy="2540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45071DD-6833-4E71-A0E0-AD54B1E5BF4C}"/>
              </a:ext>
            </a:extLst>
          </p:cNvPr>
          <p:cNvSpPr/>
          <p:nvPr/>
        </p:nvSpPr>
        <p:spPr>
          <a:xfrm>
            <a:off x="3022600" y="381000"/>
            <a:ext cx="2971800" cy="762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680FF1A6-89A1-4A5D-ACEF-18622E651D6F}"/>
              </a:ext>
            </a:extLst>
          </p:cNvPr>
          <p:cNvSpPr txBox="1"/>
          <p:nvPr/>
        </p:nvSpPr>
        <p:spPr>
          <a:xfrm>
            <a:off x="3175000" y="584200"/>
            <a:ext cx="1016000" cy="889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altLang="zh-TW" sz="5200" b="1" dirty="0">
                <a:solidFill>
                  <a:srgbClr val="186AFF"/>
                </a:solidFill>
                <a:latin typeface="Microsoft JhengHei"/>
                <a:ea typeface="Microsoft JhengHei"/>
              </a:rPr>
              <a:t>01</a:t>
            </a:r>
            <a:endParaRPr lang="zh-TW" altLang="en-US" sz="5200" b="1" dirty="0">
              <a:solidFill>
                <a:srgbClr val="186AFF"/>
              </a:solidFill>
              <a:latin typeface="Microsoft JhengHei"/>
              <a:ea typeface="Microsoft JhengHei"/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2B4502B1-F8F3-415C-BE86-762FEA7CE7C2}"/>
              </a:ext>
            </a:extLst>
          </p:cNvPr>
          <p:cNvSpPr txBox="1"/>
          <p:nvPr/>
        </p:nvSpPr>
        <p:spPr>
          <a:xfrm>
            <a:off x="3175000" y="1577741"/>
            <a:ext cx="27178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b="1" dirty="0">
                <a:solidFill>
                  <a:srgbClr val="262626"/>
                </a:solidFill>
                <a:latin typeface="Microsoft JhengHei"/>
                <a:ea typeface="Microsoft JhengHei"/>
              </a:rPr>
              <a:t>痛點回顧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0010DD2-9D82-4BA6-BFD8-9AFC0A6A383B}"/>
              </a:ext>
            </a:extLst>
          </p:cNvPr>
          <p:cNvSpPr/>
          <p:nvPr/>
        </p:nvSpPr>
        <p:spPr>
          <a:xfrm>
            <a:off x="3022600" y="2819400"/>
            <a:ext cx="2971800" cy="1016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EC14B9B-E867-42B4-946E-5F265D07F862}"/>
              </a:ext>
            </a:extLst>
          </p:cNvPr>
          <p:cNvSpPr/>
          <p:nvPr/>
        </p:nvSpPr>
        <p:spPr>
          <a:xfrm>
            <a:off x="6096000" y="381000"/>
            <a:ext cx="2971800" cy="2540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6214D4C-8198-4A5F-AFBF-FA765E7F6EC8}"/>
              </a:ext>
            </a:extLst>
          </p:cNvPr>
          <p:cNvSpPr/>
          <p:nvPr/>
        </p:nvSpPr>
        <p:spPr>
          <a:xfrm>
            <a:off x="6096000" y="381000"/>
            <a:ext cx="2971800" cy="762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B220F501-68BD-48D2-B499-B8660C13081B}"/>
              </a:ext>
            </a:extLst>
          </p:cNvPr>
          <p:cNvSpPr txBox="1"/>
          <p:nvPr/>
        </p:nvSpPr>
        <p:spPr>
          <a:xfrm>
            <a:off x="6248400" y="584200"/>
            <a:ext cx="1016000" cy="889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altLang="zh-TW" sz="5200" b="1" dirty="0">
                <a:solidFill>
                  <a:srgbClr val="186AFF"/>
                </a:solidFill>
                <a:latin typeface="Microsoft JhengHei"/>
                <a:ea typeface="Microsoft JhengHei"/>
              </a:rPr>
              <a:t>02</a:t>
            </a:r>
            <a:endParaRPr lang="zh-TW" altLang="en-US" sz="5200" b="1" dirty="0">
              <a:solidFill>
                <a:srgbClr val="186AFF"/>
              </a:solidFill>
              <a:latin typeface="Microsoft JhengHei"/>
              <a:ea typeface="Microsoft JhengHei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817404BF-BC12-4A81-B05B-D9D3B7F5FBE2}"/>
              </a:ext>
            </a:extLst>
          </p:cNvPr>
          <p:cNvSpPr txBox="1"/>
          <p:nvPr/>
        </p:nvSpPr>
        <p:spPr>
          <a:xfrm>
            <a:off x="6169927" y="1574800"/>
            <a:ext cx="27178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zh-TW" b="1" dirty="0">
                <a:solidFill>
                  <a:srgbClr val="262626"/>
                </a:solidFill>
                <a:latin typeface="Microsoft JhengHei"/>
                <a:ea typeface="Microsoft JhengHei"/>
              </a:rPr>
              <a:t>Skills </a:t>
            </a:r>
            <a:r>
              <a:rPr lang="zh-TW" altLang="en-US" b="1" dirty="0">
                <a:solidFill>
                  <a:srgbClr val="262626"/>
                </a:solidFill>
                <a:latin typeface="Microsoft JhengHei"/>
                <a:ea typeface="Microsoft JhengHei"/>
              </a:rPr>
              <a:t>怎麼運作？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E858743-87BB-4F2D-A34B-10C704C3324A}"/>
              </a:ext>
            </a:extLst>
          </p:cNvPr>
          <p:cNvSpPr/>
          <p:nvPr/>
        </p:nvSpPr>
        <p:spPr>
          <a:xfrm>
            <a:off x="6096000" y="2819400"/>
            <a:ext cx="2971800" cy="1016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DBA4988-F03D-478D-B408-EDB2D555703E}"/>
              </a:ext>
            </a:extLst>
          </p:cNvPr>
          <p:cNvSpPr/>
          <p:nvPr/>
        </p:nvSpPr>
        <p:spPr>
          <a:xfrm>
            <a:off x="9169400" y="381000"/>
            <a:ext cx="2971800" cy="2540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F84CCF0-15C6-458B-8D12-759B297ECB17}"/>
              </a:ext>
            </a:extLst>
          </p:cNvPr>
          <p:cNvSpPr/>
          <p:nvPr/>
        </p:nvSpPr>
        <p:spPr>
          <a:xfrm>
            <a:off x="9169400" y="381000"/>
            <a:ext cx="2971800" cy="762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AE226777-B08B-424A-AA9D-A54C74EA8565}"/>
              </a:ext>
            </a:extLst>
          </p:cNvPr>
          <p:cNvSpPr txBox="1"/>
          <p:nvPr/>
        </p:nvSpPr>
        <p:spPr>
          <a:xfrm>
            <a:off x="9321800" y="584200"/>
            <a:ext cx="1016000" cy="889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altLang="zh-TW" sz="5200" b="1" dirty="0">
                <a:solidFill>
                  <a:srgbClr val="186AFF"/>
                </a:solidFill>
                <a:latin typeface="Microsoft JhengHei"/>
                <a:ea typeface="Microsoft JhengHei"/>
              </a:rPr>
              <a:t>03</a:t>
            </a:r>
            <a:endParaRPr lang="zh-TW" altLang="en-US" sz="5200" b="1" dirty="0">
              <a:solidFill>
                <a:srgbClr val="186AFF"/>
              </a:solidFill>
              <a:latin typeface="Microsoft JhengHei"/>
              <a:ea typeface="Microsoft JhengHei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007F1251-1984-4DB9-85DE-FEF4D7551757}"/>
              </a:ext>
            </a:extLst>
          </p:cNvPr>
          <p:cNvSpPr txBox="1"/>
          <p:nvPr/>
        </p:nvSpPr>
        <p:spPr>
          <a:xfrm>
            <a:off x="9283700" y="1600200"/>
            <a:ext cx="27178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b="1">
                <a:solidFill>
                  <a:srgbClr val="262626"/>
                </a:solidFill>
                <a:latin typeface="Microsoft JhengHei"/>
                <a:ea typeface="Microsoft JhengHei"/>
              </a:rPr>
              <a:t>實作 </a:t>
            </a:r>
            <a:r>
              <a:rPr lang="en-US" altLang="zh-TW" b="1">
                <a:solidFill>
                  <a:srgbClr val="262626"/>
                </a:solidFill>
                <a:latin typeface="Microsoft JhengHei"/>
                <a:ea typeface="Microsoft JhengHei"/>
              </a:rPr>
              <a:t>SOP</a:t>
            </a:r>
            <a:endParaRPr lang="zh-TW" altLang="en-US" b="1" dirty="0">
              <a:solidFill>
                <a:srgbClr val="262626"/>
              </a:solidFill>
              <a:latin typeface="Microsoft JhengHei"/>
              <a:ea typeface="Microsoft JhengHei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2C4FA98-87C1-42A1-915E-A265425E8CE6}"/>
              </a:ext>
            </a:extLst>
          </p:cNvPr>
          <p:cNvSpPr/>
          <p:nvPr/>
        </p:nvSpPr>
        <p:spPr>
          <a:xfrm>
            <a:off x="9169400" y="2819400"/>
            <a:ext cx="2971800" cy="1016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291CF6A-DD81-480C-8C11-18D1188B7120}"/>
              </a:ext>
            </a:extLst>
          </p:cNvPr>
          <p:cNvSpPr/>
          <p:nvPr/>
        </p:nvSpPr>
        <p:spPr>
          <a:xfrm>
            <a:off x="3022600" y="3022600"/>
            <a:ext cx="2971800" cy="2540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A0491C4-EDBF-48A9-912E-5BE614D7ECBA}"/>
              </a:ext>
            </a:extLst>
          </p:cNvPr>
          <p:cNvSpPr/>
          <p:nvPr/>
        </p:nvSpPr>
        <p:spPr>
          <a:xfrm>
            <a:off x="3022600" y="3022600"/>
            <a:ext cx="2971800" cy="762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389427E2-4ADF-4A99-91A1-700E7AE66A69}"/>
              </a:ext>
            </a:extLst>
          </p:cNvPr>
          <p:cNvSpPr txBox="1"/>
          <p:nvPr/>
        </p:nvSpPr>
        <p:spPr>
          <a:xfrm>
            <a:off x="3175000" y="3225800"/>
            <a:ext cx="1016000" cy="889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altLang="zh-TW" sz="5200" b="1">
                <a:solidFill>
                  <a:srgbClr val="186AFF"/>
                </a:solidFill>
                <a:latin typeface="Microsoft JhengHei"/>
                <a:ea typeface="Microsoft JhengHei"/>
              </a:rPr>
              <a:t>04</a:t>
            </a:r>
            <a:endParaRPr lang="zh-TW" altLang="en-US" sz="5200" b="1">
              <a:solidFill>
                <a:srgbClr val="186AFF"/>
              </a:solidFill>
              <a:latin typeface="Microsoft JhengHei"/>
              <a:ea typeface="Microsoft JhengHei"/>
            </a:endParaRP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691FE921-C623-4544-8011-4CAD4E8DBF5B}"/>
              </a:ext>
            </a:extLst>
          </p:cNvPr>
          <p:cNvSpPr txBox="1"/>
          <p:nvPr/>
        </p:nvSpPr>
        <p:spPr>
          <a:xfrm>
            <a:off x="3175000" y="4357303"/>
            <a:ext cx="27178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b="1" dirty="0">
                <a:solidFill>
                  <a:srgbClr val="262626"/>
                </a:solidFill>
                <a:latin typeface="Microsoft JhengHei"/>
                <a:ea typeface="Microsoft JhengHei"/>
              </a:rPr>
              <a:t>開發地雷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1B210E4-63AE-4969-902E-22252F24B82D}"/>
              </a:ext>
            </a:extLst>
          </p:cNvPr>
          <p:cNvSpPr/>
          <p:nvPr/>
        </p:nvSpPr>
        <p:spPr>
          <a:xfrm>
            <a:off x="3022600" y="5461000"/>
            <a:ext cx="2971800" cy="1016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10A4C375-29EF-4977-A6FD-E8185F3325C1}"/>
              </a:ext>
            </a:extLst>
          </p:cNvPr>
          <p:cNvSpPr txBox="1"/>
          <p:nvPr/>
        </p:nvSpPr>
        <p:spPr>
          <a:xfrm>
            <a:off x="9283700" y="4364522"/>
            <a:ext cx="27178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endParaRPr lang="zh-TW" altLang="en-US" sz="1600" b="1" dirty="0">
              <a:solidFill>
                <a:srgbClr val="262626"/>
              </a:solidFill>
              <a:latin typeface="Microsoft JhengHei"/>
              <a:ea typeface="Microsoft JhengHei"/>
            </a:endParaRPr>
          </a:p>
        </p:txBody>
      </p:sp>
      <p:grpSp>
        <p:nvGrpSpPr>
          <p:cNvPr id="77" name="群組 76">
            <a:extLst>
              <a:ext uri="{FF2B5EF4-FFF2-40B4-BE49-F238E27FC236}">
                <a16:creationId xmlns:a16="http://schemas.microsoft.com/office/drawing/2014/main" id="{C96D84D1-DEC5-78D5-B540-1BBD3E8BB630}"/>
              </a:ext>
            </a:extLst>
          </p:cNvPr>
          <p:cNvGrpSpPr/>
          <p:nvPr/>
        </p:nvGrpSpPr>
        <p:grpSpPr>
          <a:xfrm>
            <a:off x="6096000" y="3032125"/>
            <a:ext cx="2971800" cy="2540000"/>
            <a:chOff x="9169400" y="3022600"/>
            <a:chExt cx="2971800" cy="2540000"/>
          </a:xfrm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97AA0583-31FB-423C-8A0B-59F91542DB72}"/>
                </a:ext>
              </a:extLst>
            </p:cNvPr>
            <p:cNvSpPr/>
            <p:nvPr/>
          </p:nvSpPr>
          <p:spPr>
            <a:xfrm>
              <a:off x="9169400" y="3022600"/>
              <a:ext cx="2971800" cy="2540000"/>
            </a:xfrm>
            <a:prstGeom prst="rect">
              <a:avLst/>
            </a:prstGeom>
            <a:solidFill>
              <a:srgbClr val="F2F2F2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82B70593-8181-4B60-A0EF-1B68ECCA1933}"/>
                </a:ext>
              </a:extLst>
            </p:cNvPr>
            <p:cNvSpPr/>
            <p:nvPr/>
          </p:nvSpPr>
          <p:spPr>
            <a:xfrm>
              <a:off x="9169400" y="3022600"/>
              <a:ext cx="2971800" cy="76200"/>
            </a:xfrm>
            <a:prstGeom prst="rect">
              <a:avLst/>
            </a:prstGeom>
            <a:solidFill>
              <a:srgbClr val="186A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AD2A4875-4A3E-43B0-B837-498DA985FC4C}"/>
                </a:ext>
              </a:extLst>
            </p:cNvPr>
            <p:cNvSpPr/>
            <p:nvPr/>
          </p:nvSpPr>
          <p:spPr>
            <a:xfrm>
              <a:off x="9169400" y="5461000"/>
              <a:ext cx="2971800" cy="101600"/>
            </a:xfrm>
            <a:prstGeom prst="rect">
              <a:avLst/>
            </a:prstGeom>
            <a:solidFill>
              <a:srgbClr val="186A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/>
            </a:p>
          </p:txBody>
        </p:sp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4A86663D-369A-4EE4-8459-6D316EDE8811}"/>
                </a:ext>
              </a:extLst>
            </p:cNvPr>
            <p:cNvSpPr txBox="1"/>
            <p:nvPr/>
          </p:nvSpPr>
          <p:spPr>
            <a:xfrm>
              <a:off x="9347200" y="3238500"/>
              <a:ext cx="1016000" cy="889000"/>
            </a:xfrm>
            <a:prstGeom prst="rect">
              <a:avLst/>
            </a:prstGeom>
            <a:noFill/>
          </p:spPr>
          <p:txBody>
            <a:bodyPr vertOverflow="overflow" vert="horz" wrap="none" rtlCol="0" anchor="t" anchorCtr="0">
              <a:noAutofit/>
            </a:bodyPr>
            <a:lstStyle/>
            <a:p>
              <a:pPr algn="l"/>
              <a:r>
                <a:rPr lang="en-US" altLang="zh-TW" sz="5200" b="1" dirty="0">
                  <a:solidFill>
                    <a:srgbClr val="186AFF"/>
                  </a:solidFill>
                  <a:latin typeface="Microsoft JhengHei"/>
                  <a:ea typeface="Microsoft JhengHei"/>
                </a:rPr>
                <a:t>05</a:t>
              </a:r>
              <a:endParaRPr lang="zh-TW" altLang="en-US" sz="5200" b="1" dirty="0">
                <a:solidFill>
                  <a:srgbClr val="186AFF"/>
                </a:solidFill>
                <a:latin typeface="Microsoft JhengHei"/>
                <a:ea typeface="Microsoft JhengHei"/>
              </a:endParaRPr>
            </a:p>
          </p:txBody>
        </p:sp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999C0307-6A13-4BFD-9007-93698FFC5188}"/>
                </a:ext>
              </a:extLst>
            </p:cNvPr>
            <p:cNvSpPr txBox="1"/>
            <p:nvPr/>
          </p:nvSpPr>
          <p:spPr>
            <a:xfrm>
              <a:off x="9321800" y="4377222"/>
              <a:ext cx="2717800" cy="660400"/>
            </a:xfrm>
            <a:prstGeom prst="rect">
              <a:avLst/>
            </a:prstGeom>
            <a:noFill/>
          </p:spPr>
          <p:txBody>
            <a:bodyPr vertOverflow="overflow" vert="horz" wrap="square" rtlCol="0" anchor="ctr" anchorCtr="0">
              <a:noAutofit/>
            </a:bodyPr>
            <a:lstStyle/>
            <a:p>
              <a:pPr algn="l"/>
              <a:r>
                <a:rPr lang="zh-TW" altLang="en-US" b="1" dirty="0">
                  <a:solidFill>
                    <a:srgbClr val="262626"/>
                  </a:solidFill>
                  <a:latin typeface="Microsoft JhengHei"/>
                  <a:ea typeface="Microsoft JhengHei"/>
                </a:rPr>
                <a:t>結語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7405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0D70098A-0BD5-4954-9341-9CDD9B6500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A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EB2B16A-1104-4D46-9E73-92F8871CE697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957D63A-B90F-4160-A484-11BEBE025978}"/>
              </a:ext>
            </a:extLst>
          </p:cNvPr>
          <p:cNvSpPr/>
          <p:nvPr/>
        </p:nvSpPr>
        <p:spPr>
          <a:xfrm>
            <a:off x="0" y="6578600"/>
            <a:ext cx="4064000" cy="2794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2A84852-128D-4357-9315-194AB20EF7CB}"/>
              </a:ext>
            </a:extLst>
          </p:cNvPr>
          <p:cNvSpPr/>
          <p:nvPr/>
        </p:nvSpPr>
        <p:spPr>
          <a:xfrm>
            <a:off x="4064000" y="6578600"/>
            <a:ext cx="4064000" cy="2794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BAE1D0C-0E60-4958-ACC4-82CA5A1312B7}"/>
              </a:ext>
            </a:extLst>
          </p:cNvPr>
          <p:cNvSpPr/>
          <p:nvPr/>
        </p:nvSpPr>
        <p:spPr>
          <a:xfrm>
            <a:off x="8128000" y="6578600"/>
            <a:ext cx="4064000" cy="279400"/>
          </a:xfrm>
          <a:prstGeom prst="rect">
            <a:avLst/>
          </a:prstGeom>
          <a:solidFill>
            <a:srgbClr val="0843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9C1AC01E-68D3-4399-972C-FE4EF7756C38}"/>
              </a:ext>
            </a:extLst>
          </p:cNvPr>
          <p:cNvSpPr txBox="1"/>
          <p:nvPr/>
        </p:nvSpPr>
        <p:spPr>
          <a:xfrm>
            <a:off x="1016000" y="282375"/>
            <a:ext cx="5080000" cy="635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TW" altLang="en-US" sz="3200" b="1" dirty="0">
                <a:solidFill>
                  <a:srgbClr val="FFFFFF"/>
                </a:solidFill>
                <a:latin typeface="Microsoft JhengHei"/>
                <a:ea typeface="Microsoft JhengHei"/>
              </a:rPr>
              <a:t>痛點回顧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DCDCBD5-4B45-4A6B-BA3D-35EBDB6997DA}"/>
              </a:ext>
            </a:extLst>
          </p:cNvPr>
          <p:cNvSpPr/>
          <p:nvPr/>
        </p:nvSpPr>
        <p:spPr>
          <a:xfrm>
            <a:off x="381000" y="889000"/>
            <a:ext cx="2540000" cy="38100"/>
          </a:xfrm>
          <a:prstGeom prst="rect">
            <a:avLst/>
          </a:prstGeom>
          <a:solidFill>
            <a:srgbClr val="FFD6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A82B7C82-DBFE-4D98-85F2-8704B30F713D}"/>
              </a:ext>
            </a:extLst>
          </p:cNvPr>
          <p:cNvSpPr txBox="1"/>
          <p:nvPr/>
        </p:nvSpPr>
        <p:spPr>
          <a:xfrm>
            <a:off x="381000" y="1016000"/>
            <a:ext cx="8890000" cy="355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zh-TW" altLang="en-US" sz="1600" b="1" dirty="0">
                <a:solidFill>
                  <a:srgbClr val="82DFE8"/>
                </a:solidFill>
                <a:latin typeface="Microsoft JhengHei"/>
                <a:ea typeface="Microsoft JhengHei"/>
              </a:rPr>
              <a:t>為什麼模型很聰明，但還是常常出錯？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0D332FF-4C5B-48CE-8A88-592BF8377A4B}"/>
              </a:ext>
            </a:extLst>
          </p:cNvPr>
          <p:cNvSpPr/>
          <p:nvPr/>
        </p:nvSpPr>
        <p:spPr>
          <a:xfrm>
            <a:off x="355600" y="1422400"/>
            <a:ext cx="11480800" cy="1524000"/>
          </a:xfrm>
          <a:prstGeom prst="rect">
            <a:avLst/>
          </a:prstGeom>
          <a:solidFill>
            <a:srgbClr val="071E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A8D0827-E3B8-4E99-B2F6-60B807757ECC}"/>
              </a:ext>
            </a:extLst>
          </p:cNvPr>
          <p:cNvSpPr/>
          <p:nvPr/>
        </p:nvSpPr>
        <p:spPr>
          <a:xfrm>
            <a:off x="355600" y="1422400"/>
            <a:ext cx="76200" cy="15240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grpSp>
        <p:nvGrpSpPr>
          <p:cNvPr id="61" name="群組 60">
            <a:extLst>
              <a:ext uri="{FF2B5EF4-FFF2-40B4-BE49-F238E27FC236}">
                <a16:creationId xmlns:a16="http://schemas.microsoft.com/office/drawing/2014/main" id="{EAE21511-EFA7-4AB3-8BE9-0148733C555F}"/>
              </a:ext>
            </a:extLst>
          </p:cNvPr>
          <p:cNvGrpSpPr/>
          <p:nvPr/>
        </p:nvGrpSpPr>
        <p:grpSpPr>
          <a:xfrm>
            <a:off x="431800" y="1616075"/>
            <a:ext cx="2057400" cy="304800"/>
            <a:chOff x="533400" y="1600200"/>
            <a:chExt cx="2667000" cy="330200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13FDBC4F-7C94-4E54-AD08-17E8A2B62A80}"/>
                </a:ext>
              </a:extLst>
            </p:cNvPr>
            <p:cNvSpPr/>
            <p:nvPr/>
          </p:nvSpPr>
          <p:spPr>
            <a:xfrm>
              <a:off x="533400" y="1600200"/>
              <a:ext cx="2667000" cy="330200"/>
            </a:xfrm>
            <a:prstGeom prst="rect">
              <a:avLst/>
            </a:prstGeom>
            <a:solidFill>
              <a:srgbClr val="186A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 sz="1600"/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2385CC57-04D3-45ED-9AD3-51A1CAFAF9A3}"/>
                </a:ext>
              </a:extLst>
            </p:cNvPr>
            <p:cNvSpPr txBox="1"/>
            <p:nvPr/>
          </p:nvSpPr>
          <p:spPr>
            <a:xfrm>
              <a:off x="533400" y="1600200"/>
              <a:ext cx="1720516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en-US" altLang="zh-TW" sz="1600" b="1" dirty="0">
                  <a:solidFill>
                    <a:srgbClr val="FFFFFF"/>
                  </a:solidFill>
                  <a:latin typeface="Microsoft JhengHei"/>
                  <a:ea typeface="Microsoft JhengHei"/>
                </a:rPr>
                <a:t>SITUATION  </a:t>
              </a:r>
              <a:r>
                <a:rPr lang="zh-TW" altLang="en-US" sz="1600" b="1" dirty="0">
                  <a:solidFill>
                    <a:srgbClr val="FFFFFF"/>
                  </a:solidFill>
                  <a:latin typeface="Microsoft JhengHei"/>
                  <a:ea typeface="Microsoft JhengHei"/>
                </a:rPr>
                <a:t>現況</a:t>
              </a:r>
            </a:p>
          </p:txBody>
        </p:sp>
      </p:grp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086E32D3-D81B-4F96-A19B-FA549B32B297}"/>
              </a:ext>
            </a:extLst>
          </p:cNvPr>
          <p:cNvSpPr txBox="1"/>
          <p:nvPr/>
        </p:nvSpPr>
        <p:spPr>
          <a:xfrm>
            <a:off x="939800" y="2197100"/>
            <a:ext cx="3302000" cy="736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TW" altLang="en-US" sz="2000" b="1" dirty="0">
                <a:solidFill>
                  <a:srgbClr val="FFFFFF"/>
                </a:solidFill>
                <a:latin typeface="Microsoft JhengHei"/>
                <a:ea typeface="Microsoft JhengHei"/>
              </a:rPr>
              <a:t>輸出品質起伏不定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F4FF04D-DC74-4E8E-BC4D-6FE48D658477}"/>
              </a:ext>
            </a:extLst>
          </p:cNvPr>
          <p:cNvSpPr/>
          <p:nvPr/>
        </p:nvSpPr>
        <p:spPr>
          <a:xfrm>
            <a:off x="4064000" y="1600200"/>
            <a:ext cx="25400" cy="11684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8A590294-8BCE-4B4F-8DBF-8028909629E1}"/>
              </a:ext>
            </a:extLst>
          </p:cNvPr>
          <p:cNvSpPr txBox="1"/>
          <p:nvPr/>
        </p:nvSpPr>
        <p:spPr>
          <a:xfrm>
            <a:off x="4241800" y="1549400"/>
            <a:ext cx="7366000" cy="1270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就算使用最好的大語言模型，每次 </a:t>
            </a:r>
            <a:r>
              <a:rPr lang="en-US" altLang="zh-TW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SQL </a:t>
            </a:r>
            <a:r>
              <a:rPr lang="zh-TW" altLang="en-US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語法或 </a:t>
            </a:r>
            <a:r>
              <a:rPr lang="en-US" altLang="zh-TW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Python </a:t>
            </a:r>
            <a:r>
              <a:rPr lang="zh-TW" altLang="en-US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風格審查的結果，仍因當下 </a:t>
            </a:r>
            <a:r>
              <a:rPr lang="en-US" altLang="zh-TW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Prompt </a:t>
            </a:r>
            <a:r>
              <a:rPr lang="zh-TW" altLang="en-US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品質而大幅波動。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69EC17C-D5E2-4FB8-B6D9-3019CD2F653A}"/>
              </a:ext>
            </a:extLst>
          </p:cNvPr>
          <p:cNvSpPr/>
          <p:nvPr/>
        </p:nvSpPr>
        <p:spPr>
          <a:xfrm>
            <a:off x="355600" y="3048000"/>
            <a:ext cx="11480800" cy="1524000"/>
          </a:xfrm>
          <a:prstGeom prst="rect">
            <a:avLst/>
          </a:prstGeom>
          <a:solidFill>
            <a:srgbClr val="071E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27B1EEA-9556-47CB-A5DB-A0C00A552A14}"/>
              </a:ext>
            </a:extLst>
          </p:cNvPr>
          <p:cNvSpPr/>
          <p:nvPr/>
        </p:nvSpPr>
        <p:spPr>
          <a:xfrm>
            <a:off x="355600" y="3048000"/>
            <a:ext cx="76200" cy="15240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BF093DF5-A7B2-0009-D40B-8A81A4B394D5}"/>
              </a:ext>
            </a:extLst>
          </p:cNvPr>
          <p:cNvGrpSpPr/>
          <p:nvPr/>
        </p:nvGrpSpPr>
        <p:grpSpPr>
          <a:xfrm>
            <a:off x="431800" y="3235325"/>
            <a:ext cx="2057400" cy="330200"/>
            <a:chOff x="533400" y="3225800"/>
            <a:chExt cx="2667000" cy="330200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8BD2CEFE-99C2-4F64-9E87-37229DB7F059}"/>
                </a:ext>
              </a:extLst>
            </p:cNvPr>
            <p:cNvSpPr/>
            <p:nvPr/>
          </p:nvSpPr>
          <p:spPr>
            <a:xfrm>
              <a:off x="533400" y="3225800"/>
              <a:ext cx="2667000" cy="330200"/>
            </a:xfrm>
            <a:prstGeom prst="rect">
              <a:avLst/>
            </a:prstGeom>
            <a:solidFill>
              <a:srgbClr val="36CBD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 sz="2400"/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F090AFA1-F958-41F3-B118-0254E84C9351}"/>
                </a:ext>
              </a:extLst>
            </p:cNvPr>
            <p:cNvSpPr txBox="1"/>
            <p:nvPr/>
          </p:nvSpPr>
          <p:spPr>
            <a:xfrm>
              <a:off x="533400" y="3225800"/>
              <a:ext cx="1834415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en-US" altLang="zh-TW" sz="1600" b="1" dirty="0">
                  <a:solidFill>
                    <a:srgbClr val="FFFFFF"/>
                  </a:solidFill>
                  <a:latin typeface="Microsoft JhengHei"/>
                  <a:ea typeface="Microsoft JhengHei"/>
                </a:rPr>
                <a:t>ROOT CAUSE  </a:t>
              </a:r>
              <a:r>
                <a:rPr lang="zh-TW" altLang="en-US" sz="1600" b="1" dirty="0">
                  <a:solidFill>
                    <a:srgbClr val="FFFFFF"/>
                  </a:solidFill>
                  <a:latin typeface="Microsoft JhengHei"/>
                  <a:ea typeface="Microsoft JhengHei"/>
                </a:rPr>
                <a:t>原因</a:t>
              </a:r>
            </a:p>
          </p:txBody>
        </p:sp>
      </p:grp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19601450-ADE9-4E4A-AC50-DD4DCFFE3C02}"/>
              </a:ext>
            </a:extLst>
          </p:cNvPr>
          <p:cNvSpPr txBox="1"/>
          <p:nvPr/>
        </p:nvSpPr>
        <p:spPr>
          <a:xfrm>
            <a:off x="814332" y="3813075"/>
            <a:ext cx="3302000" cy="736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zh-TW" sz="2000" b="1" dirty="0">
                <a:solidFill>
                  <a:srgbClr val="FFFFFF"/>
                </a:solidFill>
                <a:latin typeface="Microsoft JhengHei"/>
                <a:ea typeface="Microsoft JhengHei"/>
              </a:rPr>
              <a:t>AI </a:t>
            </a:r>
            <a:r>
              <a:rPr lang="zh-TW" altLang="en-US" sz="2000" b="1" dirty="0">
                <a:solidFill>
                  <a:srgbClr val="FFFFFF"/>
                </a:solidFill>
                <a:latin typeface="Microsoft JhengHei"/>
                <a:ea typeface="Microsoft JhengHei"/>
              </a:rPr>
              <a:t>缺乏公司內部規範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A0C7B91-8527-464D-85D8-F919EBDD0306}"/>
              </a:ext>
            </a:extLst>
          </p:cNvPr>
          <p:cNvSpPr/>
          <p:nvPr/>
        </p:nvSpPr>
        <p:spPr>
          <a:xfrm>
            <a:off x="4064000" y="3225800"/>
            <a:ext cx="25400" cy="11684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9CE2A878-32DF-4901-A5A2-620A5740196B}"/>
              </a:ext>
            </a:extLst>
          </p:cNvPr>
          <p:cNvSpPr txBox="1"/>
          <p:nvPr/>
        </p:nvSpPr>
        <p:spPr>
          <a:xfrm>
            <a:off x="4241800" y="3175000"/>
            <a:ext cx="7366000" cy="1270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AI </a:t>
            </a:r>
            <a:r>
              <a:rPr lang="zh-TW" altLang="en-US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就像「</a:t>
            </a:r>
            <a:r>
              <a:rPr lang="en-US" altLang="zh-TW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IQ 300 </a:t>
            </a:r>
            <a:r>
              <a:rPr lang="zh-TW" altLang="en-US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但沒看過我們 </a:t>
            </a:r>
            <a:r>
              <a:rPr lang="en-US" altLang="zh-TW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codebase </a:t>
            </a:r>
            <a:r>
              <a:rPr lang="zh-TW" altLang="en-US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的天才」</a:t>
            </a:r>
            <a:r>
              <a:rPr lang="en-US" altLang="zh-TW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——</a:t>
            </a:r>
            <a:r>
              <a:rPr lang="zh-TW" altLang="en-US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沒有內部規範就只能靠猜，進而產生幻覺或不合規的建議。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941F094-B911-4760-B6B4-087AB6CF0494}"/>
              </a:ext>
            </a:extLst>
          </p:cNvPr>
          <p:cNvSpPr/>
          <p:nvPr/>
        </p:nvSpPr>
        <p:spPr>
          <a:xfrm>
            <a:off x="355600" y="4673600"/>
            <a:ext cx="11480800" cy="1524000"/>
          </a:xfrm>
          <a:prstGeom prst="rect">
            <a:avLst/>
          </a:prstGeom>
          <a:solidFill>
            <a:srgbClr val="071E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31D975A-3406-439E-987F-5CC9EBCBFE74}"/>
              </a:ext>
            </a:extLst>
          </p:cNvPr>
          <p:cNvSpPr/>
          <p:nvPr/>
        </p:nvSpPr>
        <p:spPr>
          <a:xfrm>
            <a:off x="355600" y="4673600"/>
            <a:ext cx="76200" cy="1524000"/>
          </a:xfrm>
          <a:prstGeom prst="rect">
            <a:avLst/>
          </a:prstGeom>
          <a:solidFill>
            <a:srgbClr val="FFD600">
              <a:alpha val="79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2AF97024-C4F5-0CC2-242F-FDFE02148651}"/>
              </a:ext>
            </a:extLst>
          </p:cNvPr>
          <p:cNvGrpSpPr/>
          <p:nvPr/>
        </p:nvGrpSpPr>
        <p:grpSpPr>
          <a:xfrm>
            <a:off x="431800" y="4867075"/>
            <a:ext cx="2057400" cy="330200"/>
            <a:chOff x="533400" y="4851400"/>
            <a:chExt cx="2057400" cy="330200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F6F70FD7-3823-470B-9134-B8FA025CCFC3}"/>
                </a:ext>
              </a:extLst>
            </p:cNvPr>
            <p:cNvSpPr/>
            <p:nvPr/>
          </p:nvSpPr>
          <p:spPr>
            <a:xfrm>
              <a:off x="533400" y="4851400"/>
              <a:ext cx="2057400" cy="330200"/>
            </a:xfrm>
            <a:prstGeom prst="rect">
              <a:avLst/>
            </a:prstGeom>
            <a:solidFill>
              <a:srgbClr val="FFD600">
                <a:alpha val="79000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 dirty="0"/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7BAB3C09-3789-421E-AFA7-767DD42C8D87}"/>
                </a:ext>
              </a:extLst>
            </p:cNvPr>
            <p:cNvSpPr txBox="1"/>
            <p:nvPr/>
          </p:nvSpPr>
          <p:spPr>
            <a:xfrm>
              <a:off x="533400" y="4851400"/>
              <a:ext cx="177165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en-US" altLang="zh-TW" sz="1600" b="1" dirty="0">
                  <a:solidFill>
                    <a:schemeClr val="bg1"/>
                  </a:solidFill>
                  <a:latin typeface="Microsoft JhengHei"/>
                  <a:ea typeface="Microsoft JhengHei"/>
                </a:rPr>
                <a:t>SOLUTION  </a:t>
              </a:r>
              <a:r>
                <a:rPr lang="zh-TW" altLang="en-US" sz="1600" b="1" dirty="0">
                  <a:solidFill>
                    <a:schemeClr val="bg1"/>
                  </a:solidFill>
                  <a:latin typeface="Microsoft JhengHei"/>
                  <a:ea typeface="Microsoft JhengHei"/>
                </a:rPr>
                <a:t>解法</a:t>
              </a:r>
            </a:p>
          </p:txBody>
        </p:sp>
      </p:grp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ACB1DC4C-9E9D-421D-BFDA-271F5422C05D}"/>
              </a:ext>
            </a:extLst>
          </p:cNvPr>
          <p:cNvSpPr txBox="1"/>
          <p:nvPr/>
        </p:nvSpPr>
        <p:spPr>
          <a:xfrm>
            <a:off x="552450" y="5435600"/>
            <a:ext cx="3302000" cy="736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TW" altLang="en-US" sz="2000" b="1" dirty="0">
                <a:solidFill>
                  <a:srgbClr val="FFFFFF"/>
                </a:solidFill>
                <a:latin typeface="Microsoft JhengHei"/>
                <a:ea typeface="Microsoft JhengHei"/>
              </a:rPr>
              <a:t>打造「資深審核員」機制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2B41291-CD60-4323-A434-667D8894B86D}"/>
              </a:ext>
            </a:extLst>
          </p:cNvPr>
          <p:cNvSpPr/>
          <p:nvPr/>
        </p:nvSpPr>
        <p:spPr>
          <a:xfrm>
            <a:off x="4064000" y="4851400"/>
            <a:ext cx="25400" cy="11684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F2CBB52F-E07D-445A-A18B-720D25A518AD}"/>
              </a:ext>
            </a:extLst>
          </p:cNvPr>
          <p:cNvSpPr txBox="1"/>
          <p:nvPr/>
        </p:nvSpPr>
        <p:spPr>
          <a:xfrm>
            <a:off x="4241800" y="4800600"/>
            <a:ext cx="7366000" cy="1270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我們需要的不是更聰明的天才，而是嚴格遵守 </a:t>
            </a:r>
            <a:r>
              <a:rPr lang="en-US" altLang="zh-TW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SOP </a:t>
            </a:r>
            <a:r>
              <a:rPr lang="zh-TW" altLang="en-US" sz="1600" b="1" dirty="0">
                <a:solidFill>
                  <a:srgbClr val="B2D9FC"/>
                </a:solidFill>
                <a:latin typeface="Microsoft JhengHei"/>
                <a:ea typeface="Microsoft JhengHei"/>
              </a:rPr>
              <a:t>的審核員</a:t>
            </a: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58E70556-DBE1-2AD3-D36B-7C6C0F482DC7}"/>
              </a:ext>
            </a:extLst>
          </p:cNvPr>
          <p:cNvSpPr txBox="1"/>
          <p:nvPr/>
        </p:nvSpPr>
        <p:spPr>
          <a:xfrm>
            <a:off x="325576" y="252412"/>
            <a:ext cx="969323" cy="446088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altLang="zh-TW" sz="4000" b="1" dirty="0">
                <a:solidFill>
                  <a:srgbClr val="186AFF"/>
                </a:solidFill>
                <a:latin typeface="Microsoft JhengHei"/>
                <a:ea typeface="Microsoft JhengHei"/>
              </a:rPr>
              <a:t>01</a:t>
            </a:r>
            <a:endParaRPr lang="zh-TW" altLang="en-US" sz="4000" b="1" dirty="0">
              <a:solidFill>
                <a:srgbClr val="186AFF"/>
              </a:solidFill>
              <a:latin typeface="Microsoft Jheng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69426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 86">
            <a:extLst>
              <a:ext uri="{FF2B5EF4-FFF2-40B4-BE49-F238E27FC236}">
                <a16:creationId xmlns:a16="http://schemas.microsoft.com/office/drawing/2014/main" id="{68407E9D-7B34-4473-A677-D36A176B3F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D0D27866-0E97-45EB-A62C-19AC9929215C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DEB2201C-8095-4920-8B4E-B3B65DC7D65D}"/>
              </a:ext>
            </a:extLst>
          </p:cNvPr>
          <p:cNvSpPr/>
          <p:nvPr/>
        </p:nvSpPr>
        <p:spPr>
          <a:xfrm>
            <a:off x="0" y="6578600"/>
            <a:ext cx="4064000" cy="2794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A323018-C3CE-4416-A947-CF00FF920BD2}"/>
              </a:ext>
            </a:extLst>
          </p:cNvPr>
          <p:cNvSpPr/>
          <p:nvPr/>
        </p:nvSpPr>
        <p:spPr>
          <a:xfrm>
            <a:off x="4064000" y="6578600"/>
            <a:ext cx="4064000" cy="2794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4B7342C2-EF52-4CE9-B71F-41B669C0B53F}"/>
              </a:ext>
            </a:extLst>
          </p:cNvPr>
          <p:cNvSpPr/>
          <p:nvPr/>
        </p:nvSpPr>
        <p:spPr>
          <a:xfrm>
            <a:off x="8128000" y="6578600"/>
            <a:ext cx="4064000" cy="279400"/>
          </a:xfrm>
          <a:prstGeom prst="rect">
            <a:avLst/>
          </a:prstGeom>
          <a:solidFill>
            <a:srgbClr val="0843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FC7789AB-5022-4367-B41E-9A29FC8693B1}"/>
              </a:ext>
            </a:extLst>
          </p:cNvPr>
          <p:cNvSpPr/>
          <p:nvPr/>
        </p:nvSpPr>
        <p:spPr>
          <a:xfrm>
            <a:off x="0" y="63500"/>
            <a:ext cx="3937000" cy="6515100"/>
          </a:xfrm>
          <a:prstGeom prst="rect">
            <a:avLst/>
          </a:prstGeom>
          <a:solidFill>
            <a:srgbClr val="041A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26BD1ED1-A942-4484-A1B5-2AD6576B39C4}"/>
              </a:ext>
            </a:extLst>
          </p:cNvPr>
          <p:cNvSpPr/>
          <p:nvPr/>
        </p:nvSpPr>
        <p:spPr>
          <a:xfrm>
            <a:off x="0" y="63500"/>
            <a:ext cx="76200" cy="65151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7EC92574-F7EB-4D3F-AD4C-E91BE6E4A5D7}"/>
              </a:ext>
            </a:extLst>
          </p:cNvPr>
          <p:cNvSpPr txBox="1"/>
          <p:nvPr/>
        </p:nvSpPr>
        <p:spPr>
          <a:xfrm>
            <a:off x="129273" y="1004002"/>
            <a:ext cx="3403600" cy="635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altLang="zh-TW" sz="2800" b="1" dirty="0">
                <a:solidFill>
                  <a:srgbClr val="FFFFFF"/>
                </a:solidFill>
                <a:latin typeface="Microsoft JhengHei"/>
                <a:ea typeface="Microsoft JhengHei"/>
              </a:rPr>
              <a:t>Skills</a:t>
            </a:r>
            <a:r>
              <a:rPr lang="zh-TW" altLang="en-US" sz="2800" b="1" dirty="0">
                <a:solidFill>
                  <a:srgbClr val="FFFFFF"/>
                </a:solidFill>
                <a:latin typeface="Microsoft JhengHei"/>
                <a:ea typeface="Microsoft JhengHei"/>
              </a:rPr>
              <a:t>怎麼運作？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395FA263-C946-4A5C-BB99-FF1A52E7DF19}"/>
              </a:ext>
            </a:extLst>
          </p:cNvPr>
          <p:cNvSpPr/>
          <p:nvPr/>
        </p:nvSpPr>
        <p:spPr>
          <a:xfrm>
            <a:off x="255136" y="1548197"/>
            <a:ext cx="2461527" cy="52070"/>
          </a:xfrm>
          <a:prstGeom prst="rect">
            <a:avLst/>
          </a:prstGeom>
          <a:solidFill>
            <a:srgbClr val="FFD6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BEF7F0F6-319A-4260-97E7-69584F38A621}"/>
              </a:ext>
            </a:extLst>
          </p:cNvPr>
          <p:cNvSpPr txBox="1"/>
          <p:nvPr/>
        </p:nvSpPr>
        <p:spPr>
          <a:xfrm>
            <a:off x="177800" y="1892651"/>
            <a:ext cx="3403600" cy="381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zh-TW" altLang="en-US" sz="1500" b="1" dirty="0">
                <a:solidFill>
                  <a:srgbClr val="82DFE8"/>
                </a:solidFill>
                <a:latin typeface="Microsoft JhengHei"/>
                <a:ea typeface="Microsoft JhengHei"/>
              </a:rPr>
              <a:t>不用每次重貼 </a:t>
            </a:r>
            <a:r>
              <a:rPr lang="en-US" altLang="zh-TW" sz="1500" b="1" dirty="0">
                <a:solidFill>
                  <a:srgbClr val="82DFE8"/>
                </a:solidFill>
                <a:latin typeface="Microsoft JhengHei"/>
                <a:ea typeface="Microsoft JhengHei"/>
              </a:rPr>
              <a:t>Prompt</a:t>
            </a:r>
            <a:endParaRPr lang="zh-TW" altLang="en-US" sz="1500" b="1" dirty="0">
              <a:solidFill>
                <a:srgbClr val="82DFE8"/>
              </a:solidFill>
              <a:latin typeface="Microsoft JhengHei"/>
              <a:ea typeface="Microsoft JhengHei"/>
            </a:endParaRPr>
          </a:p>
        </p:txBody>
      </p:sp>
      <p:grpSp>
        <p:nvGrpSpPr>
          <p:cNvPr id="140" name="群組 139">
            <a:extLst>
              <a:ext uri="{FF2B5EF4-FFF2-40B4-BE49-F238E27FC236}">
                <a16:creationId xmlns:a16="http://schemas.microsoft.com/office/drawing/2014/main" id="{047481F7-6CC4-103C-54CA-BBB6DBE2BE37}"/>
              </a:ext>
            </a:extLst>
          </p:cNvPr>
          <p:cNvGrpSpPr/>
          <p:nvPr/>
        </p:nvGrpSpPr>
        <p:grpSpPr>
          <a:xfrm>
            <a:off x="255136" y="2679700"/>
            <a:ext cx="3403601" cy="1498600"/>
            <a:chOff x="279399" y="3022600"/>
            <a:chExt cx="3403601" cy="1498600"/>
          </a:xfrm>
        </p:grpSpPr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4E99B802-A3E6-4CA4-85A0-A6DB8D7C1630}"/>
                </a:ext>
              </a:extLst>
            </p:cNvPr>
            <p:cNvSpPr/>
            <p:nvPr/>
          </p:nvSpPr>
          <p:spPr>
            <a:xfrm>
              <a:off x="279400" y="3022600"/>
              <a:ext cx="3403600" cy="1498600"/>
            </a:xfrm>
            <a:prstGeom prst="rect">
              <a:avLst/>
            </a:prstGeom>
            <a:solidFill>
              <a:srgbClr val="0A2875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 sz="2400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D4CFC069-36E3-4173-83F3-C6979014F438}"/>
                </a:ext>
              </a:extLst>
            </p:cNvPr>
            <p:cNvSpPr/>
            <p:nvPr/>
          </p:nvSpPr>
          <p:spPr>
            <a:xfrm>
              <a:off x="279399" y="3022600"/>
              <a:ext cx="73927" cy="1498600"/>
            </a:xfrm>
            <a:prstGeom prst="rect">
              <a:avLst/>
            </a:prstGeom>
            <a:solidFill>
              <a:srgbClr val="F7580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 dirty="0"/>
            </a:p>
          </p:txBody>
        </p:sp>
        <p:sp>
          <p:nvSpPr>
            <p:cNvPr id="100" name="文字方塊 99">
              <a:extLst>
                <a:ext uri="{FF2B5EF4-FFF2-40B4-BE49-F238E27FC236}">
                  <a16:creationId xmlns:a16="http://schemas.microsoft.com/office/drawing/2014/main" id="{18C0F1D7-A457-4A18-ABF6-275C65F761AB}"/>
                </a:ext>
              </a:extLst>
            </p:cNvPr>
            <p:cNvSpPr txBox="1"/>
            <p:nvPr/>
          </p:nvSpPr>
          <p:spPr>
            <a:xfrm>
              <a:off x="391427" y="3479867"/>
              <a:ext cx="3175000" cy="8636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TW" sz="1400" b="1" dirty="0">
                  <a:solidFill>
                    <a:srgbClr val="B2D9FC"/>
                  </a:solidFill>
                  <a:latin typeface="Microsoft JhengHei"/>
                  <a:ea typeface="Microsoft JhengHei"/>
                </a:rPr>
                <a:t>- </a:t>
              </a:r>
              <a:r>
                <a:rPr lang="zh-TW" altLang="en-US" sz="1400" b="1" dirty="0">
                  <a:solidFill>
                    <a:srgbClr val="B2D9FC"/>
                  </a:solidFill>
                  <a:latin typeface="Microsoft JhengHei"/>
                  <a:ea typeface="Microsoft JhengHei"/>
                </a:rPr>
                <a:t>每次重貼一大串規則
</a:t>
              </a:r>
              <a:r>
                <a:rPr lang="en-US" altLang="zh-TW" sz="1400" b="1" dirty="0">
                  <a:solidFill>
                    <a:srgbClr val="B2D9FC"/>
                  </a:solidFill>
                  <a:latin typeface="Microsoft JhengHei"/>
                  <a:ea typeface="Microsoft JhengHei"/>
                </a:rPr>
                <a:t>- AI </a:t>
              </a:r>
              <a:r>
                <a:rPr lang="zh-TW" altLang="en-US" sz="1400" b="1" dirty="0">
                  <a:solidFill>
                    <a:srgbClr val="B2D9FC"/>
                  </a:solidFill>
                  <a:latin typeface="Microsoft JhengHei"/>
                  <a:ea typeface="Microsoft JhengHei"/>
                </a:rPr>
                <a:t>容易遺忘，浪費 </a:t>
              </a:r>
              <a:r>
                <a:rPr lang="en-US" altLang="zh-TW" sz="1400" b="1" dirty="0">
                  <a:solidFill>
                    <a:srgbClr val="B2D9FC"/>
                  </a:solidFill>
                  <a:latin typeface="Microsoft JhengHei"/>
                  <a:ea typeface="Microsoft JhengHei"/>
                </a:rPr>
                <a:t>Token
- Prompt </a:t>
              </a:r>
              <a:r>
                <a:rPr lang="zh-TW" altLang="en-US" sz="1400" b="1" dirty="0">
                  <a:solidFill>
                    <a:srgbClr val="B2D9FC"/>
                  </a:solidFill>
                  <a:latin typeface="Microsoft JhengHei"/>
                  <a:ea typeface="Microsoft JhengHei"/>
                </a:rPr>
                <a:t>品質不穩定</a:t>
              </a:r>
            </a:p>
          </p:txBody>
        </p:sp>
      </p:grpSp>
      <p:grpSp>
        <p:nvGrpSpPr>
          <p:cNvPr id="141" name="群組 140">
            <a:extLst>
              <a:ext uri="{FF2B5EF4-FFF2-40B4-BE49-F238E27FC236}">
                <a16:creationId xmlns:a16="http://schemas.microsoft.com/office/drawing/2014/main" id="{241F5BE6-4065-D907-2EDE-245DD7057594}"/>
              </a:ext>
            </a:extLst>
          </p:cNvPr>
          <p:cNvGrpSpPr/>
          <p:nvPr/>
        </p:nvGrpSpPr>
        <p:grpSpPr>
          <a:xfrm>
            <a:off x="228600" y="4762500"/>
            <a:ext cx="3403600" cy="381000"/>
            <a:chOff x="279400" y="4495800"/>
            <a:chExt cx="3403600" cy="381000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FFB9624B-83B2-4057-A1D3-AA5F115BF4C0}"/>
                </a:ext>
              </a:extLst>
            </p:cNvPr>
            <p:cNvSpPr/>
            <p:nvPr/>
          </p:nvSpPr>
          <p:spPr>
            <a:xfrm>
              <a:off x="279400" y="4495800"/>
              <a:ext cx="3403600" cy="381000"/>
            </a:xfrm>
            <a:prstGeom prst="rect">
              <a:avLst/>
            </a:prstGeom>
            <a:solidFill>
              <a:srgbClr val="186A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/>
            </a:p>
          </p:txBody>
        </p:sp>
        <p:sp>
          <p:nvSpPr>
            <p:cNvPr id="102" name="文字方塊 101">
              <a:extLst>
                <a:ext uri="{FF2B5EF4-FFF2-40B4-BE49-F238E27FC236}">
                  <a16:creationId xmlns:a16="http://schemas.microsoft.com/office/drawing/2014/main" id="{82DF51F6-6559-4BDC-A74F-0E73587C6258}"/>
                </a:ext>
              </a:extLst>
            </p:cNvPr>
            <p:cNvSpPr txBox="1"/>
            <p:nvPr/>
          </p:nvSpPr>
          <p:spPr>
            <a:xfrm>
              <a:off x="279400" y="4495800"/>
              <a:ext cx="2540000" cy="3810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en-US" altLang="zh-TW" sz="1600" b="1" dirty="0">
                  <a:solidFill>
                    <a:srgbClr val="FFFFFF"/>
                  </a:solidFill>
                  <a:latin typeface="Microsoft JhengHei"/>
                  <a:ea typeface="Microsoft JhengHei"/>
                </a:rPr>
                <a:t>Skills </a:t>
              </a:r>
              <a:r>
                <a:rPr lang="zh-TW" altLang="en-US" sz="1600" b="1" dirty="0">
                  <a:solidFill>
                    <a:srgbClr val="FFFFFF"/>
                  </a:solidFill>
                  <a:latin typeface="Microsoft JhengHei"/>
                  <a:ea typeface="Microsoft JhengHei"/>
                </a:rPr>
                <a:t>採「按需求載入」機制</a:t>
              </a:r>
            </a:p>
          </p:txBody>
        </p:sp>
      </p:grpSp>
      <p:sp>
        <p:nvSpPr>
          <p:cNvPr id="104" name="矩形 103">
            <a:extLst>
              <a:ext uri="{FF2B5EF4-FFF2-40B4-BE49-F238E27FC236}">
                <a16:creationId xmlns:a16="http://schemas.microsoft.com/office/drawing/2014/main" id="{219B03B8-2987-4636-9466-46DB89B17E1C}"/>
              </a:ext>
            </a:extLst>
          </p:cNvPr>
          <p:cNvSpPr/>
          <p:nvPr/>
        </p:nvSpPr>
        <p:spPr>
          <a:xfrm>
            <a:off x="4038600" y="63500"/>
            <a:ext cx="8102600" cy="2095500"/>
          </a:xfrm>
          <a:prstGeom prst="rect">
            <a:avLst/>
          </a:prstGeom>
          <a:solidFill>
            <a:srgbClr val="EEF5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9833E1F4-2BD6-44E7-B96B-41A8957483EE}"/>
              </a:ext>
            </a:extLst>
          </p:cNvPr>
          <p:cNvSpPr/>
          <p:nvPr/>
        </p:nvSpPr>
        <p:spPr>
          <a:xfrm>
            <a:off x="4038600" y="63500"/>
            <a:ext cx="76200" cy="2095500"/>
          </a:xfrm>
          <a:prstGeom prst="rect">
            <a:avLst/>
          </a:prstGeom>
          <a:solidFill>
            <a:srgbClr val="B2D9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60589D48-AF50-4E2E-812D-D3595A4B621D}"/>
              </a:ext>
            </a:extLst>
          </p:cNvPr>
          <p:cNvSpPr/>
          <p:nvPr/>
        </p:nvSpPr>
        <p:spPr>
          <a:xfrm>
            <a:off x="4095750" y="257175"/>
            <a:ext cx="355600" cy="317500"/>
          </a:xfrm>
          <a:prstGeom prst="rect">
            <a:avLst/>
          </a:prstGeom>
          <a:solidFill>
            <a:srgbClr val="B2D9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7F006971-E25C-4762-AFC3-FE117E79ED06}"/>
              </a:ext>
            </a:extLst>
          </p:cNvPr>
          <p:cNvSpPr txBox="1"/>
          <p:nvPr/>
        </p:nvSpPr>
        <p:spPr>
          <a:xfrm>
            <a:off x="4518025" y="238125"/>
            <a:ext cx="5308600" cy="355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altLang="zh-TW" sz="2000" b="1" dirty="0">
                <a:solidFill>
                  <a:srgbClr val="67ADF3"/>
                </a:solidFill>
                <a:latin typeface="Microsoft JhengHei"/>
                <a:ea typeface="Microsoft JhengHei"/>
              </a:rPr>
              <a:t>YAML</a:t>
            </a:r>
            <a:r>
              <a:rPr lang="zh-TW" altLang="en-US" sz="2000" b="1" dirty="0">
                <a:solidFill>
                  <a:srgbClr val="67ADF3"/>
                </a:solidFill>
                <a:latin typeface="Microsoft JhengHei"/>
                <a:ea typeface="Microsoft JhengHei"/>
              </a:rPr>
              <a:t> </a:t>
            </a:r>
            <a:r>
              <a:rPr lang="en-US" altLang="zh-TW" sz="2000" b="1" dirty="0">
                <a:solidFill>
                  <a:srgbClr val="67ADF3"/>
                </a:solidFill>
                <a:latin typeface="Microsoft JhengHei"/>
                <a:ea typeface="Microsoft JhengHei"/>
              </a:rPr>
              <a:t>Formatter</a:t>
            </a:r>
            <a:endParaRPr lang="zh-TW" altLang="en-US" sz="2000" b="1" dirty="0">
              <a:solidFill>
                <a:srgbClr val="67ADF3"/>
              </a:solidFill>
              <a:latin typeface="Microsoft JhengHei"/>
              <a:ea typeface="Microsoft JhengHei"/>
            </a:endParaRPr>
          </a:p>
        </p:txBody>
      </p:sp>
      <p:grpSp>
        <p:nvGrpSpPr>
          <p:cNvPr id="142" name="群組 141">
            <a:extLst>
              <a:ext uri="{FF2B5EF4-FFF2-40B4-BE49-F238E27FC236}">
                <a16:creationId xmlns:a16="http://schemas.microsoft.com/office/drawing/2014/main" id="{AFFB9619-73D3-D09D-B2CF-7B28060A9593}"/>
              </a:ext>
            </a:extLst>
          </p:cNvPr>
          <p:cNvGrpSpPr/>
          <p:nvPr/>
        </p:nvGrpSpPr>
        <p:grpSpPr>
          <a:xfrm>
            <a:off x="10160000" y="190500"/>
            <a:ext cx="1905000" cy="330200"/>
            <a:chOff x="10160000" y="190500"/>
            <a:chExt cx="1905000" cy="330200"/>
          </a:xfrm>
        </p:grpSpPr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B0B93CFE-DB24-44A4-99F9-55C8CCC6F71D}"/>
                </a:ext>
              </a:extLst>
            </p:cNvPr>
            <p:cNvSpPr/>
            <p:nvPr/>
          </p:nvSpPr>
          <p:spPr>
            <a:xfrm>
              <a:off x="10160000" y="190500"/>
              <a:ext cx="1905000" cy="330200"/>
            </a:xfrm>
            <a:prstGeom prst="rect">
              <a:avLst/>
            </a:prstGeom>
            <a:solidFill>
              <a:srgbClr val="7AB8F5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 sz="2400"/>
            </a:p>
          </p:txBody>
        </p:sp>
        <p:sp>
          <p:nvSpPr>
            <p:cNvPr id="110" name="文字方塊 109">
              <a:extLst>
                <a:ext uri="{FF2B5EF4-FFF2-40B4-BE49-F238E27FC236}">
                  <a16:creationId xmlns:a16="http://schemas.microsoft.com/office/drawing/2014/main" id="{A59B0C9B-DAAC-4BC3-9EDC-5B5795CAEDC3}"/>
                </a:ext>
              </a:extLst>
            </p:cNvPr>
            <p:cNvSpPr txBox="1"/>
            <p:nvPr/>
          </p:nvSpPr>
          <p:spPr>
            <a:xfrm>
              <a:off x="10160000" y="190500"/>
              <a:ext cx="974725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zh-TW" altLang="en-US" sz="1600" b="1" dirty="0">
                  <a:solidFill>
                    <a:srgbClr val="FFFFFF"/>
                  </a:solidFill>
                  <a:latin typeface="Microsoft JhengHei"/>
                  <a:ea typeface="Microsoft JhengHei"/>
                </a:rPr>
                <a:t>常駐背景</a:t>
              </a:r>
            </a:p>
          </p:txBody>
        </p:sp>
      </p:grpSp>
      <p:sp>
        <p:nvSpPr>
          <p:cNvPr id="112" name="矩形 111">
            <a:extLst>
              <a:ext uri="{FF2B5EF4-FFF2-40B4-BE49-F238E27FC236}">
                <a16:creationId xmlns:a16="http://schemas.microsoft.com/office/drawing/2014/main" id="{187B590F-8F06-4F1A-A134-EFDF61A5556F}"/>
              </a:ext>
            </a:extLst>
          </p:cNvPr>
          <p:cNvSpPr/>
          <p:nvPr/>
        </p:nvSpPr>
        <p:spPr>
          <a:xfrm>
            <a:off x="4191000" y="800100"/>
            <a:ext cx="7874000" cy="25400"/>
          </a:xfrm>
          <a:prstGeom prst="rect">
            <a:avLst/>
          </a:prstGeom>
          <a:solidFill>
            <a:srgbClr val="B2D9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03ACAC84-6EF5-4804-B63E-55C9CAA7AFD9}"/>
              </a:ext>
            </a:extLst>
          </p:cNvPr>
          <p:cNvSpPr txBox="1"/>
          <p:nvPr/>
        </p:nvSpPr>
        <p:spPr>
          <a:xfrm>
            <a:off x="4191000" y="927100"/>
            <a:ext cx="5816600" cy="1079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只有短短幾行，永遠在背景告訴 </a:t>
            </a:r>
            <a:r>
              <a:rPr lang="en-US" altLang="zh-TW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AI </a:t>
            </a:r>
            <a:r>
              <a:rPr lang="zh-TW" altLang="en-US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這個技能是做什麼的。系統啟動即載入，幾乎零成本。</a:t>
            </a:r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DF6112EF-5599-4A43-95A0-820C6044EE7C}"/>
              </a:ext>
            </a:extLst>
          </p:cNvPr>
          <p:cNvSpPr txBox="1"/>
          <p:nvPr/>
        </p:nvSpPr>
        <p:spPr>
          <a:xfrm>
            <a:off x="4343400" y="2149475"/>
            <a:ext cx="254000" cy="101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TW" altLang="en-US" sz="1000" b="1" dirty="0">
                <a:solidFill>
                  <a:srgbClr val="7AB8F5"/>
                </a:solidFill>
                <a:latin typeface="Microsoft JhengHei"/>
                <a:ea typeface="Microsoft JhengHei"/>
              </a:rPr>
              <a:t>▼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B870EC81-33E6-4C23-9816-08631CDF913F}"/>
              </a:ext>
            </a:extLst>
          </p:cNvPr>
          <p:cNvSpPr/>
          <p:nvPr/>
        </p:nvSpPr>
        <p:spPr>
          <a:xfrm>
            <a:off x="4038600" y="2235200"/>
            <a:ext cx="406400" cy="20955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B45E6F41-8AE8-454A-B0FB-F523E4F917D3}"/>
              </a:ext>
            </a:extLst>
          </p:cNvPr>
          <p:cNvSpPr/>
          <p:nvPr/>
        </p:nvSpPr>
        <p:spPr>
          <a:xfrm>
            <a:off x="4381500" y="3213100"/>
            <a:ext cx="127000" cy="127000"/>
          </a:xfrm>
          <a:prstGeom prst="rect">
            <a:avLst/>
          </a:prstGeom>
          <a:solidFill>
            <a:srgbClr val="0E5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0CEAA060-D0B3-4AE5-B8FA-005094EA17E7}"/>
              </a:ext>
            </a:extLst>
          </p:cNvPr>
          <p:cNvSpPr/>
          <p:nvPr/>
        </p:nvSpPr>
        <p:spPr>
          <a:xfrm>
            <a:off x="4445000" y="2235200"/>
            <a:ext cx="7696200" cy="2095500"/>
          </a:xfrm>
          <a:prstGeom prst="rect">
            <a:avLst/>
          </a:prstGeom>
          <a:solidFill>
            <a:srgbClr val="D8EA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53FFD6A0-B53A-429C-A7DA-0BAF8FB9F356}"/>
              </a:ext>
            </a:extLst>
          </p:cNvPr>
          <p:cNvSpPr/>
          <p:nvPr/>
        </p:nvSpPr>
        <p:spPr>
          <a:xfrm>
            <a:off x="4445000" y="2235200"/>
            <a:ext cx="101600" cy="20955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414D731-880E-4CD2-A76E-8335AE182366}"/>
              </a:ext>
            </a:extLst>
          </p:cNvPr>
          <p:cNvSpPr/>
          <p:nvPr/>
        </p:nvSpPr>
        <p:spPr>
          <a:xfrm>
            <a:off x="4521200" y="2476500"/>
            <a:ext cx="393700" cy="3175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21" name="文字方塊 120">
            <a:extLst>
              <a:ext uri="{FF2B5EF4-FFF2-40B4-BE49-F238E27FC236}">
                <a16:creationId xmlns:a16="http://schemas.microsoft.com/office/drawing/2014/main" id="{3614402F-A34D-49D8-AD7E-A039AA4B988E}"/>
              </a:ext>
            </a:extLst>
          </p:cNvPr>
          <p:cNvSpPr txBox="1"/>
          <p:nvPr/>
        </p:nvSpPr>
        <p:spPr>
          <a:xfrm>
            <a:off x="5016500" y="2444750"/>
            <a:ext cx="4902200" cy="355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altLang="zh-TW" sz="2000" b="1" dirty="0">
                <a:solidFill>
                  <a:srgbClr val="0E50CC"/>
                </a:solidFill>
                <a:latin typeface="Microsoft JhengHei"/>
                <a:ea typeface="Microsoft JhengHei"/>
              </a:rPr>
              <a:t>SKILL.md </a:t>
            </a:r>
            <a:r>
              <a:rPr lang="zh-TW" altLang="en-US" sz="2000" b="1" dirty="0">
                <a:solidFill>
                  <a:srgbClr val="0E50CC"/>
                </a:solidFill>
                <a:latin typeface="Microsoft JhengHei"/>
                <a:ea typeface="Microsoft JhengHei"/>
              </a:rPr>
              <a:t>本體</a:t>
            </a:r>
          </a:p>
        </p:txBody>
      </p:sp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14709771-8627-CFF8-3B20-9C74217A92C5}"/>
              </a:ext>
            </a:extLst>
          </p:cNvPr>
          <p:cNvGrpSpPr/>
          <p:nvPr/>
        </p:nvGrpSpPr>
        <p:grpSpPr>
          <a:xfrm>
            <a:off x="10160000" y="2362200"/>
            <a:ext cx="1905000" cy="330200"/>
            <a:chOff x="10160000" y="2362200"/>
            <a:chExt cx="1905000" cy="330200"/>
          </a:xfrm>
        </p:grpSpPr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75FF9B6E-637B-4645-AE4E-CF46EC7A9A37}"/>
                </a:ext>
              </a:extLst>
            </p:cNvPr>
            <p:cNvSpPr/>
            <p:nvPr/>
          </p:nvSpPr>
          <p:spPr>
            <a:xfrm>
              <a:off x="10160000" y="2362200"/>
              <a:ext cx="1905000" cy="330200"/>
            </a:xfrm>
            <a:prstGeom prst="rect">
              <a:avLst/>
            </a:prstGeom>
            <a:solidFill>
              <a:srgbClr val="0E50C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 sz="2400"/>
            </a:p>
          </p:txBody>
        </p:sp>
        <p:sp>
          <p:nvSpPr>
            <p:cNvPr id="123" name="文字方塊 122">
              <a:extLst>
                <a:ext uri="{FF2B5EF4-FFF2-40B4-BE49-F238E27FC236}">
                  <a16:creationId xmlns:a16="http://schemas.microsoft.com/office/drawing/2014/main" id="{A8390289-578C-456E-B157-51C1AE0B000C}"/>
                </a:ext>
              </a:extLst>
            </p:cNvPr>
            <p:cNvSpPr txBox="1"/>
            <p:nvPr/>
          </p:nvSpPr>
          <p:spPr>
            <a:xfrm>
              <a:off x="10160000" y="2362200"/>
              <a:ext cx="10414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zh-TW" altLang="en-US" sz="1600" b="1" dirty="0">
                  <a:solidFill>
                    <a:srgbClr val="FFFFFF"/>
                  </a:solidFill>
                  <a:latin typeface="Microsoft JhengHei"/>
                  <a:ea typeface="Microsoft JhengHei"/>
                </a:rPr>
                <a:t>按需讀取</a:t>
              </a:r>
            </a:p>
          </p:txBody>
        </p:sp>
      </p:grpSp>
      <p:sp>
        <p:nvSpPr>
          <p:cNvPr id="125" name="矩形 124">
            <a:extLst>
              <a:ext uri="{FF2B5EF4-FFF2-40B4-BE49-F238E27FC236}">
                <a16:creationId xmlns:a16="http://schemas.microsoft.com/office/drawing/2014/main" id="{7D9A3717-9D6F-424A-8192-B803F834D22A}"/>
              </a:ext>
            </a:extLst>
          </p:cNvPr>
          <p:cNvSpPr/>
          <p:nvPr/>
        </p:nvSpPr>
        <p:spPr>
          <a:xfrm>
            <a:off x="4622800" y="2971800"/>
            <a:ext cx="7442200" cy="254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DF4E4837-8486-47B5-8B6A-801468046875}"/>
              </a:ext>
            </a:extLst>
          </p:cNvPr>
          <p:cNvSpPr txBox="1"/>
          <p:nvPr/>
        </p:nvSpPr>
        <p:spPr>
          <a:xfrm>
            <a:off x="4648200" y="3225265"/>
            <a:ext cx="5410200" cy="1079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當 </a:t>
            </a:r>
            <a:r>
              <a:rPr lang="en-US" altLang="zh-TW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AI </a:t>
            </a:r>
            <a:r>
              <a:rPr lang="zh-TW" altLang="en-US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判斷使用者需求與技能吻合，才把完整 </a:t>
            </a:r>
            <a:r>
              <a:rPr lang="en-US" altLang="zh-TW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SOP </a:t>
            </a:r>
            <a:r>
              <a:rPr lang="zh-TW" altLang="en-US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步驟讀入。</a:t>
            </a:r>
            <a:br>
              <a:rPr lang="en-US" altLang="zh-TW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</a:br>
            <a:r>
              <a:rPr lang="zh-TW" altLang="en-US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觸發後載入，中等成本。</a:t>
            </a:r>
          </a:p>
        </p:txBody>
      </p:sp>
      <p:sp>
        <p:nvSpPr>
          <p:cNvPr id="127" name="文字方塊 126">
            <a:extLst>
              <a:ext uri="{FF2B5EF4-FFF2-40B4-BE49-F238E27FC236}">
                <a16:creationId xmlns:a16="http://schemas.microsoft.com/office/drawing/2014/main" id="{55F3940D-3B20-4D34-BA13-94ABF5E11E9A}"/>
              </a:ext>
            </a:extLst>
          </p:cNvPr>
          <p:cNvSpPr txBox="1"/>
          <p:nvPr/>
        </p:nvSpPr>
        <p:spPr>
          <a:xfrm>
            <a:off x="4775200" y="4330700"/>
            <a:ext cx="254000" cy="101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TW" altLang="en-US" sz="1000" b="1" dirty="0">
                <a:solidFill>
                  <a:srgbClr val="0E50CC"/>
                </a:solidFill>
                <a:latin typeface="Microsoft JhengHei"/>
                <a:ea typeface="Microsoft JhengHei"/>
              </a:rPr>
              <a:t>▼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32174D53-86FA-44B6-952E-6EB1AC77BE8F}"/>
              </a:ext>
            </a:extLst>
          </p:cNvPr>
          <p:cNvSpPr/>
          <p:nvPr/>
        </p:nvSpPr>
        <p:spPr>
          <a:xfrm>
            <a:off x="4038600" y="4406900"/>
            <a:ext cx="781048" cy="21717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F0A2ACA7-A7E5-4213-8E52-0492F86B8A38}"/>
              </a:ext>
            </a:extLst>
          </p:cNvPr>
          <p:cNvSpPr/>
          <p:nvPr/>
        </p:nvSpPr>
        <p:spPr>
          <a:xfrm>
            <a:off x="4787900" y="5384800"/>
            <a:ext cx="127000" cy="127000"/>
          </a:xfrm>
          <a:prstGeom prst="rect">
            <a:avLst/>
          </a:prstGeom>
          <a:solidFill>
            <a:srgbClr val="05288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58114DF6-317D-4582-8207-D0F08298D7A1}"/>
              </a:ext>
            </a:extLst>
          </p:cNvPr>
          <p:cNvSpPr/>
          <p:nvPr/>
        </p:nvSpPr>
        <p:spPr>
          <a:xfrm>
            <a:off x="4851400" y="4464050"/>
            <a:ext cx="7289800" cy="2095500"/>
          </a:xfrm>
          <a:prstGeom prst="rect">
            <a:avLst/>
          </a:prstGeom>
          <a:solidFill>
            <a:srgbClr val="C0D8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D2EDE4A6-6515-46CC-8AE1-6A98BAE3E3F0}"/>
              </a:ext>
            </a:extLst>
          </p:cNvPr>
          <p:cNvSpPr/>
          <p:nvPr/>
        </p:nvSpPr>
        <p:spPr>
          <a:xfrm>
            <a:off x="4851399" y="4406900"/>
            <a:ext cx="111125" cy="2152650"/>
          </a:xfrm>
          <a:prstGeom prst="rect">
            <a:avLst/>
          </a:prstGeom>
          <a:solidFill>
            <a:srgbClr val="0843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5DB2424B-D771-4493-82BF-1BE3DCF6EC7C}"/>
              </a:ext>
            </a:extLst>
          </p:cNvPr>
          <p:cNvSpPr/>
          <p:nvPr/>
        </p:nvSpPr>
        <p:spPr>
          <a:xfrm>
            <a:off x="4914900" y="4648200"/>
            <a:ext cx="431798" cy="323850"/>
          </a:xfrm>
          <a:prstGeom prst="rect">
            <a:avLst/>
          </a:prstGeom>
          <a:solidFill>
            <a:srgbClr val="0843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ED7915C7-4908-4CCC-9135-31337CF0889F}"/>
              </a:ext>
            </a:extLst>
          </p:cNvPr>
          <p:cNvSpPr txBox="1"/>
          <p:nvPr/>
        </p:nvSpPr>
        <p:spPr>
          <a:xfrm>
            <a:off x="5429248" y="4597400"/>
            <a:ext cx="4495800" cy="355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altLang="zh-TW" sz="2000" b="1" dirty="0">
                <a:solidFill>
                  <a:srgbClr val="052880"/>
                </a:solidFill>
                <a:latin typeface="Microsoft JhengHei"/>
                <a:ea typeface="Microsoft JhengHei"/>
              </a:rPr>
              <a:t>scripts/ &amp; references/</a:t>
            </a:r>
            <a:endParaRPr lang="zh-TW" altLang="en-US" sz="2000" b="1" dirty="0">
              <a:solidFill>
                <a:srgbClr val="052880"/>
              </a:solidFill>
              <a:latin typeface="Microsoft JhengHei"/>
              <a:ea typeface="Microsoft JhengHei"/>
            </a:endParaRPr>
          </a:p>
        </p:txBody>
      </p:sp>
      <p:grpSp>
        <p:nvGrpSpPr>
          <p:cNvPr id="144" name="群組 143">
            <a:extLst>
              <a:ext uri="{FF2B5EF4-FFF2-40B4-BE49-F238E27FC236}">
                <a16:creationId xmlns:a16="http://schemas.microsoft.com/office/drawing/2014/main" id="{DD52583F-AE1F-9BBF-8DCD-5E84CCDC1FC0}"/>
              </a:ext>
            </a:extLst>
          </p:cNvPr>
          <p:cNvGrpSpPr/>
          <p:nvPr/>
        </p:nvGrpSpPr>
        <p:grpSpPr>
          <a:xfrm>
            <a:off x="10160000" y="4533900"/>
            <a:ext cx="1905000" cy="330200"/>
            <a:chOff x="10160000" y="4533900"/>
            <a:chExt cx="1905000" cy="330200"/>
          </a:xfrm>
        </p:grpSpPr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A130B4D7-9338-40B1-802E-9758E336B3B7}"/>
                </a:ext>
              </a:extLst>
            </p:cNvPr>
            <p:cNvSpPr/>
            <p:nvPr/>
          </p:nvSpPr>
          <p:spPr>
            <a:xfrm>
              <a:off x="10160000" y="4533900"/>
              <a:ext cx="1905000" cy="330200"/>
            </a:xfrm>
            <a:prstGeom prst="rect">
              <a:avLst/>
            </a:prstGeom>
            <a:solidFill>
              <a:srgbClr val="052880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/>
            </a:p>
          </p:txBody>
        </p:sp>
        <p:sp>
          <p:nvSpPr>
            <p:cNvPr id="136" name="文字方塊 135">
              <a:extLst>
                <a:ext uri="{FF2B5EF4-FFF2-40B4-BE49-F238E27FC236}">
                  <a16:creationId xmlns:a16="http://schemas.microsoft.com/office/drawing/2014/main" id="{29373D01-FF56-4F39-8FD0-85924E83C420}"/>
                </a:ext>
              </a:extLst>
            </p:cNvPr>
            <p:cNvSpPr txBox="1"/>
            <p:nvPr/>
          </p:nvSpPr>
          <p:spPr>
            <a:xfrm>
              <a:off x="10160000" y="4533900"/>
              <a:ext cx="12700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zh-TW" altLang="en-US" sz="1600" b="1" dirty="0">
                  <a:solidFill>
                    <a:srgbClr val="FFFFFF"/>
                  </a:solidFill>
                  <a:latin typeface="Microsoft JhengHei"/>
                  <a:ea typeface="Microsoft JhengHei"/>
                </a:rPr>
                <a:t>執行時載入</a:t>
              </a:r>
            </a:p>
          </p:txBody>
        </p:sp>
      </p:grpSp>
      <p:sp>
        <p:nvSpPr>
          <p:cNvPr id="138" name="矩形 137">
            <a:extLst>
              <a:ext uri="{FF2B5EF4-FFF2-40B4-BE49-F238E27FC236}">
                <a16:creationId xmlns:a16="http://schemas.microsoft.com/office/drawing/2014/main" id="{E66311AD-AB8D-4F00-86E8-B810B7175A4F}"/>
              </a:ext>
            </a:extLst>
          </p:cNvPr>
          <p:cNvSpPr/>
          <p:nvPr/>
        </p:nvSpPr>
        <p:spPr>
          <a:xfrm>
            <a:off x="5054600" y="5143500"/>
            <a:ext cx="7010400" cy="25400"/>
          </a:xfrm>
          <a:prstGeom prst="rect">
            <a:avLst/>
          </a:prstGeom>
          <a:solidFill>
            <a:srgbClr val="0843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9" name="文字方塊 138">
            <a:extLst>
              <a:ext uri="{FF2B5EF4-FFF2-40B4-BE49-F238E27FC236}">
                <a16:creationId xmlns:a16="http://schemas.microsoft.com/office/drawing/2014/main" id="{C705668F-8642-4D16-8961-6597D305483D}"/>
              </a:ext>
            </a:extLst>
          </p:cNvPr>
          <p:cNvSpPr txBox="1"/>
          <p:nvPr/>
        </p:nvSpPr>
        <p:spPr>
          <a:xfrm>
            <a:off x="5059362" y="5445125"/>
            <a:ext cx="5003800" cy="1079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走到特定步驟時才去跑 </a:t>
            </a:r>
            <a:r>
              <a:rPr lang="en-US" altLang="zh-TW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Python </a:t>
            </a:r>
            <a:r>
              <a:rPr lang="zh-TW" altLang="en-US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腳本或查閱長篇參考文件。</a:t>
            </a:r>
            <a:br>
              <a:rPr lang="en-US" altLang="zh-TW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</a:br>
            <a:r>
              <a:rPr lang="zh-TW" altLang="en-US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按需求呼叫。</a:t>
            </a: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FF572B9D-9373-27DF-0414-8A430DCEE141}"/>
              </a:ext>
            </a:extLst>
          </p:cNvPr>
          <p:cNvSpPr/>
          <p:nvPr/>
        </p:nvSpPr>
        <p:spPr>
          <a:xfrm>
            <a:off x="329063" y="2774908"/>
            <a:ext cx="2057400" cy="330200"/>
          </a:xfrm>
          <a:prstGeom prst="rect">
            <a:avLst/>
          </a:prstGeom>
          <a:solidFill>
            <a:srgbClr val="F758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以前的痛點</a:t>
            </a:r>
          </a:p>
        </p:txBody>
      </p:sp>
      <p:sp>
        <p:nvSpPr>
          <p:cNvPr id="145" name="文字方塊 144">
            <a:extLst>
              <a:ext uri="{FF2B5EF4-FFF2-40B4-BE49-F238E27FC236}">
                <a16:creationId xmlns:a16="http://schemas.microsoft.com/office/drawing/2014/main" id="{042C2C11-CCD4-2641-B466-EE12BE5785AA}"/>
              </a:ext>
            </a:extLst>
          </p:cNvPr>
          <p:cNvSpPr txBox="1"/>
          <p:nvPr/>
        </p:nvSpPr>
        <p:spPr>
          <a:xfrm>
            <a:off x="127000" y="228734"/>
            <a:ext cx="1016000" cy="889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altLang="zh-TW" sz="4000" b="1" dirty="0">
                <a:solidFill>
                  <a:srgbClr val="186AFF"/>
                </a:solidFill>
                <a:latin typeface="Microsoft JhengHei"/>
                <a:ea typeface="Microsoft JhengHei"/>
              </a:rPr>
              <a:t>02</a:t>
            </a:r>
            <a:endParaRPr lang="zh-TW" altLang="en-US" sz="4000" b="1" dirty="0">
              <a:solidFill>
                <a:srgbClr val="186AFF"/>
              </a:solidFill>
              <a:latin typeface="Microsoft Jheng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083334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 86">
            <a:extLst>
              <a:ext uri="{FF2B5EF4-FFF2-40B4-BE49-F238E27FC236}">
                <a16:creationId xmlns:a16="http://schemas.microsoft.com/office/drawing/2014/main" id="{68407E9D-7B34-4473-A677-D36A176B3F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D0D27866-0E97-45EB-A62C-19AC9929215C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DEB2201C-8095-4920-8B4E-B3B65DC7D65D}"/>
              </a:ext>
            </a:extLst>
          </p:cNvPr>
          <p:cNvSpPr/>
          <p:nvPr/>
        </p:nvSpPr>
        <p:spPr>
          <a:xfrm>
            <a:off x="0" y="6578600"/>
            <a:ext cx="4064000" cy="2794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A323018-C3CE-4416-A947-CF00FF920BD2}"/>
              </a:ext>
            </a:extLst>
          </p:cNvPr>
          <p:cNvSpPr/>
          <p:nvPr/>
        </p:nvSpPr>
        <p:spPr>
          <a:xfrm>
            <a:off x="4064000" y="6578600"/>
            <a:ext cx="4064000" cy="2794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4B7342C2-EF52-4CE9-B71F-41B669C0B53F}"/>
              </a:ext>
            </a:extLst>
          </p:cNvPr>
          <p:cNvSpPr/>
          <p:nvPr/>
        </p:nvSpPr>
        <p:spPr>
          <a:xfrm>
            <a:off x="8128000" y="6578600"/>
            <a:ext cx="4064000" cy="279400"/>
          </a:xfrm>
          <a:prstGeom prst="rect">
            <a:avLst/>
          </a:prstGeom>
          <a:solidFill>
            <a:srgbClr val="0843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FC7789AB-5022-4367-B41E-9A29FC8693B1}"/>
              </a:ext>
            </a:extLst>
          </p:cNvPr>
          <p:cNvSpPr/>
          <p:nvPr/>
        </p:nvSpPr>
        <p:spPr>
          <a:xfrm>
            <a:off x="0" y="63500"/>
            <a:ext cx="3937000" cy="6515100"/>
          </a:xfrm>
          <a:prstGeom prst="rect">
            <a:avLst/>
          </a:prstGeom>
          <a:solidFill>
            <a:srgbClr val="041A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26BD1ED1-A942-4484-A1B5-2AD6576B39C4}"/>
              </a:ext>
            </a:extLst>
          </p:cNvPr>
          <p:cNvSpPr/>
          <p:nvPr/>
        </p:nvSpPr>
        <p:spPr>
          <a:xfrm>
            <a:off x="0" y="63500"/>
            <a:ext cx="76200" cy="65151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7EC92574-F7EB-4D3F-AD4C-E91BE6E4A5D7}"/>
              </a:ext>
            </a:extLst>
          </p:cNvPr>
          <p:cNvSpPr txBox="1"/>
          <p:nvPr/>
        </p:nvSpPr>
        <p:spPr>
          <a:xfrm>
            <a:off x="129273" y="1004002"/>
            <a:ext cx="3403600" cy="635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altLang="zh-TW" sz="2800" b="1" dirty="0">
                <a:solidFill>
                  <a:srgbClr val="FFFFFF"/>
                </a:solidFill>
                <a:latin typeface="Microsoft JhengHei"/>
                <a:ea typeface="Microsoft JhengHei"/>
              </a:rPr>
              <a:t>Skills</a:t>
            </a:r>
            <a:r>
              <a:rPr lang="zh-TW" altLang="en-US" sz="2800" b="1" dirty="0">
                <a:solidFill>
                  <a:srgbClr val="FFFFFF"/>
                </a:solidFill>
                <a:latin typeface="Microsoft JhengHei"/>
                <a:ea typeface="Microsoft JhengHei"/>
              </a:rPr>
              <a:t>怎麼運作？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395FA263-C946-4A5C-BB99-FF1A52E7DF19}"/>
              </a:ext>
            </a:extLst>
          </p:cNvPr>
          <p:cNvSpPr/>
          <p:nvPr/>
        </p:nvSpPr>
        <p:spPr>
          <a:xfrm>
            <a:off x="255136" y="1548197"/>
            <a:ext cx="2461527" cy="52070"/>
          </a:xfrm>
          <a:prstGeom prst="rect">
            <a:avLst/>
          </a:prstGeom>
          <a:solidFill>
            <a:srgbClr val="FFD6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BEF7F0F6-319A-4260-97E7-69584F38A621}"/>
              </a:ext>
            </a:extLst>
          </p:cNvPr>
          <p:cNvSpPr txBox="1"/>
          <p:nvPr/>
        </p:nvSpPr>
        <p:spPr>
          <a:xfrm>
            <a:off x="177800" y="1892651"/>
            <a:ext cx="3403600" cy="381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zh-TW" altLang="en-US" sz="1500" b="1" dirty="0">
                <a:solidFill>
                  <a:srgbClr val="82DFE8"/>
                </a:solidFill>
                <a:latin typeface="Microsoft JhengHei"/>
                <a:ea typeface="Microsoft JhengHei"/>
              </a:rPr>
              <a:t>不用每次重貼 </a:t>
            </a:r>
            <a:r>
              <a:rPr lang="en-US" altLang="zh-TW" sz="1500" b="1" dirty="0">
                <a:solidFill>
                  <a:srgbClr val="82DFE8"/>
                </a:solidFill>
                <a:latin typeface="Microsoft JhengHei"/>
                <a:ea typeface="Microsoft JhengHei"/>
              </a:rPr>
              <a:t>Prompt</a:t>
            </a:r>
            <a:endParaRPr lang="zh-TW" altLang="en-US" sz="1500" b="1" dirty="0">
              <a:solidFill>
                <a:srgbClr val="82DFE8"/>
              </a:solidFill>
              <a:latin typeface="Microsoft JhengHei"/>
              <a:ea typeface="Microsoft JhengHei"/>
            </a:endParaRPr>
          </a:p>
        </p:txBody>
      </p:sp>
      <p:grpSp>
        <p:nvGrpSpPr>
          <p:cNvPr id="140" name="群組 139">
            <a:extLst>
              <a:ext uri="{FF2B5EF4-FFF2-40B4-BE49-F238E27FC236}">
                <a16:creationId xmlns:a16="http://schemas.microsoft.com/office/drawing/2014/main" id="{047481F7-6CC4-103C-54CA-BBB6DBE2BE37}"/>
              </a:ext>
            </a:extLst>
          </p:cNvPr>
          <p:cNvGrpSpPr/>
          <p:nvPr/>
        </p:nvGrpSpPr>
        <p:grpSpPr>
          <a:xfrm>
            <a:off x="255136" y="2679700"/>
            <a:ext cx="3403601" cy="1498600"/>
            <a:chOff x="279399" y="3022600"/>
            <a:chExt cx="3403601" cy="1498600"/>
          </a:xfrm>
        </p:grpSpPr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4E99B802-A3E6-4CA4-85A0-A6DB8D7C1630}"/>
                </a:ext>
              </a:extLst>
            </p:cNvPr>
            <p:cNvSpPr/>
            <p:nvPr/>
          </p:nvSpPr>
          <p:spPr>
            <a:xfrm>
              <a:off x="279400" y="3022600"/>
              <a:ext cx="3403600" cy="1498600"/>
            </a:xfrm>
            <a:prstGeom prst="rect">
              <a:avLst/>
            </a:prstGeom>
            <a:solidFill>
              <a:srgbClr val="0A2875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 sz="2400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D4CFC069-36E3-4173-83F3-C6979014F438}"/>
                </a:ext>
              </a:extLst>
            </p:cNvPr>
            <p:cNvSpPr/>
            <p:nvPr/>
          </p:nvSpPr>
          <p:spPr>
            <a:xfrm>
              <a:off x="279399" y="3022600"/>
              <a:ext cx="73927" cy="1498600"/>
            </a:xfrm>
            <a:prstGeom prst="rect">
              <a:avLst/>
            </a:prstGeom>
            <a:solidFill>
              <a:srgbClr val="F7580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 dirty="0"/>
            </a:p>
          </p:txBody>
        </p:sp>
        <p:sp>
          <p:nvSpPr>
            <p:cNvPr id="100" name="文字方塊 99">
              <a:extLst>
                <a:ext uri="{FF2B5EF4-FFF2-40B4-BE49-F238E27FC236}">
                  <a16:creationId xmlns:a16="http://schemas.microsoft.com/office/drawing/2014/main" id="{18C0F1D7-A457-4A18-ABF6-275C65F761AB}"/>
                </a:ext>
              </a:extLst>
            </p:cNvPr>
            <p:cNvSpPr txBox="1"/>
            <p:nvPr/>
          </p:nvSpPr>
          <p:spPr>
            <a:xfrm>
              <a:off x="391427" y="3479867"/>
              <a:ext cx="3175000" cy="8636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altLang="zh-TW" sz="1400" b="1" dirty="0">
                  <a:solidFill>
                    <a:srgbClr val="B2D9FC"/>
                  </a:solidFill>
                  <a:latin typeface="Microsoft JhengHei"/>
                  <a:ea typeface="Microsoft JhengHei"/>
                </a:rPr>
                <a:t>- </a:t>
              </a:r>
              <a:r>
                <a:rPr lang="zh-TW" altLang="en-US" sz="1400" b="1" dirty="0">
                  <a:solidFill>
                    <a:srgbClr val="B2D9FC"/>
                  </a:solidFill>
                  <a:latin typeface="Microsoft JhengHei"/>
                  <a:ea typeface="Microsoft JhengHei"/>
                </a:rPr>
                <a:t>每次重貼一大串規則
</a:t>
              </a:r>
              <a:r>
                <a:rPr lang="en-US" altLang="zh-TW" sz="1400" b="1" dirty="0">
                  <a:solidFill>
                    <a:srgbClr val="B2D9FC"/>
                  </a:solidFill>
                  <a:latin typeface="Microsoft JhengHei"/>
                  <a:ea typeface="Microsoft JhengHei"/>
                </a:rPr>
                <a:t>- AI </a:t>
              </a:r>
              <a:r>
                <a:rPr lang="zh-TW" altLang="en-US" sz="1400" b="1" dirty="0">
                  <a:solidFill>
                    <a:srgbClr val="B2D9FC"/>
                  </a:solidFill>
                  <a:latin typeface="Microsoft JhengHei"/>
                  <a:ea typeface="Microsoft JhengHei"/>
                </a:rPr>
                <a:t>容易遺忘，浪費 </a:t>
              </a:r>
              <a:r>
                <a:rPr lang="en-US" altLang="zh-TW" sz="1400" b="1" dirty="0">
                  <a:solidFill>
                    <a:srgbClr val="B2D9FC"/>
                  </a:solidFill>
                  <a:latin typeface="Microsoft JhengHei"/>
                  <a:ea typeface="Microsoft JhengHei"/>
                </a:rPr>
                <a:t>Token
- Prompt </a:t>
              </a:r>
              <a:r>
                <a:rPr lang="zh-TW" altLang="en-US" sz="1400" b="1" dirty="0">
                  <a:solidFill>
                    <a:srgbClr val="B2D9FC"/>
                  </a:solidFill>
                  <a:latin typeface="Microsoft JhengHei"/>
                  <a:ea typeface="Microsoft JhengHei"/>
                </a:rPr>
                <a:t>品質不穩定</a:t>
              </a:r>
            </a:p>
          </p:txBody>
        </p:sp>
      </p:grpSp>
      <p:grpSp>
        <p:nvGrpSpPr>
          <p:cNvPr id="141" name="群組 140">
            <a:extLst>
              <a:ext uri="{FF2B5EF4-FFF2-40B4-BE49-F238E27FC236}">
                <a16:creationId xmlns:a16="http://schemas.microsoft.com/office/drawing/2014/main" id="{241F5BE6-4065-D907-2EDE-245DD7057594}"/>
              </a:ext>
            </a:extLst>
          </p:cNvPr>
          <p:cNvGrpSpPr/>
          <p:nvPr/>
        </p:nvGrpSpPr>
        <p:grpSpPr>
          <a:xfrm>
            <a:off x="228600" y="4762500"/>
            <a:ext cx="3403600" cy="381000"/>
            <a:chOff x="279400" y="4495800"/>
            <a:chExt cx="3403600" cy="381000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FFB9624B-83B2-4057-A1D3-AA5F115BF4C0}"/>
                </a:ext>
              </a:extLst>
            </p:cNvPr>
            <p:cNvSpPr/>
            <p:nvPr/>
          </p:nvSpPr>
          <p:spPr>
            <a:xfrm>
              <a:off x="279400" y="4495800"/>
              <a:ext cx="3403600" cy="381000"/>
            </a:xfrm>
            <a:prstGeom prst="rect">
              <a:avLst/>
            </a:prstGeom>
            <a:solidFill>
              <a:srgbClr val="186A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/>
            </a:p>
          </p:txBody>
        </p:sp>
        <p:sp>
          <p:nvSpPr>
            <p:cNvPr id="102" name="文字方塊 101">
              <a:extLst>
                <a:ext uri="{FF2B5EF4-FFF2-40B4-BE49-F238E27FC236}">
                  <a16:creationId xmlns:a16="http://schemas.microsoft.com/office/drawing/2014/main" id="{82DF51F6-6559-4BDC-A74F-0E73587C6258}"/>
                </a:ext>
              </a:extLst>
            </p:cNvPr>
            <p:cNvSpPr txBox="1"/>
            <p:nvPr/>
          </p:nvSpPr>
          <p:spPr>
            <a:xfrm>
              <a:off x="279400" y="4495800"/>
              <a:ext cx="2540000" cy="3810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en-US" altLang="zh-TW" sz="1600" b="1" dirty="0">
                  <a:solidFill>
                    <a:srgbClr val="FFFFFF"/>
                  </a:solidFill>
                  <a:latin typeface="Microsoft JhengHei"/>
                  <a:ea typeface="Microsoft JhengHei"/>
                </a:rPr>
                <a:t>Skills </a:t>
              </a:r>
              <a:r>
                <a:rPr lang="zh-TW" altLang="en-US" sz="1600" b="1" dirty="0">
                  <a:solidFill>
                    <a:srgbClr val="FFFFFF"/>
                  </a:solidFill>
                  <a:latin typeface="Microsoft JhengHei"/>
                  <a:ea typeface="Microsoft JhengHei"/>
                </a:rPr>
                <a:t>採「按需求載入」機制</a:t>
              </a:r>
            </a:p>
          </p:txBody>
        </p:sp>
      </p:grpSp>
      <p:sp>
        <p:nvSpPr>
          <p:cNvPr id="104" name="矩形 103">
            <a:extLst>
              <a:ext uri="{FF2B5EF4-FFF2-40B4-BE49-F238E27FC236}">
                <a16:creationId xmlns:a16="http://schemas.microsoft.com/office/drawing/2014/main" id="{219B03B8-2987-4636-9466-46DB89B17E1C}"/>
              </a:ext>
            </a:extLst>
          </p:cNvPr>
          <p:cNvSpPr/>
          <p:nvPr/>
        </p:nvSpPr>
        <p:spPr>
          <a:xfrm>
            <a:off x="4038600" y="63500"/>
            <a:ext cx="8102600" cy="2095500"/>
          </a:xfrm>
          <a:prstGeom prst="rect">
            <a:avLst/>
          </a:prstGeom>
          <a:solidFill>
            <a:srgbClr val="EEF5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9833E1F4-2BD6-44E7-B96B-41A8957483EE}"/>
              </a:ext>
            </a:extLst>
          </p:cNvPr>
          <p:cNvSpPr/>
          <p:nvPr/>
        </p:nvSpPr>
        <p:spPr>
          <a:xfrm>
            <a:off x="4038600" y="63500"/>
            <a:ext cx="76200" cy="2095500"/>
          </a:xfrm>
          <a:prstGeom prst="rect">
            <a:avLst/>
          </a:prstGeom>
          <a:solidFill>
            <a:srgbClr val="B2D9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60589D48-AF50-4E2E-812D-D3595A4B621D}"/>
              </a:ext>
            </a:extLst>
          </p:cNvPr>
          <p:cNvSpPr/>
          <p:nvPr/>
        </p:nvSpPr>
        <p:spPr>
          <a:xfrm>
            <a:off x="4095750" y="257175"/>
            <a:ext cx="355600" cy="317500"/>
          </a:xfrm>
          <a:prstGeom prst="rect">
            <a:avLst/>
          </a:prstGeom>
          <a:solidFill>
            <a:srgbClr val="B2D9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7F006971-E25C-4762-AFC3-FE117E79ED06}"/>
              </a:ext>
            </a:extLst>
          </p:cNvPr>
          <p:cNvSpPr txBox="1"/>
          <p:nvPr/>
        </p:nvSpPr>
        <p:spPr>
          <a:xfrm>
            <a:off x="4518025" y="238125"/>
            <a:ext cx="5308600" cy="355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altLang="zh-TW" sz="2000" b="1" dirty="0">
                <a:solidFill>
                  <a:srgbClr val="67ADF3"/>
                </a:solidFill>
                <a:latin typeface="Microsoft JhengHei"/>
                <a:ea typeface="Microsoft JhengHei"/>
              </a:rPr>
              <a:t>YAML</a:t>
            </a:r>
            <a:r>
              <a:rPr lang="zh-TW" altLang="en-US" sz="2000" b="1" dirty="0">
                <a:solidFill>
                  <a:srgbClr val="67ADF3"/>
                </a:solidFill>
                <a:latin typeface="Microsoft JhengHei"/>
                <a:ea typeface="Microsoft JhengHei"/>
              </a:rPr>
              <a:t> </a:t>
            </a:r>
            <a:r>
              <a:rPr lang="en-US" altLang="zh-TW" sz="2000" b="1" dirty="0">
                <a:solidFill>
                  <a:srgbClr val="67ADF3"/>
                </a:solidFill>
                <a:latin typeface="Microsoft JhengHei"/>
                <a:ea typeface="Microsoft JhengHei"/>
              </a:rPr>
              <a:t>Formatter</a:t>
            </a:r>
            <a:endParaRPr lang="zh-TW" altLang="en-US" sz="2000" b="1" dirty="0">
              <a:solidFill>
                <a:srgbClr val="67ADF3"/>
              </a:solidFill>
              <a:latin typeface="Microsoft JhengHei"/>
              <a:ea typeface="Microsoft JhengHei"/>
            </a:endParaRPr>
          </a:p>
        </p:txBody>
      </p:sp>
      <p:grpSp>
        <p:nvGrpSpPr>
          <p:cNvPr id="142" name="群組 141">
            <a:extLst>
              <a:ext uri="{FF2B5EF4-FFF2-40B4-BE49-F238E27FC236}">
                <a16:creationId xmlns:a16="http://schemas.microsoft.com/office/drawing/2014/main" id="{AFFB9619-73D3-D09D-B2CF-7B28060A9593}"/>
              </a:ext>
            </a:extLst>
          </p:cNvPr>
          <p:cNvGrpSpPr/>
          <p:nvPr/>
        </p:nvGrpSpPr>
        <p:grpSpPr>
          <a:xfrm>
            <a:off x="10160000" y="190500"/>
            <a:ext cx="1905000" cy="330200"/>
            <a:chOff x="10160000" y="190500"/>
            <a:chExt cx="1905000" cy="330200"/>
          </a:xfrm>
        </p:grpSpPr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B0B93CFE-DB24-44A4-99F9-55C8CCC6F71D}"/>
                </a:ext>
              </a:extLst>
            </p:cNvPr>
            <p:cNvSpPr/>
            <p:nvPr/>
          </p:nvSpPr>
          <p:spPr>
            <a:xfrm>
              <a:off x="10160000" y="190500"/>
              <a:ext cx="1905000" cy="330200"/>
            </a:xfrm>
            <a:prstGeom prst="rect">
              <a:avLst/>
            </a:prstGeom>
            <a:solidFill>
              <a:srgbClr val="7AB8F5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 sz="2400"/>
            </a:p>
          </p:txBody>
        </p:sp>
        <p:sp>
          <p:nvSpPr>
            <p:cNvPr id="110" name="文字方塊 109">
              <a:extLst>
                <a:ext uri="{FF2B5EF4-FFF2-40B4-BE49-F238E27FC236}">
                  <a16:creationId xmlns:a16="http://schemas.microsoft.com/office/drawing/2014/main" id="{A59B0C9B-DAAC-4BC3-9EDC-5B5795CAEDC3}"/>
                </a:ext>
              </a:extLst>
            </p:cNvPr>
            <p:cNvSpPr txBox="1"/>
            <p:nvPr/>
          </p:nvSpPr>
          <p:spPr>
            <a:xfrm>
              <a:off x="10160000" y="190500"/>
              <a:ext cx="974725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zh-TW" altLang="en-US" sz="1600" b="1" dirty="0">
                  <a:solidFill>
                    <a:srgbClr val="FFFFFF"/>
                  </a:solidFill>
                  <a:latin typeface="Microsoft JhengHei"/>
                  <a:ea typeface="Microsoft JhengHei"/>
                </a:rPr>
                <a:t>常駐背景</a:t>
              </a:r>
            </a:p>
          </p:txBody>
        </p:sp>
      </p:grpSp>
      <p:sp>
        <p:nvSpPr>
          <p:cNvPr id="112" name="矩形 111">
            <a:extLst>
              <a:ext uri="{FF2B5EF4-FFF2-40B4-BE49-F238E27FC236}">
                <a16:creationId xmlns:a16="http://schemas.microsoft.com/office/drawing/2014/main" id="{187B590F-8F06-4F1A-A134-EFDF61A5556F}"/>
              </a:ext>
            </a:extLst>
          </p:cNvPr>
          <p:cNvSpPr/>
          <p:nvPr/>
        </p:nvSpPr>
        <p:spPr>
          <a:xfrm>
            <a:off x="4191000" y="800100"/>
            <a:ext cx="7874000" cy="25400"/>
          </a:xfrm>
          <a:prstGeom prst="rect">
            <a:avLst/>
          </a:prstGeom>
          <a:solidFill>
            <a:srgbClr val="B2D9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03ACAC84-6EF5-4804-B63E-55C9CAA7AFD9}"/>
              </a:ext>
            </a:extLst>
          </p:cNvPr>
          <p:cNvSpPr txBox="1"/>
          <p:nvPr/>
        </p:nvSpPr>
        <p:spPr>
          <a:xfrm>
            <a:off x="4191000" y="927100"/>
            <a:ext cx="5816600" cy="1079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只有短短幾行，永遠在背景告訴 </a:t>
            </a:r>
            <a:r>
              <a:rPr lang="en-US" altLang="zh-TW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AI </a:t>
            </a:r>
            <a:r>
              <a:rPr lang="zh-TW" altLang="en-US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這個技能是做什麼的。系統啟動即載入，幾乎零成本。</a:t>
            </a:r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DF6112EF-5599-4A43-95A0-820C6044EE7C}"/>
              </a:ext>
            </a:extLst>
          </p:cNvPr>
          <p:cNvSpPr txBox="1"/>
          <p:nvPr/>
        </p:nvSpPr>
        <p:spPr>
          <a:xfrm>
            <a:off x="4343400" y="2149475"/>
            <a:ext cx="254000" cy="101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TW" altLang="en-US" sz="1000" b="1" dirty="0">
                <a:solidFill>
                  <a:srgbClr val="7AB8F5"/>
                </a:solidFill>
                <a:latin typeface="Microsoft JhengHei"/>
                <a:ea typeface="Microsoft JhengHei"/>
              </a:rPr>
              <a:t>▼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B870EC81-33E6-4C23-9816-08631CDF913F}"/>
              </a:ext>
            </a:extLst>
          </p:cNvPr>
          <p:cNvSpPr/>
          <p:nvPr/>
        </p:nvSpPr>
        <p:spPr>
          <a:xfrm>
            <a:off x="4038600" y="2235200"/>
            <a:ext cx="406400" cy="20955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B45E6F41-8AE8-454A-B0FB-F523E4F917D3}"/>
              </a:ext>
            </a:extLst>
          </p:cNvPr>
          <p:cNvSpPr/>
          <p:nvPr/>
        </p:nvSpPr>
        <p:spPr>
          <a:xfrm>
            <a:off x="4381500" y="3213100"/>
            <a:ext cx="127000" cy="127000"/>
          </a:xfrm>
          <a:prstGeom prst="rect">
            <a:avLst/>
          </a:prstGeom>
          <a:solidFill>
            <a:srgbClr val="0E50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0CEAA060-D0B3-4AE5-B8FA-005094EA17E7}"/>
              </a:ext>
            </a:extLst>
          </p:cNvPr>
          <p:cNvSpPr/>
          <p:nvPr/>
        </p:nvSpPr>
        <p:spPr>
          <a:xfrm>
            <a:off x="4445000" y="2235200"/>
            <a:ext cx="7696200" cy="2095500"/>
          </a:xfrm>
          <a:prstGeom prst="rect">
            <a:avLst/>
          </a:prstGeom>
          <a:solidFill>
            <a:srgbClr val="D8EA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53FFD6A0-B53A-429C-A7DA-0BAF8FB9F356}"/>
              </a:ext>
            </a:extLst>
          </p:cNvPr>
          <p:cNvSpPr/>
          <p:nvPr/>
        </p:nvSpPr>
        <p:spPr>
          <a:xfrm>
            <a:off x="4445000" y="2235200"/>
            <a:ext cx="101600" cy="20955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414D731-880E-4CD2-A76E-8335AE182366}"/>
              </a:ext>
            </a:extLst>
          </p:cNvPr>
          <p:cNvSpPr/>
          <p:nvPr/>
        </p:nvSpPr>
        <p:spPr>
          <a:xfrm>
            <a:off x="4521200" y="2476500"/>
            <a:ext cx="393700" cy="3175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21" name="文字方塊 120">
            <a:extLst>
              <a:ext uri="{FF2B5EF4-FFF2-40B4-BE49-F238E27FC236}">
                <a16:creationId xmlns:a16="http://schemas.microsoft.com/office/drawing/2014/main" id="{3614402F-A34D-49D8-AD7E-A039AA4B988E}"/>
              </a:ext>
            </a:extLst>
          </p:cNvPr>
          <p:cNvSpPr txBox="1"/>
          <p:nvPr/>
        </p:nvSpPr>
        <p:spPr>
          <a:xfrm>
            <a:off x="5016500" y="2444750"/>
            <a:ext cx="4902200" cy="355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altLang="zh-TW" sz="2000" b="1" dirty="0">
                <a:solidFill>
                  <a:srgbClr val="0E50CC"/>
                </a:solidFill>
                <a:latin typeface="Microsoft JhengHei"/>
                <a:ea typeface="Microsoft JhengHei"/>
              </a:rPr>
              <a:t>SKILL.md </a:t>
            </a:r>
            <a:r>
              <a:rPr lang="zh-TW" altLang="en-US" sz="2000" b="1" dirty="0">
                <a:solidFill>
                  <a:srgbClr val="0E50CC"/>
                </a:solidFill>
                <a:latin typeface="Microsoft JhengHei"/>
                <a:ea typeface="Microsoft JhengHei"/>
              </a:rPr>
              <a:t>本體</a:t>
            </a:r>
          </a:p>
        </p:txBody>
      </p:sp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14709771-8627-CFF8-3B20-9C74217A92C5}"/>
              </a:ext>
            </a:extLst>
          </p:cNvPr>
          <p:cNvGrpSpPr/>
          <p:nvPr/>
        </p:nvGrpSpPr>
        <p:grpSpPr>
          <a:xfrm>
            <a:off x="10160000" y="2362200"/>
            <a:ext cx="1905000" cy="330200"/>
            <a:chOff x="10160000" y="2362200"/>
            <a:chExt cx="1905000" cy="330200"/>
          </a:xfrm>
        </p:grpSpPr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75FF9B6E-637B-4645-AE4E-CF46EC7A9A37}"/>
                </a:ext>
              </a:extLst>
            </p:cNvPr>
            <p:cNvSpPr/>
            <p:nvPr/>
          </p:nvSpPr>
          <p:spPr>
            <a:xfrm>
              <a:off x="10160000" y="2362200"/>
              <a:ext cx="1905000" cy="330200"/>
            </a:xfrm>
            <a:prstGeom prst="rect">
              <a:avLst/>
            </a:prstGeom>
            <a:solidFill>
              <a:srgbClr val="0E50C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 sz="2400"/>
            </a:p>
          </p:txBody>
        </p:sp>
        <p:sp>
          <p:nvSpPr>
            <p:cNvPr id="123" name="文字方塊 122">
              <a:extLst>
                <a:ext uri="{FF2B5EF4-FFF2-40B4-BE49-F238E27FC236}">
                  <a16:creationId xmlns:a16="http://schemas.microsoft.com/office/drawing/2014/main" id="{A8390289-578C-456E-B157-51C1AE0B000C}"/>
                </a:ext>
              </a:extLst>
            </p:cNvPr>
            <p:cNvSpPr txBox="1"/>
            <p:nvPr/>
          </p:nvSpPr>
          <p:spPr>
            <a:xfrm>
              <a:off x="10160000" y="2362200"/>
              <a:ext cx="10414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zh-TW" altLang="en-US" sz="1600" b="1" dirty="0">
                  <a:solidFill>
                    <a:srgbClr val="FFFFFF"/>
                  </a:solidFill>
                  <a:latin typeface="Microsoft JhengHei"/>
                  <a:ea typeface="Microsoft JhengHei"/>
                </a:rPr>
                <a:t>按需讀取</a:t>
              </a:r>
            </a:p>
          </p:txBody>
        </p:sp>
      </p:grpSp>
      <p:sp>
        <p:nvSpPr>
          <p:cNvPr id="125" name="矩形 124">
            <a:extLst>
              <a:ext uri="{FF2B5EF4-FFF2-40B4-BE49-F238E27FC236}">
                <a16:creationId xmlns:a16="http://schemas.microsoft.com/office/drawing/2014/main" id="{7D9A3717-9D6F-424A-8192-B803F834D22A}"/>
              </a:ext>
            </a:extLst>
          </p:cNvPr>
          <p:cNvSpPr/>
          <p:nvPr/>
        </p:nvSpPr>
        <p:spPr>
          <a:xfrm>
            <a:off x="4622800" y="2971800"/>
            <a:ext cx="7442200" cy="254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26" name="文字方塊 125">
            <a:extLst>
              <a:ext uri="{FF2B5EF4-FFF2-40B4-BE49-F238E27FC236}">
                <a16:creationId xmlns:a16="http://schemas.microsoft.com/office/drawing/2014/main" id="{DF4E4837-8486-47B5-8B6A-801468046875}"/>
              </a:ext>
            </a:extLst>
          </p:cNvPr>
          <p:cNvSpPr txBox="1"/>
          <p:nvPr/>
        </p:nvSpPr>
        <p:spPr>
          <a:xfrm>
            <a:off x="4648200" y="3225265"/>
            <a:ext cx="5410200" cy="1079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當 </a:t>
            </a:r>
            <a:r>
              <a:rPr lang="en-US" altLang="zh-TW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AI </a:t>
            </a:r>
            <a:r>
              <a:rPr lang="zh-TW" altLang="en-US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判斷使用者需求與技能吻合，才把完整 </a:t>
            </a:r>
            <a:r>
              <a:rPr lang="en-US" altLang="zh-TW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SOP </a:t>
            </a:r>
            <a:r>
              <a:rPr lang="zh-TW" altLang="en-US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步驟讀入。</a:t>
            </a:r>
            <a:br>
              <a:rPr lang="en-US" altLang="zh-TW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</a:br>
            <a:r>
              <a:rPr lang="zh-TW" altLang="en-US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觸發後載入，中等成本。</a:t>
            </a:r>
          </a:p>
        </p:txBody>
      </p:sp>
      <p:sp>
        <p:nvSpPr>
          <p:cNvPr id="127" name="文字方塊 126">
            <a:extLst>
              <a:ext uri="{FF2B5EF4-FFF2-40B4-BE49-F238E27FC236}">
                <a16:creationId xmlns:a16="http://schemas.microsoft.com/office/drawing/2014/main" id="{55F3940D-3B20-4D34-BA13-94ABF5E11E9A}"/>
              </a:ext>
            </a:extLst>
          </p:cNvPr>
          <p:cNvSpPr txBox="1"/>
          <p:nvPr/>
        </p:nvSpPr>
        <p:spPr>
          <a:xfrm>
            <a:off x="4775200" y="4330700"/>
            <a:ext cx="254000" cy="101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TW" altLang="en-US" sz="1000" b="1" dirty="0">
                <a:solidFill>
                  <a:srgbClr val="0E50CC"/>
                </a:solidFill>
                <a:latin typeface="Microsoft JhengHei"/>
                <a:ea typeface="Microsoft JhengHei"/>
              </a:rPr>
              <a:t>▼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32174D53-86FA-44B6-952E-6EB1AC77BE8F}"/>
              </a:ext>
            </a:extLst>
          </p:cNvPr>
          <p:cNvSpPr/>
          <p:nvPr/>
        </p:nvSpPr>
        <p:spPr>
          <a:xfrm>
            <a:off x="4038600" y="4406900"/>
            <a:ext cx="781048" cy="21717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F0A2ACA7-A7E5-4213-8E52-0492F86B8A38}"/>
              </a:ext>
            </a:extLst>
          </p:cNvPr>
          <p:cNvSpPr/>
          <p:nvPr/>
        </p:nvSpPr>
        <p:spPr>
          <a:xfrm>
            <a:off x="4787900" y="5384800"/>
            <a:ext cx="127000" cy="127000"/>
          </a:xfrm>
          <a:prstGeom prst="rect">
            <a:avLst/>
          </a:prstGeom>
          <a:solidFill>
            <a:srgbClr val="05288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58114DF6-317D-4582-8207-D0F08298D7A1}"/>
              </a:ext>
            </a:extLst>
          </p:cNvPr>
          <p:cNvSpPr/>
          <p:nvPr/>
        </p:nvSpPr>
        <p:spPr>
          <a:xfrm>
            <a:off x="4851400" y="4464050"/>
            <a:ext cx="7289800" cy="2095500"/>
          </a:xfrm>
          <a:prstGeom prst="rect">
            <a:avLst/>
          </a:prstGeom>
          <a:solidFill>
            <a:srgbClr val="C0D8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D2EDE4A6-6515-46CC-8AE1-6A98BAE3E3F0}"/>
              </a:ext>
            </a:extLst>
          </p:cNvPr>
          <p:cNvSpPr/>
          <p:nvPr/>
        </p:nvSpPr>
        <p:spPr>
          <a:xfrm>
            <a:off x="4851399" y="4406900"/>
            <a:ext cx="111125" cy="2152650"/>
          </a:xfrm>
          <a:prstGeom prst="rect">
            <a:avLst/>
          </a:prstGeom>
          <a:solidFill>
            <a:srgbClr val="0843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5DB2424B-D771-4493-82BF-1BE3DCF6EC7C}"/>
              </a:ext>
            </a:extLst>
          </p:cNvPr>
          <p:cNvSpPr/>
          <p:nvPr/>
        </p:nvSpPr>
        <p:spPr>
          <a:xfrm>
            <a:off x="4914900" y="4648200"/>
            <a:ext cx="431798" cy="323850"/>
          </a:xfrm>
          <a:prstGeom prst="rect">
            <a:avLst/>
          </a:prstGeom>
          <a:solidFill>
            <a:srgbClr val="0843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ED7915C7-4908-4CCC-9135-31337CF0889F}"/>
              </a:ext>
            </a:extLst>
          </p:cNvPr>
          <p:cNvSpPr txBox="1"/>
          <p:nvPr/>
        </p:nvSpPr>
        <p:spPr>
          <a:xfrm>
            <a:off x="5429248" y="4597400"/>
            <a:ext cx="4495800" cy="355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altLang="zh-TW" sz="2000" b="1" dirty="0">
                <a:solidFill>
                  <a:srgbClr val="052880"/>
                </a:solidFill>
                <a:latin typeface="Microsoft JhengHei"/>
                <a:ea typeface="Microsoft JhengHei"/>
              </a:rPr>
              <a:t>scripts/ &amp; references/</a:t>
            </a:r>
            <a:endParaRPr lang="zh-TW" altLang="en-US" sz="2000" b="1" dirty="0">
              <a:solidFill>
                <a:srgbClr val="052880"/>
              </a:solidFill>
              <a:latin typeface="Microsoft JhengHei"/>
              <a:ea typeface="Microsoft JhengHei"/>
            </a:endParaRPr>
          </a:p>
        </p:txBody>
      </p:sp>
      <p:grpSp>
        <p:nvGrpSpPr>
          <p:cNvPr id="144" name="群組 143">
            <a:extLst>
              <a:ext uri="{FF2B5EF4-FFF2-40B4-BE49-F238E27FC236}">
                <a16:creationId xmlns:a16="http://schemas.microsoft.com/office/drawing/2014/main" id="{DD52583F-AE1F-9BBF-8DCD-5E84CCDC1FC0}"/>
              </a:ext>
            </a:extLst>
          </p:cNvPr>
          <p:cNvGrpSpPr/>
          <p:nvPr/>
        </p:nvGrpSpPr>
        <p:grpSpPr>
          <a:xfrm>
            <a:off x="10160000" y="4533900"/>
            <a:ext cx="1905000" cy="330200"/>
            <a:chOff x="10160000" y="4533900"/>
            <a:chExt cx="1905000" cy="330200"/>
          </a:xfrm>
        </p:grpSpPr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A130B4D7-9338-40B1-802E-9758E336B3B7}"/>
                </a:ext>
              </a:extLst>
            </p:cNvPr>
            <p:cNvSpPr/>
            <p:nvPr/>
          </p:nvSpPr>
          <p:spPr>
            <a:xfrm>
              <a:off x="10160000" y="4533900"/>
              <a:ext cx="1905000" cy="330200"/>
            </a:xfrm>
            <a:prstGeom prst="rect">
              <a:avLst/>
            </a:prstGeom>
            <a:solidFill>
              <a:srgbClr val="052880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/>
            </a:p>
          </p:txBody>
        </p:sp>
        <p:sp>
          <p:nvSpPr>
            <p:cNvPr id="136" name="文字方塊 135">
              <a:extLst>
                <a:ext uri="{FF2B5EF4-FFF2-40B4-BE49-F238E27FC236}">
                  <a16:creationId xmlns:a16="http://schemas.microsoft.com/office/drawing/2014/main" id="{29373D01-FF56-4F39-8FD0-85924E83C420}"/>
                </a:ext>
              </a:extLst>
            </p:cNvPr>
            <p:cNvSpPr txBox="1"/>
            <p:nvPr/>
          </p:nvSpPr>
          <p:spPr>
            <a:xfrm>
              <a:off x="10160000" y="4533900"/>
              <a:ext cx="12700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zh-TW" altLang="en-US" sz="1600" b="1" dirty="0">
                  <a:solidFill>
                    <a:srgbClr val="FFFFFF"/>
                  </a:solidFill>
                  <a:latin typeface="Microsoft JhengHei"/>
                  <a:ea typeface="Microsoft JhengHei"/>
                </a:rPr>
                <a:t>執行時載入</a:t>
              </a:r>
            </a:p>
          </p:txBody>
        </p:sp>
      </p:grpSp>
      <p:sp>
        <p:nvSpPr>
          <p:cNvPr id="138" name="矩形 137">
            <a:extLst>
              <a:ext uri="{FF2B5EF4-FFF2-40B4-BE49-F238E27FC236}">
                <a16:creationId xmlns:a16="http://schemas.microsoft.com/office/drawing/2014/main" id="{E66311AD-AB8D-4F00-86E8-B810B7175A4F}"/>
              </a:ext>
            </a:extLst>
          </p:cNvPr>
          <p:cNvSpPr/>
          <p:nvPr/>
        </p:nvSpPr>
        <p:spPr>
          <a:xfrm>
            <a:off x="5054600" y="5143500"/>
            <a:ext cx="7010400" cy="25400"/>
          </a:xfrm>
          <a:prstGeom prst="rect">
            <a:avLst/>
          </a:prstGeom>
          <a:solidFill>
            <a:srgbClr val="0843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9" name="文字方塊 138">
            <a:extLst>
              <a:ext uri="{FF2B5EF4-FFF2-40B4-BE49-F238E27FC236}">
                <a16:creationId xmlns:a16="http://schemas.microsoft.com/office/drawing/2014/main" id="{C705668F-8642-4D16-8961-6597D305483D}"/>
              </a:ext>
            </a:extLst>
          </p:cNvPr>
          <p:cNvSpPr txBox="1"/>
          <p:nvPr/>
        </p:nvSpPr>
        <p:spPr>
          <a:xfrm>
            <a:off x="5059362" y="5445125"/>
            <a:ext cx="5003800" cy="10795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走到特定步驟時才去跑 </a:t>
            </a:r>
            <a:r>
              <a:rPr lang="en-US" altLang="zh-TW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Python </a:t>
            </a:r>
            <a:r>
              <a:rPr lang="zh-TW" altLang="en-US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腳本或查閱長篇參考文件。</a:t>
            </a:r>
            <a:br>
              <a:rPr lang="en-US" altLang="zh-TW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</a:br>
            <a:r>
              <a:rPr lang="zh-TW" altLang="en-US" sz="1400" b="1" dirty="0">
                <a:solidFill>
                  <a:srgbClr val="333333"/>
                </a:solidFill>
                <a:latin typeface="Microsoft JhengHei"/>
                <a:ea typeface="Microsoft JhengHei"/>
              </a:rPr>
              <a:t>按需求呼叫。</a:t>
            </a: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FF572B9D-9373-27DF-0414-8A430DCEE141}"/>
              </a:ext>
            </a:extLst>
          </p:cNvPr>
          <p:cNvSpPr/>
          <p:nvPr/>
        </p:nvSpPr>
        <p:spPr>
          <a:xfrm>
            <a:off x="329063" y="2774908"/>
            <a:ext cx="2057400" cy="330200"/>
          </a:xfrm>
          <a:prstGeom prst="rect">
            <a:avLst/>
          </a:prstGeom>
          <a:solidFill>
            <a:srgbClr val="F758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以前的痛點</a:t>
            </a:r>
          </a:p>
        </p:txBody>
      </p:sp>
      <p:sp>
        <p:nvSpPr>
          <p:cNvPr id="145" name="文字方塊 144">
            <a:extLst>
              <a:ext uri="{FF2B5EF4-FFF2-40B4-BE49-F238E27FC236}">
                <a16:creationId xmlns:a16="http://schemas.microsoft.com/office/drawing/2014/main" id="{042C2C11-CCD4-2641-B466-EE12BE5785AA}"/>
              </a:ext>
            </a:extLst>
          </p:cNvPr>
          <p:cNvSpPr txBox="1"/>
          <p:nvPr/>
        </p:nvSpPr>
        <p:spPr>
          <a:xfrm>
            <a:off x="127000" y="228734"/>
            <a:ext cx="1016000" cy="889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altLang="zh-TW" sz="4000" b="1" dirty="0">
                <a:solidFill>
                  <a:srgbClr val="186AFF"/>
                </a:solidFill>
                <a:latin typeface="Microsoft JhengHei"/>
                <a:ea typeface="Microsoft JhengHei"/>
              </a:rPr>
              <a:t>02</a:t>
            </a:r>
            <a:endParaRPr lang="zh-TW" altLang="en-US" sz="4000" b="1" dirty="0">
              <a:solidFill>
                <a:srgbClr val="186AFF"/>
              </a:solidFill>
              <a:latin typeface="Microsoft JhengHei"/>
              <a:ea typeface="Microsoft JhengHei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F23F8C7-81C8-460C-DDA5-07529E5A9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173" y="-20273"/>
            <a:ext cx="83329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754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9234851-F396-4222-A900-516C55B92730}"/>
              </a:ext>
            </a:extLst>
          </p:cNvPr>
          <p:cNvSpPr/>
          <p:nvPr/>
        </p:nvSpPr>
        <p:spPr>
          <a:xfrm>
            <a:off x="31750" y="170522"/>
            <a:ext cx="12192000" cy="6858000"/>
          </a:xfrm>
          <a:prstGeom prst="rect">
            <a:avLst/>
          </a:prstGeom>
          <a:solidFill>
            <a:srgbClr val="0F19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D47354-8F2E-4533-8265-7C87530CD4F0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F61699-01C5-4525-A531-5B1B7C1D8955}"/>
              </a:ext>
            </a:extLst>
          </p:cNvPr>
          <p:cNvSpPr/>
          <p:nvPr/>
        </p:nvSpPr>
        <p:spPr>
          <a:xfrm>
            <a:off x="0" y="6578600"/>
            <a:ext cx="4064000" cy="279400"/>
          </a:xfrm>
          <a:prstGeom prst="rect">
            <a:avLst/>
          </a:prstGeom>
          <a:solidFill>
            <a:srgbClr val="0D22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7242AA-53C4-4CC7-B226-FAEA8FEDC7B5}"/>
              </a:ext>
            </a:extLst>
          </p:cNvPr>
          <p:cNvSpPr/>
          <p:nvPr/>
        </p:nvSpPr>
        <p:spPr>
          <a:xfrm>
            <a:off x="4064000" y="6578600"/>
            <a:ext cx="4064000" cy="2794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09A39E-F21B-4D5B-976D-6CAAA2DEC6AF}"/>
              </a:ext>
            </a:extLst>
          </p:cNvPr>
          <p:cNvSpPr/>
          <p:nvPr/>
        </p:nvSpPr>
        <p:spPr>
          <a:xfrm>
            <a:off x="8128000" y="6578600"/>
            <a:ext cx="4064000" cy="279400"/>
          </a:xfrm>
          <a:prstGeom prst="rect">
            <a:avLst/>
          </a:prstGeom>
          <a:solidFill>
            <a:srgbClr val="08206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2E286C-E256-462B-9C3E-38E32A9E31D9}"/>
              </a:ext>
            </a:extLst>
          </p:cNvPr>
          <p:cNvSpPr/>
          <p:nvPr/>
        </p:nvSpPr>
        <p:spPr>
          <a:xfrm>
            <a:off x="0" y="63500"/>
            <a:ext cx="63500" cy="65151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4FF857D-2F9F-4E35-A6B9-500798F4546D}"/>
              </a:ext>
            </a:extLst>
          </p:cNvPr>
          <p:cNvSpPr txBox="1"/>
          <p:nvPr/>
        </p:nvSpPr>
        <p:spPr>
          <a:xfrm>
            <a:off x="230708" y="1438681"/>
            <a:ext cx="2815374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00" b="1" dirty="0">
                <a:solidFill>
                  <a:srgbClr val="82DFE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每個 </a:t>
            </a:r>
            <a:r>
              <a:rPr lang="en-US" altLang="zh-TW" sz="1600" b="1" dirty="0">
                <a:solidFill>
                  <a:srgbClr val="82DFE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Skill </a:t>
            </a:r>
            <a:r>
              <a:rPr lang="zh-TW" altLang="en-US" sz="1600" b="1" dirty="0">
                <a:solidFill>
                  <a:srgbClr val="82DFE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是一個標準資夾</a:t>
            </a:r>
          </a:p>
        </p:txBody>
      </p:sp>
      <p:grpSp>
        <p:nvGrpSpPr>
          <p:cNvPr id="66" name="群組 65">
            <a:extLst>
              <a:ext uri="{FF2B5EF4-FFF2-40B4-BE49-F238E27FC236}">
                <a16:creationId xmlns:a16="http://schemas.microsoft.com/office/drawing/2014/main" id="{42446FB8-ADF2-4788-E8D3-FE7C0BAC451B}"/>
              </a:ext>
            </a:extLst>
          </p:cNvPr>
          <p:cNvGrpSpPr/>
          <p:nvPr/>
        </p:nvGrpSpPr>
        <p:grpSpPr>
          <a:xfrm>
            <a:off x="2752014" y="1777235"/>
            <a:ext cx="6687971" cy="4617432"/>
            <a:chOff x="3685819" y="1604913"/>
            <a:chExt cx="4506500" cy="3320859"/>
          </a:xfrm>
        </p:grpSpPr>
        <p:sp>
          <p:nvSpPr>
            <p:cNvPr id="65" name="Rounded Rectangle 3">
              <a:extLst>
                <a:ext uri="{FF2B5EF4-FFF2-40B4-BE49-F238E27FC236}">
                  <a16:creationId xmlns:a16="http://schemas.microsoft.com/office/drawing/2014/main" id="{DBB1C7AC-4492-03B9-CEB6-C4CFCB0FAD64}"/>
                </a:ext>
              </a:extLst>
            </p:cNvPr>
            <p:cNvSpPr/>
            <p:nvPr/>
          </p:nvSpPr>
          <p:spPr>
            <a:xfrm>
              <a:off x="3685819" y="1604913"/>
              <a:ext cx="4506500" cy="3320859"/>
            </a:xfrm>
            <a:prstGeom prst="round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4">
              <a:extLst>
                <a:ext uri="{FF2B5EF4-FFF2-40B4-BE49-F238E27FC236}">
                  <a16:creationId xmlns:a16="http://schemas.microsoft.com/office/drawing/2014/main" id="{90BFD01B-1B71-01AB-533D-367CBA6D1AF7}"/>
                </a:ext>
              </a:extLst>
            </p:cNvPr>
            <p:cNvSpPr txBox="1"/>
            <p:nvPr/>
          </p:nvSpPr>
          <p:spPr>
            <a:xfrm>
              <a:off x="3935730" y="1749128"/>
              <a:ext cx="4206240" cy="26857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00"/>
                </a:spcAft>
                <a:defRPr sz="1300">
                  <a:solidFill>
                    <a:srgbClr val="CCCCCC"/>
                  </a:solidFill>
                  <a:latin typeface="Consolas"/>
                </a:defRPr>
              </a:pPr>
              <a:r>
                <a:rPr sz="2000" dirty="0"/>
                <a:t>.</a:t>
              </a:r>
              <a:r>
                <a:rPr sz="2000" dirty="0" err="1"/>
                <a:t>github</a:t>
              </a:r>
              <a:r>
                <a:rPr sz="2000" dirty="0"/>
                <a:t>/</a:t>
              </a:r>
            </a:p>
            <a:p>
              <a:pPr>
                <a:spcAft>
                  <a:spcPts val="200"/>
                </a:spcAft>
                <a:defRPr sz="1300">
                  <a:solidFill>
                    <a:srgbClr val="82DFE8"/>
                  </a:solidFill>
                  <a:latin typeface="Consolas"/>
                </a:defRPr>
              </a:pPr>
              <a:r>
                <a:rPr sz="2000" dirty="0"/>
                <a:t>  ├── </a:t>
              </a:r>
              <a:r>
                <a:rPr lang="en-US" sz="2000" dirty="0"/>
                <a:t>skills</a:t>
              </a:r>
              <a:r>
                <a:rPr sz="2000" dirty="0"/>
                <a:t>/</a:t>
              </a:r>
            </a:p>
            <a:p>
              <a:pPr>
                <a:spcAft>
                  <a:spcPts val="200"/>
                </a:spcAft>
                <a:defRPr sz="1300">
                  <a:solidFill>
                    <a:srgbClr val="82DFE8"/>
                  </a:solidFill>
                  <a:latin typeface="Consolas"/>
                </a:defRPr>
              </a:pPr>
              <a:r>
                <a:rPr sz="2000" dirty="0"/>
                <a:t>  │ </a:t>
              </a:r>
              <a:r>
                <a:rPr lang="en-US" sz="2000" dirty="0"/>
                <a:t>  </a:t>
              </a:r>
              <a:r>
                <a:rPr lang="zh-TW" altLang="en-US" sz="2000" dirty="0"/>
                <a:t>└──</a:t>
              </a:r>
              <a:r>
                <a:rPr lang="en-US" sz="2000" dirty="0"/>
                <a:t> code-review/</a:t>
              </a:r>
              <a:endParaRPr sz="2000" dirty="0"/>
            </a:p>
            <a:p>
              <a:pPr>
                <a:spcAft>
                  <a:spcPts val="200"/>
                </a:spcAft>
                <a:defRPr sz="1300">
                  <a:solidFill>
                    <a:srgbClr val="82DFE8"/>
                  </a:solidFill>
                  <a:latin typeface="Consolas"/>
                </a:defRPr>
              </a:pPr>
              <a:r>
                <a:rPr sz="2000" dirty="0"/>
                <a:t>  │   </a:t>
              </a:r>
              <a:r>
                <a:rPr lang="en-US" sz="2000" dirty="0"/>
                <a:t>    </a:t>
              </a:r>
              <a:r>
                <a:rPr sz="2000" dirty="0"/>
                <a:t>└── </a:t>
              </a:r>
              <a:r>
                <a:rPr lang="en-US" sz="2000" dirty="0">
                  <a:solidFill>
                    <a:srgbClr val="FFFF00"/>
                  </a:solidFill>
                </a:rPr>
                <a:t>SKILL</a:t>
              </a:r>
              <a:r>
                <a:rPr sz="2000" dirty="0">
                  <a:solidFill>
                    <a:srgbClr val="FFFF00"/>
                  </a:solidFill>
                </a:rPr>
                <a:t>.md</a:t>
              </a:r>
              <a:endParaRPr lang="en-US" sz="2000" dirty="0">
                <a:solidFill>
                  <a:srgbClr val="FFFF00"/>
                </a:solidFill>
              </a:endParaRPr>
            </a:p>
            <a:p>
              <a:pPr>
                <a:spcAft>
                  <a:spcPts val="200"/>
                </a:spcAft>
                <a:defRPr sz="1300">
                  <a:solidFill>
                    <a:srgbClr val="82DFE8"/>
                  </a:solidFill>
                  <a:latin typeface="Consolas"/>
                </a:defRPr>
              </a:pPr>
              <a:r>
                <a:rPr lang="en-US" altLang="zh-TW" sz="2000" dirty="0"/>
                <a:t>  │       └── scripts/</a:t>
              </a:r>
            </a:p>
            <a:p>
              <a:pPr>
                <a:spcAft>
                  <a:spcPts val="200"/>
                </a:spcAft>
                <a:defRPr sz="1300">
                  <a:solidFill>
                    <a:srgbClr val="82DFE8"/>
                  </a:solidFill>
                  <a:latin typeface="Consolas"/>
                </a:defRPr>
              </a:pPr>
              <a:r>
                <a:rPr lang="en-US" altLang="zh-TW" sz="2000" dirty="0"/>
                <a:t> </a:t>
              </a:r>
              <a:r>
                <a:rPr lang="zh-TW" altLang="en-US" sz="2000" dirty="0"/>
                <a:t> </a:t>
              </a:r>
              <a:r>
                <a:rPr lang="en-US" altLang="zh-TW" sz="2000" dirty="0"/>
                <a:t>│       </a:t>
              </a:r>
              <a:r>
                <a:rPr lang="zh-TW" altLang="en-US" sz="2000" dirty="0"/>
                <a:t>    </a:t>
              </a:r>
              <a:r>
                <a:rPr lang="en-US" altLang="zh-TW" sz="2000" dirty="0"/>
                <a:t>└── python/</a:t>
              </a:r>
            </a:p>
            <a:p>
              <a:pPr>
                <a:spcAft>
                  <a:spcPts val="200"/>
                </a:spcAft>
                <a:defRPr sz="1300">
                  <a:solidFill>
                    <a:srgbClr val="82DFE8"/>
                  </a:solidFill>
                  <a:latin typeface="Consolas"/>
                </a:defRPr>
              </a:pPr>
              <a:r>
                <a:rPr lang="zh-TW" altLang="en-US" sz="2000" dirty="0"/>
                <a:t>  </a:t>
              </a:r>
              <a:r>
                <a:rPr lang="en-US" altLang="zh-TW" sz="2000" dirty="0"/>
                <a:t>│       </a:t>
              </a:r>
              <a:r>
                <a:rPr lang="zh-TW" altLang="en-US" sz="2000" dirty="0"/>
                <a:t>        </a:t>
              </a:r>
              <a:r>
                <a:rPr lang="en-US" altLang="zh-TW" sz="2000" dirty="0"/>
                <a:t>└── check_nulls.py</a:t>
              </a:r>
            </a:p>
            <a:p>
              <a:pPr>
                <a:spcAft>
                  <a:spcPts val="200"/>
                </a:spcAft>
                <a:defRPr sz="1300">
                  <a:solidFill>
                    <a:srgbClr val="82DFE8"/>
                  </a:solidFill>
                  <a:latin typeface="Consolas"/>
                </a:defRPr>
              </a:pPr>
              <a:r>
                <a:rPr lang="zh-TW" altLang="en-US" sz="2000" dirty="0"/>
                <a:t>  </a:t>
              </a:r>
              <a:r>
                <a:rPr lang="en-US" altLang="zh-TW" sz="2000" dirty="0"/>
                <a:t>│       </a:t>
              </a:r>
              <a:r>
                <a:rPr lang="zh-TW" altLang="en-US" sz="2000" dirty="0"/>
                <a:t>    </a:t>
              </a:r>
              <a:r>
                <a:rPr lang="en-US" altLang="zh-TW" sz="2000" dirty="0"/>
                <a:t>└── sql/</a:t>
              </a:r>
            </a:p>
            <a:p>
              <a:pPr>
                <a:spcAft>
                  <a:spcPts val="200"/>
                </a:spcAft>
                <a:defRPr sz="1300">
                  <a:solidFill>
                    <a:srgbClr val="82DFE8"/>
                  </a:solidFill>
                  <a:latin typeface="Consolas"/>
                </a:defRPr>
              </a:pPr>
              <a:r>
                <a:rPr lang="zh-TW" altLang="en-US" sz="2000" dirty="0"/>
                <a:t>  </a:t>
              </a:r>
              <a:r>
                <a:rPr lang="en-US" altLang="zh-TW" sz="2000" dirty="0"/>
                <a:t>│       </a:t>
              </a:r>
              <a:r>
                <a:rPr lang="zh-TW" altLang="en-US" sz="2000" dirty="0"/>
                <a:t>    </a:t>
              </a:r>
              <a:r>
                <a:rPr lang="en-US" altLang="zh-TW" sz="2000" dirty="0"/>
                <a:t>    └── </a:t>
              </a:r>
              <a:r>
                <a:rPr lang="en-US" altLang="zh-TW" sz="2000" dirty="0" err="1"/>
                <a:t>validate_schema.sql</a:t>
              </a:r>
              <a:endParaRPr lang="en-US" altLang="zh-TW" sz="2000" dirty="0"/>
            </a:p>
            <a:p>
              <a:pPr>
                <a:spcAft>
                  <a:spcPts val="200"/>
                </a:spcAft>
                <a:defRPr sz="1300">
                  <a:solidFill>
                    <a:srgbClr val="82DFE8"/>
                  </a:solidFill>
                  <a:latin typeface="Consolas"/>
                </a:defRPr>
              </a:pPr>
              <a:r>
                <a:rPr lang="zh-TW" altLang="en-US" sz="2000" dirty="0"/>
                <a:t>  </a:t>
              </a:r>
              <a:r>
                <a:rPr lang="en-US" altLang="zh-TW" sz="2000" dirty="0"/>
                <a:t>│       └── references/</a:t>
              </a:r>
            </a:p>
            <a:p>
              <a:pPr>
                <a:spcAft>
                  <a:spcPts val="200"/>
                </a:spcAft>
                <a:defRPr sz="1300">
                  <a:solidFill>
                    <a:srgbClr val="82DFE8"/>
                  </a:solidFill>
                  <a:latin typeface="Consolas"/>
                </a:defRPr>
              </a:pPr>
              <a:r>
                <a:rPr lang="zh-TW" altLang="en-US" sz="2000" dirty="0"/>
                <a:t>  </a:t>
              </a:r>
              <a:r>
                <a:rPr lang="en-US" altLang="zh-TW" sz="2000" dirty="0"/>
                <a:t>│       </a:t>
              </a:r>
              <a:r>
                <a:rPr lang="zh-TW" altLang="en-US" sz="2000" dirty="0"/>
                <a:t>    </a:t>
              </a:r>
              <a:r>
                <a:rPr lang="en-US" altLang="zh-TW" sz="2000" dirty="0"/>
                <a:t>└── report-layout.md</a:t>
              </a:r>
              <a:endParaRPr sz="2000" dirty="0"/>
            </a:p>
          </p:txBody>
        </p:sp>
      </p:grpSp>
      <p:sp>
        <p:nvSpPr>
          <p:cNvPr id="69" name="矩形 68">
            <a:extLst>
              <a:ext uri="{FF2B5EF4-FFF2-40B4-BE49-F238E27FC236}">
                <a16:creationId xmlns:a16="http://schemas.microsoft.com/office/drawing/2014/main" id="{2AA4CE18-274A-01C7-FF81-F841840F881E}"/>
              </a:ext>
            </a:extLst>
          </p:cNvPr>
          <p:cNvSpPr/>
          <p:nvPr/>
        </p:nvSpPr>
        <p:spPr>
          <a:xfrm>
            <a:off x="63500" y="0"/>
            <a:ext cx="12128500" cy="1165860"/>
          </a:xfrm>
          <a:prstGeom prst="rect">
            <a:avLst/>
          </a:prstGeom>
          <a:solidFill>
            <a:srgbClr val="041A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113B47AD-461E-34B9-964F-35D4AD7E0C61}"/>
              </a:ext>
            </a:extLst>
          </p:cNvPr>
          <p:cNvGrpSpPr/>
          <p:nvPr/>
        </p:nvGrpSpPr>
        <p:grpSpPr>
          <a:xfrm>
            <a:off x="95250" y="253626"/>
            <a:ext cx="3933825" cy="889000"/>
            <a:chOff x="130175" y="307289"/>
            <a:chExt cx="3933825" cy="889000"/>
          </a:xfrm>
        </p:grpSpPr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005E5C22-4614-40C4-8873-E67C8410FFDE}"/>
                </a:ext>
              </a:extLst>
            </p:cNvPr>
            <p:cNvSpPr txBox="1"/>
            <p:nvPr/>
          </p:nvSpPr>
          <p:spPr>
            <a:xfrm>
              <a:off x="866140" y="421106"/>
              <a:ext cx="3197860" cy="52322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en-US" altLang="zh-TW" sz="28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SKILL </a:t>
              </a:r>
              <a:r>
                <a:rPr lang="zh-TW" altLang="en-US" sz="28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資料夾結構</a:t>
              </a:r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4CF07420-B976-A53E-3EF2-C0CB6089F528}"/>
                </a:ext>
              </a:extLst>
            </p:cNvPr>
            <p:cNvSpPr txBox="1"/>
            <p:nvPr/>
          </p:nvSpPr>
          <p:spPr>
            <a:xfrm>
              <a:off x="130175" y="307289"/>
              <a:ext cx="1016000" cy="889000"/>
            </a:xfrm>
            <a:prstGeom prst="rect">
              <a:avLst/>
            </a:prstGeom>
            <a:noFill/>
          </p:spPr>
          <p:txBody>
            <a:bodyPr vertOverflow="overflow" vert="horz" wrap="none" rtlCol="0" anchor="t" anchorCtr="0">
              <a:noAutofit/>
            </a:bodyPr>
            <a:lstStyle/>
            <a:p>
              <a:pPr algn="l"/>
              <a:r>
                <a:rPr lang="en-US" altLang="zh-TW" sz="4000" b="1" dirty="0">
                  <a:solidFill>
                    <a:srgbClr val="186AFF"/>
                  </a:solidFill>
                  <a:latin typeface="Microsoft JhengHei"/>
                  <a:ea typeface="Microsoft JhengHei"/>
                </a:rPr>
                <a:t>02</a:t>
              </a:r>
              <a:endParaRPr lang="zh-TW" altLang="en-US" sz="4000" b="1" dirty="0">
                <a:solidFill>
                  <a:srgbClr val="186AFF"/>
                </a:solidFill>
                <a:latin typeface="Microsoft JhengHei"/>
                <a:ea typeface="Microsoft JhengHei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D7262894-9962-CDCC-A1F4-E9DA4A1D2634}"/>
                </a:ext>
              </a:extLst>
            </p:cNvPr>
            <p:cNvSpPr/>
            <p:nvPr/>
          </p:nvSpPr>
          <p:spPr>
            <a:xfrm flipV="1">
              <a:off x="346075" y="993339"/>
              <a:ext cx="3197860" cy="45719"/>
            </a:xfrm>
            <a:prstGeom prst="rect">
              <a:avLst/>
            </a:prstGeom>
            <a:solidFill>
              <a:srgbClr val="FFD600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1798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8EB57E45-8053-4D11-B6F2-99382CF31B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08DC94E-3B00-47F3-B165-CED9E6A34911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587F3A5-1356-43C9-89A9-B67E86469A59}"/>
              </a:ext>
            </a:extLst>
          </p:cNvPr>
          <p:cNvSpPr/>
          <p:nvPr/>
        </p:nvSpPr>
        <p:spPr>
          <a:xfrm>
            <a:off x="0" y="6578600"/>
            <a:ext cx="4064000" cy="2794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8BD04A1-F451-423A-ABC0-3AA1D7E407DE}"/>
              </a:ext>
            </a:extLst>
          </p:cNvPr>
          <p:cNvSpPr/>
          <p:nvPr/>
        </p:nvSpPr>
        <p:spPr>
          <a:xfrm>
            <a:off x="4064000" y="6578600"/>
            <a:ext cx="4064000" cy="2794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E5F8DDB-0317-4BB1-B3A5-E98F2E4A7224}"/>
              </a:ext>
            </a:extLst>
          </p:cNvPr>
          <p:cNvSpPr/>
          <p:nvPr/>
        </p:nvSpPr>
        <p:spPr>
          <a:xfrm>
            <a:off x="8128000" y="6578600"/>
            <a:ext cx="4064000" cy="279400"/>
          </a:xfrm>
          <a:prstGeom prst="rect">
            <a:avLst/>
          </a:prstGeom>
          <a:solidFill>
            <a:srgbClr val="0843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FD40742-0061-47A1-BC4C-7A4CF016F517}"/>
              </a:ext>
            </a:extLst>
          </p:cNvPr>
          <p:cNvSpPr/>
          <p:nvPr/>
        </p:nvSpPr>
        <p:spPr>
          <a:xfrm>
            <a:off x="0" y="0"/>
            <a:ext cx="12192000" cy="1079500"/>
          </a:xfrm>
          <a:prstGeom prst="rect">
            <a:avLst/>
          </a:prstGeom>
          <a:solidFill>
            <a:srgbClr val="041A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62D9BDAA-AD87-410C-8FC9-C4853ABBB3D9}"/>
              </a:ext>
            </a:extLst>
          </p:cNvPr>
          <p:cNvSpPr txBox="1"/>
          <p:nvPr/>
        </p:nvSpPr>
        <p:spPr>
          <a:xfrm>
            <a:off x="850900" y="162059"/>
            <a:ext cx="11176000" cy="584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TW" altLang="en-US" sz="2400" b="1" dirty="0">
                <a:solidFill>
                  <a:srgbClr val="FFFFFF"/>
                </a:solidFill>
                <a:latin typeface="Microsoft JhengHei"/>
                <a:ea typeface="Microsoft JhengHei"/>
              </a:rPr>
              <a:t>把模糊的指令，變成有畫面的「檢查清單」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8DDDF4BE-A39E-4843-AFF4-3BFB1F5070DF}"/>
              </a:ext>
            </a:extLst>
          </p:cNvPr>
          <p:cNvSpPr txBox="1"/>
          <p:nvPr/>
        </p:nvSpPr>
        <p:spPr>
          <a:xfrm>
            <a:off x="850900" y="670059"/>
            <a:ext cx="11176000" cy="355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zh-TW" altLang="en-US" sz="1500" b="1" dirty="0">
                <a:solidFill>
                  <a:srgbClr val="82DFE8"/>
                </a:solidFill>
                <a:latin typeface="Microsoft JhengHei"/>
                <a:ea typeface="Microsoft JhengHei"/>
              </a:rPr>
              <a:t>寫 </a:t>
            </a:r>
            <a:r>
              <a:rPr lang="en-US" altLang="zh-TW" sz="1500" b="1" dirty="0">
                <a:solidFill>
                  <a:srgbClr val="82DFE8"/>
                </a:solidFill>
                <a:latin typeface="Microsoft JhengHei"/>
                <a:ea typeface="Microsoft JhengHei"/>
              </a:rPr>
              <a:t>SKILL.md </a:t>
            </a:r>
            <a:r>
              <a:rPr lang="zh-TW" altLang="en-US" sz="1500" b="1" dirty="0">
                <a:solidFill>
                  <a:srgbClr val="82DFE8"/>
                </a:solidFill>
                <a:latin typeface="Microsoft JhengHei"/>
                <a:ea typeface="Microsoft JhengHei"/>
              </a:rPr>
              <a:t>最重要的一步：把人話轉成具體步驟（</a:t>
            </a:r>
            <a:r>
              <a:rPr lang="en-US" altLang="zh-TW" sz="1500" b="1" dirty="0">
                <a:solidFill>
                  <a:srgbClr val="82DFE8"/>
                </a:solidFill>
                <a:latin typeface="Microsoft JhengHei"/>
                <a:ea typeface="Microsoft JhengHei"/>
              </a:rPr>
              <a:t>SOP</a:t>
            </a:r>
            <a:r>
              <a:rPr lang="zh-TW" altLang="en-US" sz="1500" b="1" dirty="0">
                <a:solidFill>
                  <a:srgbClr val="82DFE8"/>
                </a:solidFill>
                <a:latin typeface="Microsoft JhengHei"/>
                <a:ea typeface="Microsoft JhengHei"/>
              </a:rPr>
              <a:t>）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181DF55-157D-441B-B931-4730CFCCA60F}"/>
              </a:ext>
            </a:extLst>
          </p:cNvPr>
          <p:cNvSpPr/>
          <p:nvPr/>
        </p:nvSpPr>
        <p:spPr>
          <a:xfrm>
            <a:off x="0" y="1079500"/>
            <a:ext cx="12192000" cy="508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F833263-2C79-4D8A-9346-29E13B2380A0}"/>
              </a:ext>
            </a:extLst>
          </p:cNvPr>
          <p:cNvSpPr/>
          <p:nvPr/>
        </p:nvSpPr>
        <p:spPr>
          <a:xfrm>
            <a:off x="177800" y="1219200"/>
            <a:ext cx="5664200" cy="5283200"/>
          </a:xfrm>
          <a:prstGeom prst="rect">
            <a:avLst/>
          </a:prstGeom>
          <a:solidFill>
            <a:srgbClr val="FFF8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08F4367-9E6D-402B-B84A-7575B0E53D3F}"/>
              </a:ext>
            </a:extLst>
          </p:cNvPr>
          <p:cNvSpPr/>
          <p:nvPr/>
        </p:nvSpPr>
        <p:spPr>
          <a:xfrm>
            <a:off x="177800" y="1219200"/>
            <a:ext cx="63500" cy="5283200"/>
          </a:xfrm>
          <a:prstGeom prst="rect">
            <a:avLst/>
          </a:prstGeom>
          <a:solidFill>
            <a:srgbClr val="F758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7388765-3863-47FC-B5D1-44B28D184C5A}"/>
              </a:ext>
            </a:extLst>
          </p:cNvPr>
          <p:cNvSpPr/>
          <p:nvPr/>
        </p:nvSpPr>
        <p:spPr>
          <a:xfrm>
            <a:off x="241300" y="1219200"/>
            <a:ext cx="5600700" cy="660400"/>
          </a:xfrm>
          <a:prstGeom prst="rect">
            <a:avLst/>
          </a:prstGeom>
          <a:solidFill>
            <a:srgbClr val="F758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8BEFA9FE-9F35-411A-96D6-61523B36290E}"/>
              </a:ext>
            </a:extLst>
          </p:cNvPr>
          <p:cNvSpPr txBox="1"/>
          <p:nvPr/>
        </p:nvSpPr>
        <p:spPr>
          <a:xfrm>
            <a:off x="355600" y="1219200"/>
            <a:ext cx="5486400" cy="660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TW" altLang="en-US" sz="2000" b="1">
                <a:solidFill>
                  <a:srgbClr val="FFFFFF"/>
                </a:solidFill>
                <a:latin typeface="Microsoft JhengHei"/>
                <a:ea typeface="Microsoft JhengHei"/>
              </a:rPr>
              <a:t>❌  錯誤寫法（太模糊）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B8ED68E-E380-4458-89F4-59166F23D8A7}"/>
              </a:ext>
            </a:extLst>
          </p:cNvPr>
          <p:cNvSpPr/>
          <p:nvPr/>
        </p:nvSpPr>
        <p:spPr>
          <a:xfrm>
            <a:off x="355600" y="2032000"/>
            <a:ext cx="5308600" cy="787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F6C95EC-8EE6-47FA-BFE6-FEAE2DDF6A63}"/>
              </a:ext>
            </a:extLst>
          </p:cNvPr>
          <p:cNvSpPr/>
          <p:nvPr/>
        </p:nvSpPr>
        <p:spPr>
          <a:xfrm>
            <a:off x="355600" y="2032000"/>
            <a:ext cx="50800" cy="787400"/>
          </a:xfrm>
          <a:prstGeom prst="rect">
            <a:avLst/>
          </a:prstGeom>
          <a:solidFill>
            <a:srgbClr val="F758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1F24A712-5D1F-4694-B558-D49453B3E951}"/>
              </a:ext>
            </a:extLst>
          </p:cNvPr>
          <p:cNvSpPr txBox="1"/>
          <p:nvPr/>
        </p:nvSpPr>
        <p:spPr>
          <a:xfrm>
            <a:off x="508000" y="2032000"/>
            <a:ext cx="51054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700" b="1" dirty="0">
                <a:solidFill>
                  <a:srgbClr val="262626"/>
                </a:solidFill>
                <a:latin typeface="Microsoft JhengHei"/>
                <a:ea typeface="Microsoft JhengHei"/>
              </a:rPr>
              <a:t>「分析這份資料」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DF0E9E9-2D35-46EE-AFC9-A52D6C971C25}"/>
              </a:ext>
            </a:extLst>
          </p:cNvPr>
          <p:cNvSpPr/>
          <p:nvPr/>
        </p:nvSpPr>
        <p:spPr>
          <a:xfrm>
            <a:off x="355600" y="2997200"/>
            <a:ext cx="5308600" cy="787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43A3E64-DB92-4751-A748-E619733A96D2}"/>
              </a:ext>
            </a:extLst>
          </p:cNvPr>
          <p:cNvSpPr/>
          <p:nvPr/>
        </p:nvSpPr>
        <p:spPr>
          <a:xfrm>
            <a:off x="355600" y="2997200"/>
            <a:ext cx="50800" cy="787400"/>
          </a:xfrm>
          <a:prstGeom prst="rect">
            <a:avLst/>
          </a:prstGeom>
          <a:solidFill>
            <a:srgbClr val="F758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E2970966-7560-41F8-B371-7B424863E4A9}"/>
              </a:ext>
            </a:extLst>
          </p:cNvPr>
          <p:cNvSpPr txBox="1"/>
          <p:nvPr/>
        </p:nvSpPr>
        <p:spPr>
          <a:xfrm>
            <a:off x="508000" y="2997200"/>
            <a:ext cx="51054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700" b="1">
                <a:solidFill>
                  <a:srgbClr val="262626"/>
                </a:solidFill>
                <a:latin typeface="Microsoft JhengHei"/>
                <a:ea typeface="Microsoft JhengHei"/>
              </a:rPr>
              <a:t>「幫我做 </a:t>
            </a:r>
            <a:r>
              <a:rPr lang="en-US" altLang="zh-TW" sz="1700" b="1">
                <a:solidFill>
                  <a:srgbClr val="262626"/>
                </a:solidFill>
                <a:latin typeface="Microsoft JhengHei"/>
                <a:ea typeface="Microsoft JhengHei"/>
              </a:rPr>
              <a:t>Code Review</a:t>
            </a:r>
            <a:r>
              <a:rPr lang="zh-TW" altLang="en-US" sz="1700" b="1">
                <a:solidFill>
                  <a:srgbClr val="262626"/>
                </a:solidFill>
                <a:latin typeface="Microsoft JhengHei"/>
                <a:ea typeface="Microsoft JhengHei"/>
              </a:rPr>
              <a:t>」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93EECF61-9D39-49A3-96A1-8E4AB54055C9}"/>
              </a:ext>
            </a:extLst>
          </p:cNvPr>
          <p:cNvSpPr/>
          <p:nvPr/>
        </p:nvSpPr>
        <p:spPr>
          <a:xfrm>
            <a:off x="355600" y="3962400"/>
            <a:ext cx="5308600" cy="787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B9449EA-B5B4-4489-94BA-A655529AFE71}"/>
              </a:ext>
            </a:extLst>
          </p:cNvPr>
          <p:cNvSpPr/>
          <p:nvPr/>
        </p:nvSpPr>
        <p:spPr>
          <a:xfrm>
            <a:off x="355600" y="3962400"/>
            <a:ext cx="50800" cy="787400"/>
          </a:xfrm>
          <a:prstGeom prst="rect">
            <a:avLst/>
          </a:prstGeom>
          <a:solidFill>
            <a:srgbClr val="F758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1AF6CDA6-4102-4330-A471-F57889227737}"/>
              </a:ext>
            </a:extLst>
          </p:cNvPr>
          <p:cNvSpPr txBox="1"/>
          <p:nvPr/>
        </p:nvSpPr>
        <p:spPr>
          <a:xfrm>
            <a:off x="508000" y="3962400"/>
            <a:ext cx="51054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700" b="1" dirty="0">
                <a:solidFill>
                  <a:srgbClr val="262626"/>
                </a:solidFill>
                <a:latin typeface="Microsoft JhengHei"/>
                <a:ea typeface="Microsoft JhengHei"/>
              </a:rPr>
              <a:t>「這個 </a:t>
            </a:r>
            <a:r>
              <a:rPr lang="en-US" altLang="zh-TW" sz="1700" b="1" dirty="0">
                <a:solidFill>
                  <a:srgbClr val="262626"/>
                </a:solidFill>
                <a:latin typeface="Microsoft JhengHei"/>
                <a:ea typeface="Microsoft JhengHei"/>
              </a:rPr>
              <a:t>SQL </a:t>
            </a:r>
            <a:r>
              <a:rPr lang="zh-TW" altLang="en-US" sz="1700" b="1" dirty="0">
                <a:solidFill>
                  <a:srgbClr val="262626"/>
                </a:solidFill>
                <a:latin typeface="Microsoft JhengHei"/>
                <a:ea typeface="Microsoft JhengHei"/>
              </a:rPr>
              <a:t>對嗎？」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BD69376-CFE0-4F45-9FBB-060615AD1754}"/>
              </a:ext>
            </a:extLst>
          </p:cNvPr>
          <p:cNvSpPr/>
          <p:nvPr/>
        </p:nvSpPr>
        <p:spPr>
          <a:xfrm>
            <a:off x="355600" y="5003800"/>
            <a:ext cx="5308600" cy="635000"/>
          </a:xfrm>
          <a:prstGeom prst="rect">
            <a:avLst/>
          </a:prstGeom>
          <a:solidFill>
            <a:srgbClr val="FFECE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7EC34EAE-C700-47AF-B7A6-6F1AB4FCCDF3}"/>
              </a:ext>
            </a:extLst>
          </p:cNvPr>
          <p:cNvSpPr txBox="1"/>
          <p:nvPr/>
        </p:nvSpPr>
        <p:spPr>
          <a:xfrm>
            <a:off x="482600" y="5003800"/>
            <a:ext cx="50546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1400" b="1" dirty="0">
                <a:solidFill>
                  <a:srgbClr val="F75801"/>
                </a:solidFill>
                <a:latin typeface="Microsoft JhengHei"/>
                <a:ea typeface="Microsoft JhengHei"/>
              </a:rPr>
              <a:t>AI </a:t>
            </a:r>
            <a:r>
              <a:rPr lang="zh-TW" altLang="en-US" sz="1400" b="1" dirty="0">
                <a:solidFill>
                  <a:srgbClr val="F75801"/>
                </a:solidFill>
                <a:latin typeface="Microsoft JhengHei"/>
                <a:ea typeface="Microsoft JhengHei"/>
              </a:rPr>
              <a:t>不知道做到什麼程度才算完成，只能靠猜 → 品質不穩定</a:t>
            </a: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B722E872-4803-4F0F-8827-7F28AE3A8A9F}"/>
              </a:ext>
            </a:extLst>
          </p:cNvPr>
          <p:cNvSpPr txBox="1"/>
          <p:nvPr/>
        </p:nvSpPr>
        <p:spPr>
          <a:xfrm>
            <a:off x="5892800" y="3606800"/>
            <a:ext cx="406400" cy="508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endParaRPr lang="zh-TW" altLang="en-US" sz="2600" b="1" dirty="0">
              <a:solidFill>
                <a:srgbClr val="186AFF"/>
              </a:solidFill>
              <a:latin typeface="Microsoft JhengHei"/>
              <a:ea typeface="Microsoft JhengHei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0ADBCAA3-C6DB-45C8-8629-1086C1441211}"/>
              </a:ext>
            </a:extLst>
          </p:cNvPr>
          <p:cNvSpPr/>
          <p:nvPr/>
        </p:nvSpPr>
        <p:spPr>
          <a:xfrm>
            <a:off x="6108700" y="1244600"/>
            <a:ext cx="5918200" cy="5283200"/>
          </a:xfrm>
          <a:prstGeom prst="rect">
            <a:avLst/>
          </a:prstGeom>
          <a:solidFill>
            <a:srgbClr val="F0FB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F017010-2E30-42EB-91D8-A10BE2108484}"/>
              </a:ext>
            </a:extLst>
          </p:cNvPr>
          <p:cNvSpPr/>
          <p:nvPr/>
        </p:nvSpPr>
        <p:spPr>
          <a:xfrm>
            <a:off x="11950700" y="1219200"/>
            <a:ext cx="63500" cy="52832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03E0E22F-40CA-4155-8A44-33B357A09E7F}"/>
              </a:ext>
            </a:extLst>
          </p:cNvPr>
          <p:cNvSpPr/>
          <p:nvPr/>
        </p:nvSpPr>
        <p:spPr>
          <a:xfrm>
            <a:off x="6096000" y="1219200"/>
            <a:ext cx="5918200" cy="6604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C402D8CB-E4FC-4BAA-BF70-F30388101E82}"/>
              </a:ext>
            </a:extLst>
          </p:cNvPr>
          <p:cNvSpPr txBox="1"/>
          <p:nvPr/>
        </p:nvSpPr>
        <p:spPr>
          <a:xfrm>
            <a:off x="6273800" y="1219200"/>
            <a:ext cx="5562600" cy="660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TW" altLang="en-US" sz="2000" b="1" dirty="0">
                <a:solidFill>
                  <a:srgbClr val="FFFFFF"/>
                </a:solidFill>
                <a:latin typeface="Microsoft JhengHei"/>
                <a:ea typeface="Microsoft JhengHei"/>
              </a:rPr>
              <a:t>✅  正確寫法（明確的驗證關卡）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78D9311C-EAFE-4046-90E0-08E3237B9C84}"/>
              </a:ext>
            </a:extLst>
          </p:cNvPr>
          <p:cNvSpPr/>
          <p:nvPr/>
        </p:nvSpPr>
        <p:spPr>
          <a:xfrm>
            <a:off x="6273800" y="2032000"/>
            <a:ext cx="5562600" cy="787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32CC8D01-E5B9-4B0A-BA48-38438845CDD7}"/>
              </a:ext>
            </a:extLst>
          </p:cNvPr>
          <p:cNvSpPr/>
          <p:nvPr/>
        </p:nvSpPr>
        <p:spPr>
          <a:xfrm>
            <a:off x="6273800" y="2032000"/>
            <a:ext cx="838200" cy="7874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4EB17103-924D-46BB-9572-1E29864FFE98}"/>
              </a:ext>
            </a:extLst>
          </p:cNvPr>
          <p:cNvSpPr txBox="1"/>
          <p:nvPr/>
        </p:nvSpPr>
        <p:spPr>
          <a:xfrm>
            <a:off x="6273800" y="2032000"/>
            <a:ext cx="838200" cy="787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Microsoft JhengHei"/>
                <a:ea typeface="Microsoft JhengHei"/>
              </a:rPr>
              <a:t>Step 1</a:t>
            </a:r>
            <a:endParaRPr lang="zh-TW" altLang="en-US" sz="1400" b="1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BBDD7DF3-EDA8-4246-A8D2-098753566D3D}"/>
              </a:ext>
            </a:extLst>
          </p:cNvPr>
          <p:cNvSpPr txBox="1"/>
          <p:nvPr/>
        </p:nvSpPr>
        <p:spPr>
          <a:xfrm>
            <a:off x="7213600" y="2032000"/>
            <a:ext cx="45466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700" b="1" dirty="0">
                <a:solidFill>
                  <a:srgbClr val="262626"/>
                </a:solidFill>
                <a:latin typeface="Microsoft JhengHei"/>
                <a:ea typeface="Microsoft JhengHei"/>
              </a:rPr>
              <a:t>檢查 </a:t>
            </a:r>
            <a:r>
              <a:rPr lang="en-US" altLang="zh-TW" sz="1700" b="1" dirty="0" err="1">
                <a:solidFill>
                  <a:srgbClr val="262626"/>
                </a:solidFill>
                <a:latin typeface="Microsoft JhengHei"/>
                <a:ea typeface="Microsoft JhengHei"/>
              </a:rPr>
              <a:t>Total_Revenue</a:t>
            </a:r>
            <a:r>
              <a:rPr lang="en-US" altLang="zh-TW" sz="1700" b="1" dirty="0">
                <a:solidFill>
                  <a:srgbClr val="262626"/>
                </a:solidFill>
                <a:latin typeface="Microsoft JhengHei"/>
                <a:ea typeface="Microsoft JhengHei"/>
              </a:rPr>
              <a:t> </a:t>
            </a:r>
            <a:r>
              <a:rPr lang="zh-TW" altLang="en-US" sz="1700" b="1" dirty="0">
                <a:solidFill>
                  <a:srgbClr val="262626"/>
                </a:solidFill>
                <a:latin typeface="Microsoft JhengHei"/>
                <a:ea typeface="Microsoft JhengHei"/>
              </a:rPr>
              <a:t>欄位是否有空值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E7E7277-4982-43E3-AA51-DF751397E247}"/>
              </a:ext>
            </a:extLst>
          </p:cNvPr>
          <p:cNvSpPr/>
          <p:nvPr/>
        </p:nvSpPr>
        <p:spPr>
          <a:xfrm>
            <a:off x="6273800" y="2997200"/>
            <a:ext cx="5562600" cy="787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C370DF27-25FA-480B-B499-618FBAC88BBA}"/>
              </a:ext>
            </a:extLst>
          </p:cNvPr>
          <p:cNvSpPr/>
          <p:nvPr/>
        </p:nvSpPr>
        <p:spPr>
          <a:xfrm>
            <a:off x="6273800" y="2997200"/>
            <a:ext cx="838200" cy="7874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83CA34DC-77B9-401E-9A1D-FD3D8F9213B6}"/>
              </a:ext>
            </a:extLst>
          </p:cNvPr>
          <p:cNvSpPr txBox="1"/>
          <p:nvPr/>
        </p:nvSpPr>
        <p:spPr>
          <a:xfrm>
            <a:off x="6273800" y="2997200"/>
            <a:ext cx="838200" cy="787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n-US" altLang="zh-TW" sz="1400" b="1" dirty="0">
                <a:solidFill>
                  <a:srgbClr val="FFFFFF"/>
                </a:solidFill>
                <a:latin typeface="Microsoft JhengHei"/>
                <a:ea typeface="Microsoft JhengHei"/>
              </a:rPr>
              <a:t>Step 2</a:t>
            </a:r>
            <a:endParaRPr lang="zh-TW" altLang="en-US" sz="1400" b="1" dirty="0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CE0CD0A7-B96A-478D-8A9E-5F1765A87C92}"/>
              </a:ext>
            </a:extLst>
          </p:cNvPr>
          <p:cNvSpPr txBox="1"/>
          <p:nvPr/>
        </p:nvSpPr>
        <p:spPr>
          <a:xfrm>
            <a:off x="7213600" y="2997200"/>
            <a:ext cx="45466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700" b="1">
                <a:solidFill>
                  <a:srgbClr val="262626"/>
                </a:solidFill>
                <a:latin typeface="Microsoft JhengHei"/>
                <a:ea typeface="Microsoft JhengHei"/>
              </a:rPr>
              <a:t>計算月成長率，低於 </a:t>
            </a:r>
            <a:r>
              <a:rPr lang="en-US" altLang="zh-TW" sz="1700" b="1">
                <a:solidFill>
                  <a:srgbClr val="262626"/>
                </a:solidFill>
                <a:latin typeface="Microsoft JhengHei"/>
                <a:ea typeface="Microsoft JhengHei"/>
              </a:rPr>
              <a:t>5% </a:t>
            </a:r>
            <a:r>
              <a:rPr lang="zh-TW" altLang="en-US" sz="1700" b="1">
                <a:solidFill>
                  <a:srgbClr val="262626"/>
                </a:solidFill>
                <a:latin typeface="Microsoft JhengHei"/>
                <a:ea typeface="Microsoft JhengHei"/>
              </a:rPr>
              <a:t>必須觸發警報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9DDF405A-935E-4CF9-8C53-A0FCE939C086}"/>
              </a:ext>
            </a:extLst>
          </p:cNvPr>
          <p:cNvSpPr/>
          <p:nvPr/>
        </p:nvSpPr>
        <p:spPr>
          <a:xfrm>
            <a:off x="6273800" y="3962400"/>
            <a:ext cx="5562600" cy="787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2E242FE9-BE09-4261-8570-1844038E6064}"/>
              </a:ext>
            </a:extLst>
          </p:cNvPr>
          <p:cNvSpPr/>
          <p:nvPr/>
        </p:nvSpPr>
        <p:spPr>
          <a:xfrm>
            <a:off x="6273800" y="3962400"/>
            <a:ext cx="838200" cy="7874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DBAA509A-3152-4E7B-BE91-BA9576FC1145}"/>
              </a:ext>
            </a:extLst>
          </p:cNvPr>
          <p:cNvSpPr txBox="1"/>
          <p:nvPr/>
        </p:nvSpPr>
        <p:spPr>
          <a:xfrm>
            <a:off x="6273800" y="3962400"/>
            <a:ext cx="838200" cy="787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n-US" altLang="zh-TW" sz="1400" b="1">
                <a:solidFill>
                  <a:srgbClr val="FFFFFF"/>
                </a:solidFill>
                <a:latin typeface="Microsoft JhengHei"/>
                <a:ea typeface="Microsoft JhengHei"/>
              </a:rPr>
              <a:t>Step 3</a:t>
            </a:r>
            <a:endParaRPr lang="zh-TW" altLang="en-US" sz="1400" b="1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60F85AE3-7C50-44EA-A074-F844EA8A58B7}"/>
              </a:ext>
            </a:extLst>
          </p:cNvPr>
          <p:cNvSpPr txBox="1"/>
          <p:nvPr/>
        </p:nvSpPr>
        <p:spPr>
          <a:xfrm>
            <a:off x="7213600" y="3962400"/>
            <a:ext cx="45466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700" b="1">
                <a:solidFill>
                  <a:srgbClr val="262626"/>
                </a:solidFill>
                <a:latin typeface="Microsoft JhengHei"/>
                <a:ea typeface="Microsoft JhengHei"/>
              </a:rPr>
              <a:t>在報告最上方加上紅字警告訊息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0A048DF5-E231-479E-B52A-FBF422AB01A9}"/>
              </a:ext>
            </a:extLst>
          </p:cNvPr>
          <p:cNvSpPr/>
          <p:nvPr/>
        </p:nvSpPr>
        <p:spPr>
          <a:xfrm>
            <a:off x="6273800" y="5003800"/>
            <a:ext cx="5562600" cy="660400"/>
          </a:xfrm>
          <a:prstGeom prst="rect">
            <a:avLst/>
          </a:prstGeom>
          <a:solidFill>
            <a:srgbClr val="D5F5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A35594FE-2CCE-47D2-9290-9F0DACBD551D}"/>
              </a:ext>
            </a:extLst>
          </p:cNvPr>
          <p:cNvSpPr txBox="1"/>
          <p:nvPr/>
        </p:nvSpPr>
        <p:spPr>
          <a:xfrm>
            <a:off x="6400800" y="5003800"/>
            <a:ext cx="53086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TW" altLang="en-US" sz="1400" b="1" dirty="0">
                <a:solidFill>
                  <a:srgbClr val="0843AD"/>
                </a:solidFill>
                <a:latin typeface="Microsoft JhengHei"/>
                <a:ea typeface="Microsoft JhengHei"/>
              </a:rPr>
              <a:t>可把 </a:t>
            </a:r>
            <a:r>
              <a:rPr lang="en-US" altLang="zh-TW" sz="1400" b="1" dirty="0">
                <a:solidFill>
                  <a:srgbClr val="0843AD"/>
                </a:solidFill>
                <a:latin typeface="Microsoft JhengHei"/>
                <a:ea typeface="Microsoft JhengHei"/>
              </a:rPr>
              <a:t>Python / SQL </a:t>
            </a:r>
            <a:r>
              <a:rPr lang="zh-TW" altLang="en-US" sz="1400" b="1" dirty="0">
                <a:solidFill>
                  <a:srgbClr val="0843AD"/>
                </a:solidFill>
                <a:latin typeface="Microsoft JhengHei"/>
                <a:ea typeface="Microsoft JhengHei"/>
              </a:rPr>
              <a:t>腳本放進 </a:t>
            </a:r>
            <a:r>
              <a:rPr lang="en-US" altLang="zh-TW" sz="1400" b="1" dirty="0">
                <a:solidFill>
                  <a:srgbClr val="0843AD"/>
                </a:solidFill>
                <a:latin typeface="Microsoft JhengHei"/>
                <a:ea typeface="Microsoft JhengHei"/>
              </a:rPr>
              <a:t>scripts/ </a:t>
            </a:r>
            <a:r>
              <a:rPr lang="zh-TW" altLang="en-US" sz="1400" b="1" dirty="0">
                <a:solidFill>
                  <a:srgbClr val="0843AD"/>
                </a:solidFill>
                <a:latin typeface="Microsoft JhengHei"/>
                <a:ea typeface="Microsoft JhengHei"/>
              </a:rPr>
              <a:t>資料夾，讓 </a:t>
            </a:r>
            <a:r>
              <a:rPr lang="en-US" altLang="zh-TW" sz="1400" b="1" dirty="0">
                <a:solidFill>
                  <a:srgbClr val="0843AD"/>
                </a:solidFill>
                <a:latin typeface="Microsoft JhengHei"/>
                <a:ea typeface="Microsoft JhengHei"/>
              </a:rPr>
              <a:t>AI </a:t>
            </a:r>
            <a:r>
              <a:rPr lang="zh-TW" altLang="en-US" sz="1400" b="1" dirty="0">
                <a:solidFill>
                  <a:srgbClr val="0843AD"/>
                </a:solidFill>
                <a:latin typeface="Microsoft JhengHei"/>
                <a:ea typeface="Microsoft JhengHei"/>
              </a:rPr>
              <a:t>直接執行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C14A5311-E6DF-4B87-ABE7-06F8EEADD027}"/>
              </a:ext>
            </a:extLst>
          </p:cNvPr>
          <p:cNvSpPr/>
          <p:nvPr/>
        </p:nvSpPr>
        <p:spPr>
          <a:xfrm>
            <a:off x="177800" y="6502400"/>
            <a:ext cx="12014200" cy="762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16F7E088-F587-AC80-D7F3-615692B64590}"/>
              </a:ext>
            </a:extLst>
          </p:cNvPr>
          <p:cNvSpPr txBox="1"/>
          <p:nvPr/>
        </p:nvSpPr>
        <p:spPr>
          <a:xfrm>
            <a:off x="69850" y="177800"/>
            <a:ext cx="1016000" cy="889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altLang="zh-TW" sz="4000" b="1" dirty="0">
                <a:solidFill>
                  <a:srgbClr val="186AFF"/>
                </a:solidFill>
                <a:latin typeface="Microsoft JhengHei"/>
                <a:ea typeface="Microsoft JhengHei"/>
              </a:rPr>
              <a:t>02</a:t>
            </a:r>
            <a:endParaRPr lang="zh-TW" altLang="en-US" sz="4000" b="1" dirty="0">
              <a:solidFill>
                <a:srgbClr val="186AFF"/>
              </a:solidFill>
              <a:latin typeface="Microsoft Jheng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992910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12AADF82-C42A-407C-8C88-4C339E7054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78B4181-3288-413C-9613-436669B415DE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6D5310D-468A-4F57-BCE6-8792C14BB9CC}"/>
              </a:ext>
            </a:extLst>
          </p:cNvPr>
          <p:cNvSpPr/>
          <p:nvPr/>
        </p:nvSpPr>
        <p:spPr>
          <a:xfrm>
            <a:off x="0" y="6578600"/>
            <a:ext cx="4064000" cy="2794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5AFF4A5-DF2F-4F8B-9710-6FCDB66BDFB3}"/>
              </a:ext>
            </a:extLst>
          </p:cNvPr>
          <p:cNvSpPr/>
          <p:nvPr/>
        </p:nvSpPr>
        <p:spPr>
          <a:xfrm>
            <a:off x="4064000" y="6578600"/>
            <a:ext cx="4064000" cy="2794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B19A49D-2AF8-40DD-926B-A6F7C5423802}"/>
              </a:ext>
            </a:extLst>
          </p:cNvPr>
          <p:cNvSpPr/>
          <p:nvPr/>
        </p:nvSpPr>
        <p:spPr>
          <a:xfrm>
            <a:off x="8128000" y="6578600"/>
            <a:ext cx="4064000" cy="279400"/>
          </a:xfrm>
          <a:prstGeom prst="rect">
            <a:avLst/>
          </a:prstGeom>
          <a:solidFill>
            <a:srgbClr val="0843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E43E56F-D0C1-47A8-A79B-1871F0191DD9}"/>
              </a:ext>
            </a:extLst>
          </p:cNvPr>
          <p:cNvSpPr/>
          <p:nvPr/>
        </p:nvSpPr>
        <p:spPr>
          <a:xfrm>
            <a:off x="0" y="63500"/>
            <a:ext cx="12192000" cy="965200"/>
          </a:xfrm>
          <a:prstGeom prst="rect">
            <a:avLst/>
          </a:prstGeom>
          <a:solidFill>
            <a:srgbClr val="041A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A8B917E1-983D-43F3-B009-F393B5FE453C}"/>
              </a:ext>
            </a:extLst>
          </p:cNvPr>
          <p:cNvSpPr txBox="1"/>
          <p:nvPr/>
        </p:nvSpPr>
        <p:spPr>
          <a:xfrm>
            <a:off x="863600" y="279400"/>
            <a:ext cx="9906000" cy="558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TW" altLang="en-US" sz="2800" b="1" dirty="0">
                <a:solidFill>
                  <a:srgbClr val="FFFFFF"/>
                </a:solidFill>
                <a:latin typeface="Microsoft JhengHei"/>
                <a:ea typeface="Microsoft JhengHei"/>
              </a:rPr>
              <a:t>實作 </a:t>
            </a:r>
            <a:r>
              <a:rPr lang="en-US" altLang="zh-TW" sz="2800" b="1" dirty="0">
                <a:solidFill>
                  <a:srgbClr val="FFFFFF"/>
                </a:solidFill>
                <a:latin typeface="Microsoft JhengHei"/>
                <a:ea typeface="Microsoft JhengHei"/>
              </a:rPr>
              <a:t>SOP</a:t>
            </a:r>
            <a:r>
              <a:rPr lang="zh-TW" altLang="en-US" sz="2800" b="1" dirty="0">
                <a:solidFill>
                  <a:srgbClr val="FFFFFF"/>
                </a:solidFill>
                <a:latin typeface="Microsoft JhengHei"/>
                <a:ea typeface="Microsoft JhengHei"/>
              </a:rPr>
              <a:t>：動手打造第一個技能包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6255787-548E-4A9F-B6E1-F5185A24B929}"/>
              </a:ext>
            </a:extLst>
          </p:cNvPr>
          <p:cNvSpPr/>
          <p:nvPr/>
        </p:nvSpPr>
        <p:spPr>
          <a:xfrm>
            <a:off x="0" y="1028700"/>
            <a:ext cx="12192000" cy="508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4E690FD-D165-48B4-AB5E-582A5BF2BFF4}"/>
              </a:ext>
            </a:extLst>
          </p:cNvPr>
          <p:cNvSpPr/>
          <p:nvPr/>
        </p:nvSpPr>
        <p:spPr>
          <a:xfrm>
            <a:off x="6007100" y="1117600"/>
            <a:ext cx="177800" cy="5384800"/>
          </a:xfrm>
          <a:prstGeom prst="rect">
            <a:avLst/>
          </a:prstGeom>
          <a:solidFill>
            <a:srgbClr val="E0E8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F96F9DBE-A401-4866-97E3-20BA944E8DD5}"/>
              </a:ext>
            </a:extLst>
          </p:cNvPr>
          <p:cNvSpPr/>
          <p:nvPr/>
        </p:nvSpPr>
        <p:spPr>
          <a:xfrm>
            <a:off x="5816600" y="1498600"/>
            <a:ext cx="558800" cy="5588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C850AB29-7973-4EE4-8A09-DB22B692C5DB}"/>
              </a:ext>
            </a:extLst>
          </p:cNvPr>
          <p:cNvSpPr txBox="1"/>
          <p:nvPr/>
        </p:nvSpPr>
        <p:spPr>
          <a:xfrm>
            <a:off x="5816600" y="1498600"/>
            <a:ext cx="558800" cy="558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Microsoft JhengHei"/>
                <a:ea typeface="Microsoft JhengHei"/>
              </a:rPr>
              <a:t>01</a:t>
            </a:r>
            <a:endParaRPr lang="zh-TW" altLang="en-US" b="1" dirty="0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762DC53C-96F4-461B-9CDC-611206102DF9}"/>
              </a:ext>
            </a:extLst>
          </p:cNvPr>
          <p:cNvSpPr/>
          <p:nvPr/>
        </p:nvSpPr>
        <p:spPr>
          <a:xfrm>
            <a:off x="5029200" y="1765300"/>
            <a:ext cx="800100" cy="508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1232E696-CE9B-4193-8124-8D3443CA6AD5}"/>
              </a:ext>
            </a:extLst>
          </p:cNvPr>
          <p:cNvSpPr/>
          <p:nvPr/>
        </p:nvSpPr>
        <p:spPr>
          <a:xfrm>
            <a:off x="6931025" y="2428875"/>
            <a:ext cx="76200" cy="12192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C0F2ABFE-C695-2247-9D27-BBAC1873A3DB}"/>
              </a:ext>
            </a:extLst>
          </p:cNvPr>
          <p:cNvGrpSpPr/>
          <p:nvPr/>
        </p:nvGrpSpPr>
        <p:grpSpPr>
          <a:xfrm>
            <a:off x="7007225" y="2486025"/>
            <a:ext cx="5171946" cy="1111250"/>
            <a:chOff x="6467604" y="2527300"/>
            <a:chExt cx="5171946" cy="1111250"/>
          </a:xfrm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C5BB08B7-24BD-42A9-9461-77EAC97E3D85}"/>
                </a:ext>
              </a:extLst>
            </p:cNvPr>
            <p:cNvSpPr/>
            <p:nvPr/>
          </p:nvSpPr>
          <p:spPr>
            <a:xfrm>
              <a:off x="6467604" y="2527300"/>
              <a:ext cx="5171946" cy="1111250"/>
            </a:xfrm>
            <a:prstGeom prst="rect">
              <a:avLst/>
            </a:prstGeom>
            <a:solidFill>
              <a:srgbClr val="F5F8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46864987-84CA-4F33-92EF-5B76EBEB2B59}"/>
                </a:ext>
              </a:extLst>
            </p:cNvPr>
            <p:cNvSpPr/>
            <p:nvPr/>
          </p:nvSpPr>
          <p:spPr>
            <a:xfrm>
              <a:off x="6616699" y="2616200"/>
              <a:ext cx="2022475" cy="355600"/>
            </a:xfrm>
            <a:prstGeom prst="rect">
              <a:avLst/>
            </a:prstGeom>
            <a:solidFill>
              <a:srgbClr val="186A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建立</a:t>
              </a:r>
              <a:r>
                <a:rPr lang="en-US" altLang="zh-TW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SKILL.md</a:t>
              </a:r>
              <a:endPara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7CEF36CC-8FA9-46BF-92D5-0152B4F98C4B}"/>
                </a:ext>
              </a:extLst>
            </p:cNvPr>
            <p:cNvSpPr txBox="1"/>
            <p:nvPr/>
          </p:nvSpPr>
          <p:spPr>
            <a:xfrm>
              <a:off x="6526341" y="2943225"/>
              <a:ext cx="4470400" cy="5842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altLang="en-US" sz="1400" b="1" dirty="0">
                  <a:solidFill>
                    <a:srgbClr val="444444"/>
                  </a:solidFill>
                  <a:latin typeface="Microsoft JhengHei"/>
                  <a:ea typeface="Microsoft JhengHei"/>
                </a:rPr>
                <a:t>在資料夾內建立 </a:t>
              </a:r>
              <a:r>
                <a:rPr lang="en-US" altLang="zh-TW" sz="1400" b="1" dirty="0">
                  <a:solidFill>
                    <a:srgbClr val="444444"/>
                  </a:solidFill>
                  <a:latin typeface="Microsoft JhengHei"/>
                  <a:ea typeface="Microsoft JhengHei"/>
                </a:rPr>
                <a:t>SKILL.md
</a:t>
              </a:r>
              <a:r>
                <a:rPr lang="zh-TW" altLang="en-US" sz="1400" b="1" dirty="0">
                  <a:solidFill>
                    <a:srgbClr val="444444"/>
                  </a:solidFill>
                  <a:latin typeface="Microsoft JhengHei"/>
                  <a:ea typeface="Microsoft JhengHei"/>
                </a:rPr>
                <a:t>最上方以 </a:t>
              </a:r>
              <a:r>
                <a:rPr lang="en-US" altLang="zh-TW" sz="1400" b="1" dirty="0">
                  <a:solidFill>
                    <a:srgbClr val="186AFF"/>
                  </a:solidFill>
                  <a:latin typeface="Microsoft JhengHei"/>
                  <a:ea typeface="Microsoft JhengHei"/>
                </a:rPr>
                <a:t>---</a:t>
              </a:r>
              <a:r>
                <a:rPr lang="en-US" altLang="zh-TW" sz="1400" b="1" dirty="0">
                  <a:solidFill>
                    <a:srgbClr val="444444"/>
                  </a:solidFill>
                  <a:latin typeface="Microsoft JhengHei"/>
                  <a:ea typeface="Microsoft JhengHei"/>
                </a:rPr>
                <a:t> </a:t>
              </a:r>
              <a:r>
                <a:rPr lang="zh-TW" altLang="en-US" sz="1400" b="1" dirty="0">
                  <a:solidFill>
                    <a:srgbClr val="444444"/>
                  </a:solidFill>
                  <a:latin typeface="Microsoft JhengHei"/>
                  <a:ea typeface="Microsoft JhengHei"/>
                </a:rPr>
                <a:t>撰寫 </a:t>
              </a:r>
              <a:r>
                <a:rPr lang="en-US" altLang="zh-TW" sz="1400" b="1" dirty="0">
                  <a:solidFill>
                    <a:srgbClr val="444444"/>
                  </a:solidFill>
                  <a:latin typeface="Microsoft JhengHei"/>
                  <a:ea typeface="Microsoft JhengHei"/>
                </a:rPr>
                <a:t>YAML </a:t>
              </a:r>
              <a:r>
                <a:rPr lang="zh-TW" altLang="en-US" sz="1400" b="1" dirty="0">
                  <a:solidFill>
                    <a:srgbClr val="444444"/>
                  </a:solidFill>
                  <a:latin typeface="Microsoft JhengHei"/>
                  <a:ea typeface="Microsoft JhengHei"/>
                </a:rPr>
                <a:t>格式介紹</a:t>
              </a:r>
            </a:p>
          </p:txBody>
        </p:sp>
      </p:grpSp>
      <p:sp>
        <p:nvSpPr>
          <p:cNvPr id="78" name="矩形 77">
            <a:extLst>
              <a:ext uri="{FF2B5EF4-FFF2-40B4-BE49-F238E27FC236}">
                <a16:creationId xmlns:a16="http://schemas.microsoft.com/office/drawing/2014/main" id="{D27517C2-E587-4B3E-9BB7-D01D6D4CDCAF}"/>
              </a:ext>
            </a:extLst>
          </p:cNvPr>
          <p:cNvSpPr/>
          <p:nvPr/>
        </p:nvSpPr>
        <p:spPr>
          <a:xfrm>
            <a:off x="5816600" y="2819400"/>
            <a:ext cx="558800" cy="5588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A50E7FC1-D93D-48CE-B3B3-C5E47EB0499B}"/>
              </a:ext>
            </a:extLst>
          </p:cNvPr>
          <p:cNvSpPr txBox="1"/>
          <p:nvPr/>
        </p:nvSpPr>
        <p:spPr>
          <a:xfrm>
            <a:off x="5816600" y="2819400"/>
            <a:ext cx="558800" cy="558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Microsoft JhengHei"/>
                <a:ea typeface="Microsoft JhengHei"/>
              </a:rPr>
              <a:t>02</a:t>
            </a:r>
            <a:endParaRPr lang="zh-TW" altLang="en-US" b="1" dirty="0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B3A67D0F-A37B-47DC-9529-4DC93DBF630C}"/>
              </a:ext>
            </a:extLst>
          </p:cNvPr>
          <p:cNvSpPr/>
          <p:nvPr/>
        </p:nvSpPr>
        <p:spPr>
          <a:xfrm>
            <a:off x="6375399" y="3079750"/>
            <a:ext cx="558799" cy="508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1C37049-436A-4D0F-965D-CA0B65FD863E}"/>
              </a:ext>
            </a:extLst>
          </p:cNvPr>
          <p:cNvSpPr/>
          <p:nvPr/>
        </p:nvSpPr>
        <p:spPr>
          <a:xfrm>
            <a:off x="5816600" y="4140200"/>
            <a:ext cx="558800" cy="558800"/>
          </a:xfrm>
          <a:prstGeom prst="rect">
            <a:avLst/>
          </a:prstGeom>
          <a:solidFill>
            <a:srgbClr val="0843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9D70FE27-7519-43DE-BEED-1C8399982BE8}"/>
              </a:ext>
            </a:extLst>
          </p:cNvPr>
          <p:cNvSpPr txBox="1"/>
          <p:nvPr/>
        </p:nvSpPr>
        <p:spPr>
          <a:xfrm>
            <a:off x="5816600" y="4140200"/>
            <a:ext cx="558800" cy="558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Microsoft JhengHei"/>
                <a:ea typeface="Microsoft JhengHei"/>
              </a:rPr>
              <a:t>03</a:t>
            </a:r>
            <a:endParaRPr lang="zh-TW" altLang="en-US" b="1" dirty="0">
              <a:solidFill>
                <a:srgbClr val="FFFFFF"/>
              </a:solidFill>
              <a:latin typeface="Microsoft JhengHei"/>
              <a:ea typeface="Microsoft JhengHei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3439B7BD-E166-4505-9D6E-74C6AE41507E}"/>
              </a:ext>
            </a:extLst>
          </p:cNvPr>
          <p:cNvSpPr/>
          <p:nvPr/>
        </p:nvSpPr>
        <p:spPr>
          <a:xfrm>
            <a:off x="5016500" y="4406900"/>
            <a:ext cx="800100" cy="50800"/>
          </a:xfrm>
          <a:prstGeom prst="rect">
            <a:avLst/>
          </a:prstGeom>
          <a:solidFill>
            <a:srgbClr val="0843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grpSp>
        <p:nvGrpSpPr>
          <p:cNvPr id="112" name="群組 111">
            <a:extLst>
              <a:ext uri="{FF2B5EF4-FFF2-40B4-BE49-F238E27FC236}">
                <a16:creationId xmlns:a16="http://schemas.microsoft.com/office/drawing/2014/main" id="{9E57D579-83F6-372D-726E-7E070CA2D0E1}"/>
              </a:ext>
            </a:extLst>
          </p:cNvPr>
          <p:cNvGrpSpPr/>
          <p:nvPr/>
        </p:nvGrpSpPr>
        <p:grpSpPr>
          <a:xfrm>
            <a:off x="6934200" y="5118100"/>
            <a:ext cx="4826000" cy="1219200"/>
            <a:chOff x="6438900" y="5130800"/>
            <a:chExt cx="4826000" cy="1219200"/>
          </a:xfrm>
        </p:grpSpPr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C05990D7-789A-401F-98CC-EC386B964F66}"/>
                </a:ext>
              </a:extLst>
            </p:cNvPr>
            <p:cNvSpPr/>
            <p:nvPr/>
          </p:nvSpPr>
          <p:spPr>
            <a:xfrm>
              <a:off x="6438900" y="5130800"/>
              <a:ext cx="4826000" cy="1219200"/>
            </a:xfrm>
            <a:prstGeom prst="rect">
              <a:avLst/>
            </a:prstGeom>
            <a:solidFill>
              <a:srgbClr val="F5F8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CD064043-F50F-4BA3-9E40-DC8DEB5596D9}"/>
                </a:ext>
              </a:extLst>
            </p:cNvPr>
            <p:cNvSpPr/>
            <p:nvPr/>
          </p:nvSpPr>
          <p:spPr>
            <a:xfrm>
              <a:off x="6438900" y="5130800"/>
              <a:ext cx="76200" cy="1219200"/>
            </a:xfrm>
            <a:prstGeom prst="rect">
              <a:avLst/>
            </a:prstGeom>
            <a:solidFill>
              <a:srgbClr val="FFD600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09BDDA80-48FA-4C03-A5C8-8F4CD937E337}"/>
                </a:ext>
              </a:extLst>
            </p:cNvPr>
            <p:cNvSpPr/>
            <p:nvPr/>
          </p:nvSpPr>
          <p:spPr>
            <a:xfrm>
              <a:off x="6616700" y="5257800"/>
              <a:ext cx="1384300" cy="355600"/>
            </a:xfrm>
            <a:prstGeom prst="rect">
              <a:avLst/>
            </a:prstGeom>
            <a:solidFill>
              <a:srgbClr val="FFD600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打包上傳</a:t>
              </a:r>
            </a:p>
          </p:txBody>
        </p:sp>
        <p:sp>
          <p:nvSpPr>
            <p:cNvPr id="95" name="文字方塊 94">
              <a:extLst>
                <a:ext uri="{FF2B5EF4-FFF2-40B4-BE49-F238E27FC236}">
                  <a16:creationId xmlns:a16="http://schemas.microsoft.com/office/drawing/2014/main" id="{B05E24D6-0900-4D42-A57C-3F35D6CE7921}"/>
                </a:ext>
              </a:extLst>
            </p:cNvPr>
            <p:cNvSpPr txBox="1"/>
            <p:nvPr/>
          </p:nvSpPr>
          <p:spPr>
            <a:xfrm>
              <a:off x="6578600" y="5622925"/>
              <a:ext cx="4470400" cy="5842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TW" altLang="en-US" sz="1400" b="1" dirty="0">
                  <a:solidFill>
                    <a:srgbClr val="444444"/>
                  </a:solidFill>
                  <a:latin typeface="Microsoft JhengHei"/>
                  <a:ea typeface="Microsoft JhengHei"/>
                </a:rPr>
                <a:t>壓成 </a:t>
              </a:r>
              <a:r>
                <a:rPr lang="en-US" altLang="zh-TW" sz="1400" b="1" dirty="0">
                  <a:solidFill>
                    <a:srgbClr val="444444"/>
                  </a:solidFill>
                  <a:latin typeface="Microsoft JhengHei"/>
                  <a:ea typeface="Microsoft JhengHei"/>
                </a:rPr>
                <a:t>.zip </a:t>
              </a:r>
              <a:r>
                <a:rPr lang="zh-TW" altLang="en-US" sz="1400" b="1" dirty="0">
                  <a:solidFill>
                    <a:srgbClr val="444444"/>
                  </a:solidFill>
                  <a:latin typeface="Microsoft JhengHei"/>
                  <a:ea typeface="Microsoft JhengHei"/>
                </a:rPr>
                <a:t>上傳至</a:t>
              </a:r>
              <a:r>
                <a:rPr lang="en-US" altLang="zh-TW" sz="1400" b="1" dirty="0">
                  <a:solidFill>
                    <a:srgbClr val="444444"/>
                  </a:solidFill>
                  <a:latin typeface="Microsoft JhengHei"/>
                  <a:ea typeface="Microsoft JhengHei"/>
                </a:rPr>
                <a:t>TFS Repo</a:t>
              </a:r>
              <a:r>
                <a:rPr lang="zh-TW" altLang="en-US" sz="1400" b="1" dirty="0">
                  <a:solidFill>
                    <a:srgbClr val="444444"/>
                  </a:solidFill>
                  <a:latin typeface="Microsoft JhengHei"/>
                  <a:ea typeface="Microsoft JhengHei"/>
                </a:rPr>
                <a:t>
全團隊即可使用這個標準流程</a:t>
              </a:r>
            </a:p>
          </p:txBody>
        </p:sp>
      </p:grpSp>
      <p:sp>
        <p:nvSpPr>
          <p:cNvPr id="96" name="矩形 95">
            <a:extLst>
              <a:ext uri="{FF2B5EF4-FFF2-40B4-BE49-F238E27FC236}">
                <a16:creationId xmlns:a16="http://schemas.microsoft.com/office/drawing/2014/main" id="{0C51C676-8C78-4F70-825F-6D647727A372}"/>
              </a:ext>
            </a:extLst>
          </p:cNvPr>
          <p:cNvSpPr/>
          <p:nvPr/>
        </p:nvSpPr>
        <p:spPr>
          <a:xfrm>
            <a:off x="5816600" y="5461000"/>
            <a:ext cx="558800" cy="558800"/>
          </a:xfrm>
          <a:prstGeom prst="rect">
            <a:avLst/>
          </a:prstGeom>
          <a:solidFill>
            <a:srgbClr val="FFD6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7" name="文字方塊 96">
            <a:extLst>
              <a:ext uri="{FF2B5EF4-FFF2-40B4-BE49-F238E27FC236}">
                <a16:creationId xmlns:a16="http://schemas.microsoft.com/office/drawing/2014/main" id="{32870A7F-C636-4EBE-A0AA-3A06F5179868}"/>
              </a:ext>
            </a:extLst>
          </p:cNvPr>
          <p:cNvSpPr txBox="1"/>
          <p:nvPr/>
        </p:nvSpPr>
        <p:spPr>
          <a:xfrm>
            <a:off x="5816600" y="5461000"/>
            <a:ext cx="558800" cy="558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n-US" altLang="zh-TW" b="1" dirty="0">
                <a:solidFill>
                  <a:srgbClr val="262626"/>
                </a:solidFill>
                <a:latin typeface="Microsoft JhengHei"/>
                <a:ea typeface="Microsoft JhengHei"/>
              </a:rPr>
              <a:t>04</a:t>
            </a:r>
            <a:endParaRPr lang="zh-TW" altLang="en-US" b="1" dirty="0">
              <a:solidFill>
                <a:srgbClr val="262626"/>
              </a:solidFill>
              <a:latin typeface="Microsoft JhengHei"/>
              <a:ea typeface="Microsoft JhengHei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3AF3D2D6-8004-44CC-91FE-9EDE9EDD0DC0}"/>
              </a:ext>
            </a:extLst>
          </p:cNvPr>
          <p:cNvSpPr/>
          <p:nvPr/>
        </p:nvSpPr>
        <p:spPr>
          <a:xfrm>
            <a:off x="6375400" y="5715000"/>
            <a:ext cx="590550" cy="60325"/>
          </a:xfrm>
          <a:prstGeom prst="rect">
            <a:avLst/>
          </a:prstGeom>
          <a:solidFill>
            <a:srgbClr val="FFD6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343D7C2E-4DC8-941C-1433-800AE5B39F56}"/>
              </a:ext>
            </a:extLst>
          </p:cNvPr>
          <p:cNvSpPr txBox="1"/>
          <p:nvPr/>
        </p:nvSpPr>
        <p:spPr>
          <a:xfrm>
            <a:off x="50800" y="171450"/>
            <a:ext cx="1016000" cy="889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altLang="zh-TW" sz="4000" b="1" dirty="0">
                <a:solidFill>
                  <a:srgbClr val="186AFF"/>
                </a:solidFill>
                <a:latin typeface="Microsoft JhengHei"/>
                <a:ea typeface="Microsoft JhengHei"/>
              </a:rPr>
              <a:t>03</a:t>
            </a:r>
            <a:endParaRPr lang="zh-TW" altLang="en-US" sz="4000" b="1" dirty="0">
              <a:solidFill>
                <a:srgbClr val="186AFF"/>
              </a:solidFill>
              <a:latin typeface="Microsoft JhengHei"/>
              <a:ea typeface="Microsoft JhengHei"/>
            </a:endParaRPr>
          </a:p>
        </p:txBody>
      </p:sp>
      <p:grpSp>
        <p:nvGrpSpPr>
          <p:cNvPr id="109" name="群組 108">
            <a:extLst>
              <a:ext uri="{FF2B5EF4-FFF2-40B4-BE49-F238E27FC236}">
                <a16:creationId xmlns:a16="http://schemas.microsoft.com/office/drawing/2014/main" id="{35D8E433-A503-8DDC-31A1-2964742B109D}"/>
              </a:ext>
            </a:extLst>
          </p:cNvPr>
          <p:cNvGrpSpPr/>
          <p:nvPr/>
        </p:nvGrpSpPr>
        <p:grpSpPr>
          <a:xfrm>
            <a:off x="924315" y="1219200"/>
            <a:ext cx="4111365" cy="1238250"/>
            <a:chOff x="406400" y="1333500"/>
            <a:chExt cx="4111365" cy="1238250"/>
          </a:xfrm>
        </p:grpSpPr>
        <p:grpSp>
          <p:nvGrpSpPr>
            <p:cNvPr id="104" name="群組 103">
              <a:extLst>
                <a:ext uri="{FF2B5EF4-FFF2-40B4-BE49-F238E27FC236}">
                  <a16:creationId xmlns:a16="http://schemas.microsoft.com/office/drawing/2014/main" id="{109F816B-30AE-391C-FFF3-B99FE794DECF}"/>
                </a:ext>
              </a:extLst>
            </p:cNvPr>
            <p:cNvGrpSpPr/>
            <p:nvPr/>
          </p:nvGrpSpPr>
          <p:grpSpPr>
            <a:xfrm>
              <a:off x="406400" y="1333500"/>
              <a:ext cx="4091132" cy="1219200"/>
              <a:chOff x="381000" y="1168400"/>
              <a:chExt cx="4091132" cy="1219200"/>
            </a:xfrm>
          </p:grpSpPr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03D2C11B-64F6-4CBA-A5E0-428038EBE88A}"/>
                  </a:ext>
                </a:extLst>
              </p:cNvPr>
              <p:cNvSpPr/>
              <p:nvPr/>
            </p:nvSpPr>
            <p:spPr>
              <a:xfrm>
                <a:off x="381000" y="1168400"/>
                <a:ext cx="4091132" cy="1219200"/>
              </a:xfrm>
              <a:prstGeom prst="rect">
                <a:avLst/>
              </a:prstGeom>
              <a:solidFill>
                <a:srgbClr val="F5F8FF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just"/>
                <a:endParaRPr lang="zh-TW" altLang="en-US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7ADBC888-B318-4A3A-B9CF-DBCB626E42EF}"/>
                  </a:ext>
                </a:extLst>
              </p:cNvPr>
              <p:cNvSpPr/>
              <p:nvPr/>
            </p:nvSpPr>
            <p:spPr>
              <a:xfrm>
                <a:off x="2733755" y="1327150"/>
                <a:ext cx="1482725" cy="349250"/>
              </a:xfrm>
              <a:prstGeom prst="rect">
                <a:avLst/>
              </a:prstGeom>
              <a:solidFill>
                <a:srgbClr val="36CBDA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r"/>
                <a:r>
                  <a:rPr lang="zh-TW" altLang="en-US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建資料夾</a:t>
                </a:r>
              </a:p>
            </p:txBody>
          </p:sp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5469D393-0116-49B7-BF4C-DEC3CC773C21}"/>
                  </a:ext>
                </a:extLst>
              </p:cNvPr>
              <p:cNvSpPr txBox="1"/>
              <p:nvPr/>
            </p:nvSpPr>
            <p:spPr>
              <a:xfrm>
                <a:off x="1406134" y="1701800"/>
                <a:ext cx="2902057" cy="5842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 anchorCtr="0">
                <a:no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zh-TW" altLang="en-US" sz="1400" b="1" dirty="0">
                    <a:solidFill>
                      <a:srgbClr val="444444"/>
                    </a:solidFill>
                    <a:latin typeface="Microsoft JhengHei"/>
                    <a:ea typeface="Microsoft JhengHei"/>
                  </a:rPr>
                  <a:t>建立英文小寫 </a:t>
                </a:r>
                <a:r>
                  <a:rPr lang="en-US" altLang="zh-TW" sz="1400" b="1" dirty="0">
                    <a:solidFill>
                      <a:srgbClr val="444444"/>
                    </a:solidFill>
                    <a:latin typeface="Microsoft JhengHei"/>
                    <a:ea typeface="Microsoft JhengHei"/>
                  </a:rPr>
                  <a:t>+ </a:t>
                </a:r>
                <a:r>
                  <a:rPr lang="zh-TW" altLang="en-US" sz="1400" b="1" dirty="0">
                    <a:solidFill>
                      <a:srgbClr val="444444"/>
                    </a:solidFill>
                    <a:latin typeface="Microsoft JhengHei"/>
                    <a:ea typeface="Microsoft JhengHei"/>
                  </a:rPr>
                  <a:t>橫線命名的資料夾
例：  </a:t>
                </a:r>
                <a:r>
                  <a:rPr lang="en-US" altLang="zh-TW" sz="1400" b="1" dirty="0">
                    <a:solidFill>
                      <a:srgbClr val="444444"/>
                    </a:solidFill>
                    <a:latin typeface="Microsoft JhengHei"/>
                    <a:ea typeface="Microsoft JhengHei"/>
                  </a:rPr>
                  <a:t>code-review/</a:t>
                </a:r>
                <a:endParaRPr lang="zh-TW" altLang="en-US" sz="1400" b="1" dirty="0">
                  <a:solidFill>
                    <a:srgbClr val="444444"/>
                  </a:solidFill>
                  <a:latin typeface="Microsoft JhengHei"/>
                  <a:ea typeface="Microsoft JhengHei"/>
                </a:endParaRPr>
              </a:p>
            </p:txBody>
          </p:sp>
        </p:grp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C4063615-50ED-400A-B754-FB6B477B7E0A}"/>
                </a:ext>
              </a:extLst>
            </p:cNvPr>
            <p:cNvSpPr/>
            <p:nvPr/>
          </p:nvSpPr>
          <p:spPr>
            <a:xfrm>
              <a:off x="4453168" y="1352550"/>
              <a:ext cx="64597" cy="1219200"/>
            </a:xfrm>
            <a:prstGeom prst="rect">
              <a:avLst/>
            </a:prstGeom>
            <a:solidFill>
              <a:srgbClr val="36CBD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just"/>
              <a:endParaRPr lang="zh-TW" altLang="en-US"/>
            </a:p>
          </p:txBody>
        </p:sp>
      </p:grpSp>
      <p:grpSp>
        <p:nvGrpSpPr>
          <p:cNvPr id="111" name="群組 110">
            <a:extLst>
              <a:ext uri="{FF2B5EF4-FFF2-40B4-BE49-F238E27FC236}">
                <a16:creationId xmlns:a16="http://schemas.microsoft.com/office/drawing/2014/main" id="{1B3470AE-47DC-7180-F9F7-C5D57005EF6C}"/>
              </a:ext>
            </a:extLst>
          </p:cNvPr>
          <p:cNvGrpSpPr/>
          <p:nvPr/>
        </p:nvGrpSpPr>
        <p:grpSpPr>
          <a:xfrm>
            <a:off x="247649" y="3790950"/>
            <a:ext cx="4851400" cy="1235075"/>
            <a:chOff x="381000" y="3794125"/>
            <a:chExt cx="4851400" cy="1235075"/>
          </a:xfrm>
        </p:grpSpPr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F9579FF8-0F5A-4A6D-9242-FC0BCAC44684}"/>
                </a:ext>
              </a:extLst>
            </p:cNvPr>
            <p:cNvSpPr/>
            <p:nvPr/>
          </p:nvSpPr>
          <p:spPr>
            <a:xfrm>
              <a:off x="381000" y="3810000"/>
              <a:ext cx="4826000" cy="1219200"/>
            </a:xfrm>
            <a:prstGeom prst="rect">
              <a:avLst/>
            </a:prstGeom>
            <a:solidFill>
              <a:srgbClr val="F5F8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just"/>
              <a:endParaRPr lang="zh-TW" altLang="en-US"/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82F9FE47-B6C2-4634-84CD-B986973681C4}"/>
                </a:ext>
              </a:extLst>
            </p:cNvPr>
            <p:cNvSpPr/>
            <p:nvPr/>
          </p:nvSpPr>
          <p:spPr>
            <a:xfrm>
              <a:off x="3435350" y="3968750"/>
              <a:ext cx="1524001" cy="355600"/>
            </a:xfrm>
            <a:prstGeom prst="rect">
              <a:avLst/>
            </a:prstGeom>
            <a:solidFill>
              <a:srgbClr val="0843AD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r"/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寫執行步驟</a:t>
              </a:r>
            </a:p>
          </p:txBody>
        </p:sp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0C4379A0-8896-4248-8FBB-029E3839CD39}"/>
                </a:ext>
              </a:extLst>
            </p:cNvPr>
            <p:cNvSpPr txBox="1"/>
            <p:nvPr/>
          </p:nvSpPr>
          <p:spPr>
            <a:xfrm>
              <a:off x="555627" y="4321175"/>
              <a:ext cx="4470400" cy="5842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TW" altLang="en-US" sz="1400" b="1" dirty="0">
                  <a:solidFill>
                    <a:srgbClr val="444444"/>
                  </a:solidFill>
                  <a:latin typeface="Microsoft JhengHei"/>
                  <a:ea typeface="Microsoft JhengHei"/>
                </a:rPr>
                <a:t>填入目的、輸入格式限制
執行步驟 </a:t>
              </a:r>
              <a:r>
                <a:rPr lang="en-US" altLang="zh-TW" sz="1400" b="1" dirty="0">
                  <a:solidFill>
                    <a:srgbClr val="444444"/>
                  </a:solidFill>
                  <a:latin typeface="Microsoft JhengHei"/>
                  <a:ea typeface="Microsoft JhengHei"/>
                </a:rPr>
                <a:t>1-2-3 </a:t>
              </a:r>
              <a:r>
                <a:rPr lang="zh-TW" altLang="en-US" sz="1400" b="1" dirty="0">
                  <a:solidFill>
                    <a:srgbClr val="444444"/>
                  </a:solidFill>
                  <a:latin typeface="Microsoft JhengHei"/>
                  <a:ea typeface="Microsoft JhengHei"/>
                </a:rPr>
                <a:t>及輸出報表格式</a:t>
              </a:r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3D101EBB-2CB2-682E-C708-EE67D597396F}"/>
                </a:ext>
              </a:extLst>
            </p:cNvPr>
            <p:cNvSpPr/>
            <p:nvPr/>
          </p:nvSpPr>
          <p:spPr>
            <a:xfrm>
              <a:off x="5156200" y="3794125"/>
              <a:ext cx="76200" cy="1219200"/>
            </a:xfrm>
            <a:prstGeom prst="rect">
              <a:avLst/>
            </a:prstGeom>
            <a:solidFill>
              <a:srgbClr val="0843AD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just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7569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C1539D14-8F80-493F-938C-1E06CDCC88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B67D9DA-52F4-43DD-954C-566E61B7C52B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EB8BD0F-7B92-4752-8BC9-F0D7641D8B25}"/>
              </a:ext>
            </a:extLst>
          </p:cNvPr>
          <p:cNvSpPr/>
          <p:nvPr/>
        </p:nvSpPr>
        <p:spPr>
          <a:xfrm>
            <a:off x="0" y="6578600"/>
            <a:ext cx="4064000" cy="2794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2A35106-D2E9-4421-B44D-CE62F2F4A9CA}"/>
              </a:ext>
            </a:extLst>
          </p:cNvPr>
          <p:cNvSpPr/>
          <p:nvPr/>
        </p:nvSpPr>
        <p:spPr>
          <a:xfrm>
            <a:off x="4064000" y="6578600"/>
            <a:ext cx="4064000" cy="2794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8B5A39F-1DD9-4071-8124-60701B419EE8}"/>
              </a:ext>
            </a:extLst>
          </p:cNvPr>
          <p:cNvSpPr/>
          <p:nvPr/>
        </p:nvSpPr>
        <p:spPr>
          <a:xfrm>
            <a:off x="8128000" y="6578600"/>
            <a:ext cx="4064000" cy="279400"/>
          </a:xfrm>
          <a:prstGeom prst="rect">
            <a:avLst/>
          </a:prstGeom>
          <a:solidFill>
            <a:srgbClr val="0843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7BE5764-636D-4422-95D4-14CB2336F7B0}"/>
              </a:ext>
            </a:extLst>
          </p:cNvPr>
          <p:cNvSpPr/>
          <p:nvPr/>
        </p:nvSpPr>
        <p:spPr>
          <a:xfrm>
            <a:off x="0" y="63500"/>
            <a:ext cx="12192000" cy="965200"/>
          </a:xfrm>
          <a:prstGeom prst="rect">
            <a:avLst/>
          </a:prstGeom>
          <a:solidFill>
            <a:srgbClr val="041A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D52A272E-11DF-430D-BFB0-4F46DE4C2999}"/>
              </a:ext>
            </a:extLst>
          </p:cNvPr>
          <p:cNvSpPr txBox="1"/>
          <p:nvPr/>
        </p:nvSpPr>
        <p:spPr>
          <a:xfrm>
            <a:off x="762000" y="298450"/>
            <a:ext cx="5080000" cy="533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TW" altLang="en-US" sz="24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觸發控制</a:t>
            </a:r>
            <a:endParaRPr lang="zh-TW" altLang="en-US" sz="24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774CF2F-F927-4CEF-A0C5-072E4C156F37}"/>
              </a:ext>
            </a:extLst>
          </p:cNvPr>
          <p:cNvSpPr/>
          <p:nvPr/>
        </p:nvSpPr>
        <p:spPr>
          <a:xfrm>
            <a:off x="0" y="1028700"/>
            <a:ext cx="12192000" cy="508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93C0A55-EBE1-4A57-837E-5D989540E5AA}"/>
              </a:ext>
            </a:extLst>
          </p:cNvPr>
          <p:cNvSpPr/>
          <p:nvPr/>
        </p:nvSpPr>
        <p:spPr>
          <a:xfrm>
            <a:off x="177800" y="1168400"/>
            <a:ext cx="11836400" cy="584200"/>
          </a:xfrm>
          <a:prstGeom prst="rect">
            <a:avLst/>
          </a:prstGeom>
          <a:solidFill>
            <a:srgbClr val="EEF5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48A7BB4-11D3-43D8-B3C3-3385B8793816}"/>
              </a:ext>
            </a:extLst>
          </p:cNvPr>
          <p:cNvSpPr/>
          <p:nvPr/>
        </p:nvSpPr>
        <p:spPr>
          <a:xfrm>
            <a:off x="177800" y="1168400"/>
            <a:ext cx="76200" cy="584200"/>
          </a:xfrm>
          <a:prstGeom prst="rect">
            <a:avLst/>
          </a:prstGeom>
          <a:solidFill>
            <a:srgbClr val="FFD6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65C1CE51-4526-40AA-B47F-43C3B05B383A}"/>
              </a:ext>
            </a:extLst>
          </p:cNvPr>
          <p:cNvSpPr txBox="1"/>
          <p:nvPr/>
        </p:nvSpPr>
        <p:spPr>
          <a:xfrm>
            <a:off x="355600" y="1168400"/>
            <a:ext cx="11557000" cy="584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TW" altLang="en-US" sz="1700" b="1">
                <a:solidFill>
                  <a:srgbClr val="0843A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技能能否被喚醒，全看 </a:t>
            </a:r>
            <a:r>
              <a:rPr lang="en-US" altLang="zh-TW" sz="1700" b="1">
                <a:solidFill>
                  <a:srgbClr val="0843A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YAML </a:t>
            </a:r>
            <a:r>
              <a:rPr lang="zh-TW" altLang="en-US" sz="1700" b="1">
                <a:solidFill>
                  <a:srgbClr val="0843A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裡的 </a:t>
            </a:r>
            <a:r>
              <a:rPr lang="en-US" altLang="zh-TW" sz="1700" b="1">
                <a:solidFill>
                  <a:srgbClr val="0843A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description </a:t>
            </a:r>
            <a:r>
              <a:rPr lang="zh-TW" altLang="en-US" sz="1700" b="1">
                <a:solidFill>
                  <a:srgbClr val="0843A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怎麼寫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8BB06A7-6311-4EB6-81AA-29AF0DE4762C}"/>
              </a:ext>
            </a:extLst>
          </p:cNvPr>
          <p:cNvSpPr/>
          <p:nvPr/>
        </p:nvSpPr>
        <p:spPr>
          <a:xfrm>
            <a:off x="381000" y="1930400"/>
            <a:ext cx="4572000" cy="7112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29EF0875-7023-4686-9F6A-3B826D349374}"/>
              </a:ext>
            </a:extLst>
          </p:cNvPr>
          <p:cNvSpPr txBox="1"/>
          <p:nvPr/>
        </p:nvSpPr>
        <p:spPr>
          <a:xfrm>
            <a:off x="381000" y="1930400"/>
            <a:ext cx="4572000" cy="711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zh-TW" altLang="en-US" sz="17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使用者提交程式碼 </a:t>
            </a:r>
            <a:r>
              <a:rPr lang="en-US" altLang="zh-TW" sz="17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 Pull Request</a:t>
            </a:r>
            <a:endParaRPr lang="zh-TW" altLang="en-US" sz="17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14E097F6-1B0F-4719-BCDB-C5CBDEE22910}"/>
              </a:ext>
            </a:extLst>
          </p:cNvPr>
          <p:cNvSpPr txBox="1"/>
          <p:nvPr/>
        </p:nvSpPr>
        <p:spPr>
          <a:xfrm>
            <a:off x="2514600" y="2667000"/>
            <a:ext cx="3048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TW" altLang="en-US" sz="1600" b="1">
                <a:solidFill>
                  <a:srgbClr val="186A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▼</a:t>
            </a:r>
            <a:endParaRPr lang="zh-TW" altLang="en-US" sz="1600" b="1" dirty="0">
              <a:solidFill>
                <a:srgbClr val="186A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4C4CC37-9DA9-436D-A559-7124ADC77AD3}"/>
              </a:ext>
            </a:extLst>
          </p:cNvPr>
          <p:cNvSpPr/>
          <p:nvPr/>
        </p:nvSpPr>
        <p:spPr>
          <a:xfrm>
            <a:off x="1143000" y="2997200"/>
            <a:ext cx="3048000" cy="787400"/>
          </a:xfrm>
          <a:prstGeom prst="rect">
            <a:avLst/>
          </a:prstGeom>
          <a:solidFill>
            <a:srgbClr val="041A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F15A4FB-F511-49A2-82EF-ADE97AB4E818}"/>
              </a:ext>
            </a:extLst>
          </p:cNvPr>
          <p:cNvSpPr/>
          <p:nvPr/>
        </p:nvSpPr>
        <p:spPr>
          <a:xfrm>
            <a:off x="1143000" y="2997200"/>
            <a:ext cx="50800" cy="787400"/>
          </a:xfrm>
          <a:prstGeom prst="rect">
            <a:avLst/>
          </a:prstGeom>
          <a:solidFill>
            <a:srgbClr val="FFD6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0A0497FC-62B4-483D-B15E-AC18FCAC180D}"/>
              </a:ext>
            </a:extLst>
          </p:cNvPr>
          <p:cNvSpPr txBox="1"/>
          <p:nvPr/>
        </p:nvSpPr>
        <p:spPr>
          <a:xfrm>
            <a:off x="1914434" y="2973388"/>
            <a:ext cx="1641566" cy="787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description
</a:t>
            </a:r>
            <a:r>
              <a:rPr lang="zh-TW" altLang="en-US" sz="16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條件是否符合？</a:t>
            </a:r>
            <a:endParaRPr lang="zh-TW" altLang="en-US" sz="16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5517B59B-A9CA-48ED-8661-AB828B4532C9}"/>
              </a:ext>
            </a:extLst>
          </p:cNvPr>
          <p:cNvSpPr txBox="1"/>
          <p:nvPr/>
        </p:nvSpPr>
        <p:spPr>
          <a:xfrm>
            <a:off x="2286000" y="3810000"/>
            <a:ext cx="10160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TW" altLang="en-US" sz="1600" b="1">
                <a:solidFill>
                  <a:srgbClr val="36CBD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▼  符合</a:t>
            </a:r>
            <a:endParaRPr lang="zh-TW" altLang="en-US" sz="1600" b="1" dirty="0">
              <a:solidFill>
                <a:srgbClr val="36CBD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5267B87-DD74-4B20-9DCC-D271088B7FC1}"/>
              </a:ext>
            </a:extLst>
          </p:cNvPr>
          <p:cNvSpPr/>
          <p:nvPr/>
        </p:nvSpPr>
        <p:spPr>
          <a:xfrm>
            <a:off x="889000" y="4140200"/>
            <a:ext cx="3556000" cy="7620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1EB72478-257B-430D-B61F-2EFB0AA08DE9}"/>
              </a:ext>
            </a:extLst>
          </p:cNvPr>
          <p:cNvSpPr txBox="1"/>
          <p:nvPr/>
        </p:nvSpPr>
        <p:spPr>
          <a:xfrm>
            <a:off x="889000" y="4140200"/>
            <a:ext cx="3556000" cy="762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zh-TW" altLang="en-US" sz="16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✅  技能被喚醒
讀入 </a:t>
            </a:r>
            <a:r>
              <a:rPr lang="en-US" altLang="zh-TW" sz="16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SKILL.md</a:t>
            </a:r>
            <a:r>
              <a:rPr lang="zh-TW" altLang="en-US" sz="16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，開始執行</a:t>
            </a: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30E61E42-362F-4F78-A61A-02D88E3ED208}"/>
              </a:ext>
            </a:extLst>
          </p:cNvPr>
          <p:cNvSpPr txBox="1"/>
          <p:nvPr/>
        </p:nvSpPr>
        <p:spPr>
          <a:xfrm>
            <a:off x="3390900" y="2727325"/>
            <a:ext cx="11430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TW" altLang="en-US" sz="1600" b="1">
                <a:solidFill>
                  <a:srgbClr val="F7580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✕  不符合</a:t>
            </a:r>
            <a:endParaRPr lang="zh-TW" altLang="en-US" sz="1600" b="1" dirty="0">
              <a:solidFill>
                <a:srgbClr val="F7580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93" name="群組 92">
            <a:extLst>
              <a:ext uri="{FF2B5EF4-FFF2-40B4-BE49-F238E27FC236}">
                <a16:creationId xmlns:a16="http://schemas.microsoft.com/office/drawing/2014/main" id="{34C8B59E-1965-F1BF-AAD4-4CFBFA681974}"/>
              </a:ext>
            </a:extLst>
          </p:cNvPr>
          <p:cNvGrpSpPr/>
          <p:nvPr/>
        </p:nvGrpSpPr>
        <p:grpSpPr>
          <a:xfrm>
            <a:off x="3486059" y="2997200"/>
            <a:ext cx="1530441" cy="635000"/>
            <a:chOff x="3429000" y="2844800"/>
            <a:chExt cx="1778000" cy="558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D0C70733-19C0-48E0-A3E6-9D92E30883EA}"/>
                </a:ext>
              </a:extLst>
            </p:cNvPr>
            <p:cNvSpPr/>
            <p:nvPr/>
          </p:nvSpPr>
          <p:spPr>
            <a:xfrm>
              <a:off x="3429000" y="2844800"/>
              <a:ext cx="1778000" cy="558800"/>
            </a:xfrm>
            <a:prstGeom prst="rect">
              <a:avLst/>
            </a:prstGeom>
            <a:solidFill>
              <a:srgbClr val="F7580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11F0009C-4EAD-4020-8DAF-EE45436FF8D9}"/>
                </a:ext>
              </a:extLst>
            </p:cNvPr>
            <p:cNvSpPr txBox="1"/>
            <p:nvPr/>
          </p:nvSpPr>
          <p:spPr>
            <a:xfrm>
              <a:off x="3429000" y="2844800"/>
              <a:ext cx="1371600" cy="5588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zh-TW" alt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停止執行
節省 </a:t>
              </a:r>
              <a:r>
                <a:rPr lang="en-US" altLang="zh-TW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Token</a:t>
              </a:r>
              <a:endPara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68" name="矩形 67">
            <a:extLst>
              <a:ext uri="{FF2B5EF4-FFF2-40B4-BE49-F238E27FC236}">
                <a16:creationId xmlns:a16="http://schemas.microsoft.com/office/drawing/2014/main" id="{3231F882-89B7-4EE3-95B4-01053E07951A}"/>
              </a:ext>
            </a:extLst>
          </p:cNvPr>
          <p:cNvSpPr/>
          <p:nvPr/>
        </p:nvSpPr>
        <p:spPr>
          <a:xfrm>
            <a:off x="381000" y="5130800"/>
            <a:ext cx="4572000" cy="13462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A63AF63-3B9A-4418-AA80-F29B47241CFD}"/>
              </a:ext>
            </a:extLst>
          </p:cNvPr>
          <p:cNvSpPr/>
          <p:nvPr/>
        </p:nvSpPr>
        <p:spPr>
          <a:xfrm>
            <a:off x="381000" y="5130800"/>
            <a:ext cx="63500" cy="13462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37B751F4-0DF7-4EA2-A32E-65F7C1A3247A}"/>
              </a:ext>
            </a:extLst>
          </p:cNvPr>
          <p:cNvSpPr txBox="1"/>
          <p:nvPr/>
        </p:nvSpPr>
        <p:spPr>
          <a:xfrm>
            <a:off x="558800" y="5156200"/>
            <a:ext cx="4267200" cy="330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36CBD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寫好 </a:t>
            </a:r>
            <a:r>
              <a:rPr lang="en-US" altLang="zh-TW" sz="1400" b="1">
                <a:solidFill>
                  <a:srgbClr val="36CBD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description </a:t>
            </a:r>
            <a:r>
              <a:rPr lang="zh-TW" altLang="en-US" sz="1400" b="1">
                <a:solidFill>
                  <a:srgbClr val="36CBD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的原則：</a:t>
            </a: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33B6E7AC-6E98-43E4-BE1E-BBB1B7030109}"/>
              </a:ext>
            </a:extLst>
          </p:cNvPr>
          <p:cNvSpPr txBox="1"/>
          <p:nvPr/>
        </p:nvSpPr>
        <p:spPr>
          <a:xfrm>
            <a:off x="558800" y="5486400"/>
            <a:ext cx="4267200" cy="939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zh-TW" sz="1400" b="1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TW" altLang="en-US" sz="1400" b="1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明確說明「何種輸入、何種需求」時觸發
</a:t>
            </a:r>
            <a:r>
              <a:rPr lang="en-US" altLang="zh-TW" sz="1400" b="1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TW" altLang="en-US" sz="1400" b="1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加入負向約束：「如果 </a:t>
            </a:r>
            <a:r>
              <a:rPr lang="en-US" altLang="zh-TW" sz="1400" b="1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XXX </a:t>
            </a:r>
            <a:r>
              <a:rPr lang="zh-TW" altLang="en-US" sz="1400" b="1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就停止執行」
</a:t>
            </a:r>
            <a:r>
              <a:rPr lang="en-US" altLang="zh-TW" sz="1400" b="1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• </a:t>
            </a:r>
            <a:r>
              <a:rPr lang="zh-TW" altLang="en-US" sz="1400" b="1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範例：當使用者提交 </a:t>
            </a:r>
            <a:r>
              <a:rPr lang="en-US" altLang="zh-TW" sz="1400" b="1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 diff </a:t>
            </a:r>
            <a:r>
              <a:rPr lang="zh-TW" altLang="en-US" sz="1400" b="1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且要求 </a:t>
            </a:r>
            <a:r>
              <a:rPr lang="en-US" altLang="zh-TW" sz="1400" b="1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Code Review </a:t>
            </a:r>
            <a:r>
              <a:rPr lang="zh-TW" altLang="en-US" sz="1400" b="1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時使用</a:t>
            </a:r>
            <a:endParaRPr lang="zh-TW" altLang="en-US" sz="1400" b="1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4635C3C-DD7A-4398-B54E-F85F30E94682}"/>
              </a:ext>
            </a:extLst>
          </p:cNvPr>
          <p:cNvSpPr/>
          <p:nvPr/>
        </p:nvSpPr>
        <p:spPr>
          <a:xfrm>
            <a:off x="5181600" y="1879600"/>
            <a:ext cx="25400" cy="4572000"/>
          </a:xfrm>
          <a:prstGeom prst="rect">
            <a:avLst/>
          </a:prstGeom>
          <a:solidFill>
            <a:srgbClr val="E0E8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04E56361-D8AF-4DAB-8FB1-70810CD7614C}"/>
              </a:ext>
            </a:extLst>
          </p:cNvPr>
          <p:cNvSpPr/>
          <p:nvPr/>
        </p:nvSpPr>
        <p:spPr>
          <a:xfrm>
            <a:off x="5334000" y="1930400"/>
            <a:ext cx="6680200" cy="4572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CF93FEA0-C643-4A70-AAE9-A6C6D961D6E0}"/>
              </a:ext>
            </a:extLst>
          </p:cNvPr>
          <p:cNvSpPr txBox="1"/>
          <p:nvPr/>
        </p:nvSpPr>
        <p:spPr>
          <a:xfrm>
            <a:off x="5334000" y="1930400"/>
            <a:ext cx="66802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TW" alt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✅  好的描述寫法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3E529DF-6FF3-45E7-BD00-FF22ECC0F24D}"/>
              </a:ext>
            </a:extLst>
          </p:cNvPr>
          <p:cNvSpPr/>
          <p:nvPr/>
        </p:nvSpPr>
        <p:spPr>
          <a:xfrm>
            <a:off x="5334000" y="2387600"/>
            <a:ext cx="6680200" cy="1117600"/>
          </a:xfrm>
          <a:prstGeom prst="rect">
            <a:avLst/>
          </a:prstGeom>
          <a:solidFill>
            <a:srgbClr val="F0FB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B114BB5-42CA-4E62-B454-C9D255A486F0}"/>
              </a:ext>
            </a:extLst>
          </p:cNvPr>
          <p:cNvSpPr/>
          <p:nvPr/>
        </p:nvSpPr>
        <p:spPr>
          <a:xfrm>
            <a:off x="5334000" y="2387600"/>
            <a:ext cx="50800" cy="11176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E43BD38D-9572-4F97-BC8E-B54A6AD7FAF5}"/>
              </a:ext>
            </a:extLst>
          </p:cNvPr>
          <p:cNvSpPr txBox="1"/>
          <p:nvPr/>
        </p:nvSpPr>
        <p:spPr>
          <a:xfrm>
            <a:off x="5486400" y="2387600"/>
            <a:ext cx="6426200" cy="1117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5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「當使用者提交 </a:t>
            </a:r>
            <a:r>
              <a:rPr lang="en-US" altLang="zh-TW" sz="15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Pull Request</a:t>
            </a:r>
            <a:r>
              <a:rPr lang="zh-TW" altLang="en-US" sz="15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，且要求執行 </a:t>
            </a:r>
            <a:r>
              <a:rPr lang="en-US" altLang="zh-TW" sz="15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Code Review </a:t>
            </a:r>
            <a:r>
              <a:rPr lang="zh-TW" altLang="en-US" sz="15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時，使用本技能進行分析。如果提交的不是程式碼或 </a:t>
            </a:r>
            <a:r>
              <a:rPr lang="en-US" altLang="zh-TW" sz="15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diff </a:t>
            </a:r>
            <a:r>
              <a:rPr lang="zh-TW" altLang="en-US" sz="15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內容，停止執行。」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A98C281F-AB9D-43AE-80CB-0B248192450A}"/>
              </a:ext>
            </a:extLst>
          </p:cNvPr>
          <p:cNvSpPr/>
          <p:nvPr/>
        </p:nvSpPr>
        <p:spPr>
          <a:xfrm>
            <a:off x="5334000" y="3683000"/>
            <a:ext cx="6680200" cy="457200"/>
          </a:xfrm>
          <a:prstGeom prst="rect">
            <a:avLst/>
          </a:prstGeom>
          <a:solidFill>
            <a:srgbClr val="F758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14D92165-C084-432E-B2AB-9612FDAE6292}"/>
              </a:ext>
            </a:extLst>
          </p:cNvPr>
          <p:cNvSpPr txBox="1"/>
          <p:nvPr/>
        </p:nvSpPr>
        <p:spPr>
          <a:xfrm>
            <a:off x="5334000" y="3683000"/>
            <a:ext cx="66802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TW" altLang="en-US" sz="1600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❌  不好的描述寫法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A9CE2163-4B02-4794-8617-30679C701740}"/>
              </a:ext>
            </a:extLst>
          </p:cNvPr>
          <p:cNvSpPr/>
          <p:nvPr/>
        </p:nvSpPr>
        <p:spPr>
          <a:xfrm>
            <a:off x="5334000" y="4191000"/>
            <a:ext cx="6680200" cy="635000"/>
          </a:xfrm>
          <a:prstGeom prst="rect">
            <a:avLst/>
          </a:prstGeom>
          <a:solidFill>
            <a:srgbClr val="FFF3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4624E88-F7EF-4E1D-9B89-C2FE749CD7B4}"/>
              </a:ext>
            </a:extLst>
          </p:cNvPr>
          <p:cNvSpPr/>
          <p:nvPr/>
        </p:nvSpPr>
        <p:spPr>
          <a:xfrm>
            <a:off x="5334000" y="4191000"/>
            <a:ext cx="50800" cy="635000"/>
          </a:xfrm>
          <a:prstGeom prst="rect">
            <a:avLst/>
          </a:prstGeom>
          <a:solidFill>
            <a:srgbClr val="F758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47A01BED-5192-4AAD-8526-14B8C209FF51}"/>
              </a:ext>
            </a:extLst>
          </p:cNvPr>
          <p:cNvSpPr txBox="1"/>
          <p:nvPr/>
        </p:nvSpPr>
        <p:spPr>
          <a:xfrm>
            <a:off x="5486400" y="4191000"/>
            <a:ext cx="3302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500" b="1">
                <a:solidFill>
                  <a:srgbClr val="F7580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「幫我看一下程式碼」</a:t>
            </a: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DC7D99DA-531D-40D2-970A-775CAF475067}"/>
              </a:ext>
            </a:extLst>
          </p:cNvPr>
          <p:cNvSpPr txBox="1"/>
          <p:nvPr/>
        </p:nvSpPr>
        <p:spPr>
          <a:xfrm>
            <a:off x="8426450" y="4216400"/>
            <a:ext cx="29718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zh-TW" altLang="en-US" sz="14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→ 沒有指定格式與觸發條件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AC6BBFBF-84A0-4B9B-8260-813A55CB09FF}"/>
              </a:ext>
            </a:extLst>
          </p:cNvPr>
          <p:cNvSpPr/>
          <p:nvPr/>
        </p:nvSpPr>
        <p:spPr>
          <a:xfrm>
            <a:off x="5334000" y="4902200"/>
            <a:ext cx="6680200" cy="635000"/>
          </a:xfrm>
          <a:prstGeom prst="rect">
            <a:avLst/>
          </a:prstGeom>
          <a:solidFill>
            <a:srgbClr val="FFF3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2DDCCE0D-93CD-4311-99AF-36D18414E6D9}"/>
              </a:ext>
            </a:extLst>
          </p:cNvPr>
          <p:cNvSpPr/>
          <p:nvPr/>
        </p:nvSpPr>
        <p:spPr>
          <a:xfrm>
            <a:off x="5334000" y="4902200"/>
            <a:ext cx="50800" cy="635000"/>
          </a:xfrm>
          <a:prstGeom prst="rect">
            <a:avLst/>
          </a:prstGeom>
          <a:solidFill>
            <a:srgbClr val="F758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626DFE37-1CC6-429F-B8A1-DAEAF40994E9}"/>
              </a:ext>
            </a:extLst>
          </p:cNvPr>
          <p:cNvSpPr txBox="1"/>
          <p:nvPr/>
        </p:nvSpPr>
        <p:spPr>
          <a:xfrm>
            <a:off x="5486400" y="4902200"/>
            <a:ext cx="3302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500" b="1">
                <a:solidFill>
                  <a:srgbClr val="F7580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「每次都用這個技能」</a:t>
            </a: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4055497E-0AEB-4307-822A-BB06F944C438}"/>
              </a:ext>
            </a:extLst>
          </p:cNvPr>
          <p:cNvSpPr txBox="1"/>
          <p:nvPr/>
        </p:nvSpPr>
        <p:spPr>
          <a:xfrm>
            <a:off x="8426450" y="4940300"/>
            <a:ext cx="29718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zh-TW" altLang="en-US" sz="14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→ 沒有任何觸發條件限制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6C9EBA2-4C53-43BB-A0DA-B5F2963652EC}"/>
              </a:ext>
            </a:extLst>
          </p:cNvPr>
          <p:cNvSpPr/>
          <p:nvPr/>
        </p:nvSpPr>
        <p:spPr>
          <a:xfrm>
            <a:off x="5334000" y="5613400"/>
            <a:ext cx="6680200" cy="635000"/>
          </a:xfrm>
          <a:prstGeom prst="rect">
            <a:avLst/>
          </a:prstGeom>
          <a:solidFill>
            <a:srgbClr val="FFF3E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D407EC51-EB28-4904-9EDD-03F480D1A5C6}"/>
              </a:ext>
            </a:extLst>
          </p:cNvPr>
          <p:cNvSpPr/>
          <p:nvPr/>
        </p:nvSpPr>
        <p:spPr>
          <a:xfrm>
            <a:off x="5334000" y="5613400"/>
            <a:ext cx="50800" cy="635000"/>
          </a:xfrm>
          <a:prstGeom prst="rect">
            <a:avLst/>
          </a:prstGeom>
          <a:solidFill>
            <a:srgbClr val="F758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DBA76BE7-D18D-440D-87D3-3477175E2D14}"/>
              </a:ext>
            </a:extLst>
          </p:cNvPr>
          <p:cNvSpPr txBox="1"/>
          <p:nvPr/>
        </p:nvSpPr>
        <p:spPr>
          <a:xfrm>
            <a:off x="5664200" y="5613400"/>
            <a:ext cx="3302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TW" altLang="en-US" sz="1500" b="1">
                <a:solidFill>
                  <a:srgbClr val="F7580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沒有負向約束</a:t>
            </a:r>
            <a:endParaRPr lang="zh-TW" altLang="en-US" sz="1500" b="1" dirty="0">
              <a:solidFill>
                <a:srgbClr val="F7580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E7EC0FD8-CDDE-4DAB-B0FA-9BFEA8ACF72D}"/>
              </a:ext>
            </a:extLst>
          </p:cNvPr>
          <p:cNvSpPr txBox="1"/>
          <p:nvPr/>
        </p:nvSpPr>
        <p:spPr>
          <a:xfrm>
            <a:off x="8426450" y="5635625"/>
            <a:ext cx="348615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zh-TW" altLang="en-US" sz="14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→ 非程式碼輸入時仍會執行，浪費 </a:t>
            </a:r>
            <a:r>
              <a:rPr lang="en-US" altLang="zh-TW" sz="1400" b="1" dirty="0">
                <a:solidFill>
                  <a:srgbClr val="26262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Token</a:t>
            </a:r>
            <a:endParaRPr lang="zh-TW" altLang="en-US" sz="1400" b="1" dirty="0">
              <a:solidFill>
                <a:srgbClr val="26262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C1266602-0DB0-E7F9-9E4E-4B578B8E3837}"/>
              </a:ext>
            </a:extLst>
          </p:cNvPr>
          <p:cNvSpPr txBox="1"/>
          <p:nvPr/>
        </p:nvSpPr>
        <p:spPr>
          <a:xfrm>
            <a:off x="50800" y="171450"/>
            <a:ext cx="1016000" cy="889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altLang="zh-TW" sz="4000" b="1" dirty="0">
                <a:solidFill>
                  <a:srgbClr val="186A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03</a:t>
            </a:r>
            <a:endParaRPr lang="zh-TW" altLang="en-US" sz="4000" b="1" dirty="0">
              <a:solidFill>
                <a:srgbClr val="186A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39897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矩形 183">
            <a:extLst>
              <a:ext uri="{FF2B5EF4-FFF2-40B4-BE49-F238E27FC236}">
                <a16:creationId xmlns:a16="http://schemas.microsoft.com/office/drawing/2014/main" id="{C8266D24-84AD-4B6D-9C09-26DC2BB86F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BB820D09-1055-4066-85B7-0D6A3AEFE424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A3902541-C6FF-4DB4-8518-ECCB6F88EE00}"/>
              </a:ext>
            </a:extLst>
          </p:cNvPr>
          <p:cNvSpPr/>
          <p:nvPr/>
        </p:nvSpPr>
        <p:spPr>
          <a:xfrm>
            <a:off x="0" y="6578600"/>
            <a:ext cx="4064000" cy="2794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01F9E213-2DF6-4C71-8AC4-5CBA9FBBC91B}"/>
              </a:ext>
            </a:extLst>
          </p:cNvPr>
          <p:cNvSpPr/>
          <p:nvPr/>
        </p:nvSpPr>
        <p:spPr>
          <a:xfrm>
            <a:off x="4064000" y="6578600"/>
            <a:ext cx="4064000" cy="2794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6FB496E7-C049-42E8-AD9E-CFF8B58526F0}"/>
              </a:ext>
            </a:extLst>
          </p:cNvPr>
          <p:cNvSpPr/>
          <p:nvPr/>
        </p:nvSpPr>
        <p:spPr>
          <a:xfrm>
            <a:off x="8128000" y="6578600"/>
            <a:ext cx="4064000" cy="279400"/>
          </a:xfrm>
          <a:prstGeom prst="rect">
            <a:avLst/>
          </a:prstGeom>
          <a:solidFill>
            <a:srgbClr val="0843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BEEC209C-4633-443D-906E-187AB4C8633C}"/>
              </a:ext>
            </a:extLst>
          </p:cNvPr>
          <p:cNvSpPr/>
          <p:nvPr/>
        </p:nvSpPr>
        <p:spPr>
          <a:xfrm>
            <a:off x="0" y="63500"/>
            <a:ext cx="12192000" cy="990600"/>
          </a:xfrm>
          <a:prstGeom prst="rect">
            <a:avLst/>
          </a:prstGeom>
          <a:solidFill>
            <a:srgbClr val="041A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771647D5-320D-4693-BB32-44693D88E2C7}"/>
              </a:ext>
            </a:extLst>
          </p:cNvPr>
          <p:cNvSpPr/>
          <p:nvPr/>
        </p:nvSpPr>
        <p:spPr>
          <a:xfrm>
            <a:off x="0" y="1054100"/>
            <a:ext cx="12192000" cy="508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6" name="文字方塊 245">
            <a:extLst>
              <a:ext uri="{FF2B5EF4-FFF2-40B4-BE49-F238E27FC236}">
                <a16:creationId xmlns:a16="http://schemas.microsoft.com/office/drawing/2014/main" id="{65145BD6-C369-41FA-9248-54BE403C324E}"/>
              </a:ext>
            </a:extLst>
          </p:cNvPr>
          <p:cNvSpPr txBox="1"/>
          <p:nvPr/>
        </p:nvSpPr>
        <p:spPr>
          <a:xfrm>
            <a:off x="812800" y="290036"/>
            <a:ext cx="5080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28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開發地雷</a:t>
            </a:r>
          </a:p>
        </p:txBody>
      </p:sp>
      <p:sp>
        <p:nvSpPr>
          <p:cNvPr id="248" name="矩形: 圓角 247">
            <a:extLst>
              <a:ext uri="{FF2B5EF4-FFF2-40B4-BE49-F238E27FC236}">
                <a16:creationId xmlns:a16="http://schemas.microsoft.com/office/drawing/2014/main" id="{70EA076E-092D-466B-AB7F-3C57A53C1EB1}"/>
              </a:ext>
            </a:extLst>
          </p:cNvPr>
          <p:cNvSpPr/>
          <p:nvPr/>
        </p:nvSpPr>
        <p:spPr>
          <a:xfrm>
            <a:off x="228600" y="1244600"/>
            <a:ext cx="3683000" cy="5080000"/>
          </a:xfrm>
          <a:prstGeom prst="roundRect">
            <a:avLst/>
          </a:prstGeom>
          <a:solidFill>
            <a:srgbClr val="0D1E3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1DCD9E01-EA6E-4D90-AB29-982A51D4B39A}"/>
              </a:ext>
            </a:extLst>
          </p:cNvPr>
          <p:cNvSpPr/>
          <p:nvPr/>
        </p:nvSpPr>
        <p:spPr>
          <a:xfrm>
            <a:off x="228600" y="1244600"/>
            <a:ext cx="3683000" cy="635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0" name="文字方塊 249">
            <a:extLst>
              <a:ext uri="{FF2B5EF4-FFF2-40B4-BE49-F238E27FC236}">
                <a16:creationId xmlns:a16="http://schemas.microsoft.com/office/drawing/2014/main" id="{A3AA27E5-437F-43AC-8280-D6F6773B4D11}"/>
              </a:ext>
            </a:extLst>
          </p:cNvPr>
          <p:cNvSpPr txBox="1"/>
          <p:nvPr/>
        </p:nvSpPr>
        <p:spPr>
          <a:xfrm>
            <a:off x="431800" y="1422400"/>
            <a:ext cx="32766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200" b="1">
                <a:solidFill>
                  <a:srgbClr val="186A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Rule 01</a:t>
            </a:r>
            <a:endParaRPr lang="zh-TW" altLang="en-US" sz="2200" b="1">
              <a:solidFill>
                <a:srgbClr val="186A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1" name="文字方塊 250">
            <a:extLst>
              <a:ext uri="{FF2B5EF4-FFF2-40B4-BE49-F238E27FC236}">
                <a16:creationId xmlns:a16="http://schemas.microsoft.com/office/drawing/2014/main" id="{81B3E488-A9F3-42D9-90C1-FB46E8210FBD}"/>
              </a:ext>
            </a:extLst>
          </p:cNvPr>
          <p:cNvSpPr txBox="1"/>
          <p:nvPr/>
        </p:nvSpPr>
        <p:spPr>
          <a:xfrm>
            <a:off x="431800" y="1854200"/>
            <a:ext cx="3276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禁忌字眼</a:t>
            </a:r>
          </a:p>
        </p:txBody>
      </p:sp>
      <p:sp>
        <p:nvSpPr>
          <p:cNvPr id="252" name="文字方塊 251">
            <a:extLst>
              <a:ext uri="{FF2B5EF4-FFF2-40B4-BE49-F238E27FC236}">
                <a16:creationId xmlns:a16="http://schemas.microsoft.com/office/drawing/2014/main" id="{2D2F9A27-4839-420C-B7C8-AD0D111EF7EA}"/>
              </a:ext>
            </a:extLst>
          </p:cNvPr>
          <p:cNvSpPr txBox="1"/>
          <p:nvPr/>
        </p:nvSpPr>
        <p:spPr>
          <a:xfrm>
            <a:off x="431800" y="2235200"/>
            <a:ext cx="32766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 b="1" dirty="0">
                <a:solidFill>
                  <a:srgbClr val="186A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技能命名限制</a:t>
            </a:r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CEB9EE2A-B372-4907-897E-354343E31123}"/>
              </a:ext>
            </a:extLst>
          </p:cNvPr>
          <p:cNvSpPr/>
          <p:nvPr/>
        </p:nvSpPr>
        <p:spPr>
          <a:xfrm>
            <a:off x="431800" y="2590800"/>
            <a:ext cx="3276600" cy="254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4" name="矩形: 圓角 253">
            <a:extLst>
              <a:ext uri="{FF2B5EF4-FFF2-40B4-BE49-F238E27FC236}">
                <a16:creationId xmlns:a16="http://schemas.microsoft.com/office/drawing/2014/main" id="{0D901C32-A834-4CFC-B212-5B437F41B0BC}"/>
              </a:ext>
            </a:extLst>
          </p:cNvPr>
          <p:cNvSpPr/>
          <p:nvPr/>
        </p:nvSpPr>
        <p:spPr>
          <a:xfrm>
            <a:off x="431800" y="2743200"/>
            <a:ext cx="3276600" cy="457200"/>
          </a:xfrm>
          <a:prstGeom prst="roundRect">
            <a:avLst/>
          </a:prstGeom>
          <a:solidFill>
            <a:srgbClr val="0914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78971681-CFE7-4499-9522-A8B0151DD733}"/>
              </a:ext>
            </a:extLst>
          </p:cNvPr>
          <p:cNvSpPr/>
          <p:nvPr/>
        </p:nvSpPr>
        <p:spPr>
          <a:xfrm>
            <a:off x="431800" y="2743200"/>
            <a:ext cx="38100" cy="4572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6" name="文字方塊 255">
            <a:extLst>
              <a:ext uri="{FF2B5EF4-FFF2-40B4-BE49-F238E27FC236}">
                <a16:creationId xmlns:a16="http://schemas.microsoft.com/office/drawing/2014/main" id="{5ED86A4C-D5CE-4E44-B85F-12630BC2932B}"/>
              </a:ext>
            </a:extLst>
          </p:cNvPr>
          <p:cNvSpPr txBox="1"/>
          <p:nvPr/>
        </p:nvSpPr>
        <p:spPr>
          <a:xfrm>
            <a:off x="558800" y="2794000"/>
            <a:ext cx="30734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>
                <a:solidFill>
                  <a:srgbClr val="186A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/>
              </a:rPr>
              <a:t>claude</a:t>
            </a:r>
            <a:endParaRPr lang="zh-TW" altLang="en-US" sz="1400" b="1">
              <a:solidFill>
                <a:srgbClr val="186A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ourier New"/>
            </a:endParaRPr>
          </a:p>
        </p:txBody>
      </p:sp>
      <p:sp>
        <p:nvSpPr>
          <p:cNvPr id="257" name="文字方塊 256">
            <a:extLst>
              <a:ext uri="{FF2B5EF4-FFF2-40B4-BE49-F238E27FC236}">
                <a16:creationId xmlns:a16="http://schemas.microsoft.com/office/drawing/2014/main" id="{4DE2E66C-C88B-4B8C-89E2-DBE39D6724DC}"/>
              </a:ext>
            </a:extLst>
          </p:cNvPr>
          <p:cNvSpPr txBox="1"/>
          <p:nvPr/>
        </p:nvSpPr>
        <p:spPr>
          <a:xfrm>
            <a:off x="431800" y="3303885"/>
            <a:ext cx="32766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 b="1" dirty="0">
                <a:solidFill>
                  <a:srgbClr val="8AAB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系統保留字，技能名稱禁止使用</a:t>
            </a:r>
          </a:p>
        </p:txBody>
      </p:sp>
      <p:sp>
        <p:nvSpPr>
          <p:cNvPr id="258" name="矩形: 圓角 257">
            <a:extLst>
              <a:ext uri="{FF2B5EF4-FFF2-40B4-BE49-F238E27FC236}">
                <a16:creationId xmlns:a16="http://schemas.microsoft.com/office/drawing/2014/main" id="{472D49C5-CCB6-40DB-A9F7-1B171DBCAE92}"/>
              </a:ext>
            </a:extLst>
          </p:cNvPr>
          <p:cNvSpPr/>
          <p:nvPr/>
        </p:nvSpPr>
        <p:spPr>
          <a:xfrm>
            <a:off x="431800" y="3835400"/>
            <a:ext cx="3276600" cy="457200"/>
          </a:xfrm>
          <a:prstGeom prst="roundRect">
            <a:avLst/>
          </a:prstGeom>
          <a:solidFill>
            <a:srgbClr val="0914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9" name="矩形 258">
            <a:extLst>
              <a:ext uri="{FF2B5EF4-FFF2-40B4-BE49-F238E27FC236}">
                <a16:creationId xmlns:a16="http://schemas.microsoft.com/office/drawing/2014/main" id="{0315840D-9090-48B8-B159-7B5E72D424A5}"/>
              </a:ext>
            </a:extLst>
          </p:cNvPr>
          <p:cNvSpPr/>
          <p:nvPr/>
        </p:nvSpPr>
        <p:spPr>
          <a:xfrm>
            <a:off x="431800" y="3835400"/>
            <a:ext cx="38100" cy="4572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0" name="文字方塊 259">
            <a:extLst>
              <a:ext uri="{FF2B5EF4-FFF2-40B4-BE49-F238E27FC236}">
                <a16:creationId xmlns:a16="http://schemas.microsoft.com/office/drawing/2014/main" id="{AD211002-8BDD-4888-B470-AADDCBA26FD5}"/>
              </a:ext>
            </a:extLst>
          </p:cNvPr>
          <p:cNvSpPr txBox="1"/>
          <p:nvPr/>
        </p:nvSpPr>
        <p:spPr>
          <a:xfrm>
            <a:off x="558800" y="3886200"/>
            <a:ext cx="30734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>
                <a:solidFill>
                  <a:srgbClr val="186A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/>
              </a:rPr>
              <a:t>anthropic</a:t>
            </a:r>
            <a:endParaRPr lang="zh-TW" altLang="en-US" sz="1400" b="1">
              <a:solidFill>
                <a:srgbClr val="186AFF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ourier New"/>
            </a:endParaRPr>
          </a:p>
        </p:txBody>
      </p:sp>
      <p:sp>
        <p:nvSpPr>
          <p:cNvPr id="261" name="文字方塊 260">
            <a:extLst>
              <a:ext uri="{FF2B5EF4-FFF2-40B4-BE49-F238E27FC236}">
                <a16:creationId xmlns:a16="http://schemas.microsoft.com/office/drawing/2014/main" id="{8B937F65-9695-47AE-B7DC-B89614ED12D2}"/>
              </a:ext>
            </a:extLst>
          </p:cNvPr>
          <p:cNvSpPr txBox="1"/>
          <p:nvPr/>
        </p:nvSpPr>
        <p:spPr>
          <a:xfrm>
            <a:off x="381000" y="4473773"/>
            <a:ext cx="32766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 b="1" dirty="0">
                <a:solidFill>
                  <a:srgbClr val="8AAB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系統保留字，技能名稱禁止使用</a:t>
            </a:r>
          </a:p>
        </p:txBody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5DE06FB5-7A92-40CF-9BD1-8E3EEF1DDF0C}"/>
              </a:ext>
            </a:extLst>
          </p:cNvPr>
          <p:cNvSpPr/>
          <p:nvPr/>
        </p:nvSpPr>
        <p:spPr>
          <a:xfrm>
            <a:off x="431800" y="5308600"/>
            <a:ext cx="3276600" cy="787400"/>
          </a:xfrm>
          <a:prstGeom prst="rect">
            <a:avLst/>
          </a:prstGeom>
          <a:solidFill>
            <a:srgbClr val="060E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3" name="文字方塊 262">
            <a:extLst>
              <a:ext uri="{FF2B5EF4-FFF2-40B4-BE49-F238E27FC236}">
                <a16:creationId xmlns:a16="http://schemas.microsoft.com/office/drawing/2014/main" id="{85746023-77F2-4444-8D2F-B829599F115F}"/>
              </a:ext>
            </a:extLst>
          </p:cNvPr>
          <p:cNvSpPr txBox="1"/>
          <p:nvPr/>
        </p:nvSpPr>
        <p:spPr>
          <a:xfrm>
            <a:off x="482600" y="53848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💡</a:t>
            </a:r>
          </a:p>
        </p:txBody>
      </p:sp>
      <p:sp>
        <p:nvSpPr>
          <p:cNvPr id="264" name="文字方塊 263">
            <a:extLst>
              <a:ext uri="{FF2B5EF4-FFF2-40B4-BE49-F238E27FC236}">
                <a16:creationId xmlns:a16="http://schemas.microsoft.com/office/drawing/2014/main" id="{B3A7E9E4-E54B-4D5E-99A5-0E8BFB1264F1}"/>
              </a:ext>
            </a:extLst>
          </p:cNvPr>
          <p:cNvSpPr txBox="1"/>
          <p:nvPr/>
        </p:nvSpPr>
        <p:spPr>
          <a:xfrm>
            <a:off x="812800" y="538480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 b="1" dirty="0">
                <a:solidFill>
                  <a:srgbClr val="6A8BA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命名請用英文小寫 </a:t>
            </a:r>
            <a:r>
              <a:rPr lang="en-US" altLang="zh-TW" sz="1400" b="1" dirty="0">
                <a:solidFill>
                  <a:srgbClr val="6A8BA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+ </a:t>
            </a:r>
            <a:r>
              <a:rPr lang="zh-TW" altLang="en-US" sz="1400" b="1" dirty="0">
                <a:solidFill>
                  <a:srgbClr val="6A8BA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橫線
例：</a:t>
            </a:r>
            <a:r>
              <a:rPr lang="en-US" altLang="zh-TW" sz="1400" b="1" dirty="0">
                <a:solidFill>
                  <a:srgbClr val="6A8BA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code-review</a:t>
            </a:r>
            <a:endParaRPr lang="zh-TW" altLang="en-US" sz="1400" b="1" dirty="0">
              <a:solidFill>
                <a:srgbClr val="6A8BA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5" name="矩形: 圓角 264">
            <a:extLst>
              <a:ext uri="{FF2B5EF4-FFF2-40B4-BE49-F238E27FC236}">
                <a16:creationId xmlns:a16="http://schemas.microsoft.com/office/drawing/2014/main" id="{8AE89DE7-86DE-40EE-B65C-BAFA957E8FDB}"/>
              </a:ext>
            </a:extLst>
          </p:cNvPr>
          <p:cNvSpPr/>
          <p:nvPr/>
        </p:nvSpPr>
        <p:spPr>
          <a:xfrm>
            <a:off x="4267200" y="1244600"/>
            <a:ext cx="3683000" cy="5080000"/>
          </a:xfrm>
          <a:prstGeom prst="roundRect">
            <a:avLst/>
          </a:prstGeom>
          <a:solidFill>
            <a:srgbClr val="0D1E3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37D1AD1E-7D0B-49F1-B20E-AA8A3CE68F00}"/>
              </a:ext>
            </a:extLst>
          </p:cNvPr>
          <p:cNvSpPr/>
          <p:nvPr/>
        </p:nvSpPr>
        <p:spPr>
          <a:xfrm>
            <a:off x="4267200" y="1244600"/>
            <a:ext cx="3683000" cy="635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7" name="文字方塊 266">
            <a:extLst>
              <a:ext uri="{FF2B5EF4-FFF2-40B4-BE49-F238E27FC236}">
                <a16:creationId xmlns:a16="http://schemas.microsoft.com/office/drawing/2014/main" id="{964C5869-C4E8-428D-A87F-C6D4B4EDD47F}"/>
              </a:ext>
            </a:extLst>
          </p:cNvPr>
          <p:cNvSpPr txBox="1"/>
          <p:nvPr/>
        </p:nvSpPr>
        <p:spPr>
          <a:xfrm>
            <a:off x="4470400" y="1422400"/>
            <a:ext cx="32766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200" b="1">
                <a:solidFill>
                  <a:srgbClr val="36CBD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Rule 02</a:t>
            </a:r>
            <a:endParaRPr lang="zh-TW" altLang="en-US" sz="2200" b="1">
              <a:solidFill>
                <a:srgbClr val="36CBD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8" name="文字方塊 267">
            <a:extLst>
              <a:ext uri="{FF2B5EF4-FFF2-40B4-BE49-F238E27FC236}">
                <a16:creationId xmlns:a16="http://schemas.microsoft.com/office/drawing/2014/main" id="{6EAC2EEC-E230-4843-889C-4E3B26CC91FD}"/>
              </a:ext>
            </a:extLst>
          </p:cNvPr>
          <p:cNvSpPr txBox="1"/>
          <p:nvPr/>
        </p:nvSpPr>
        <p:spPr>
          <a:xfrm>
            <a:off x="4470400" y="1854200"/>
            <a:ext cx="3276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資安防禦</a:t>
            </a:r>
          </a:p>
        </p:txBody>
      </p:sp>
      <p:sp>
        <p:nvSpPr>
          <p:cNvPr id="269" name="文字方塊 268">
            <a:extLst>
              <a:ext uri="{FF2B5EF4-FFF2-40B4-BE49-F238E27FC236}">
                <a16:creationId xmlns:a16="http://schemas.microsoft.com/office/drawing/2014/main" id="{0D01DC27-7BBE-4837-81D1-937CD9CD8495}"/>
              </a:ext>
            </a:extLst>
          </p:cNvPr>
          <p:cNvSpPr txBox="1"/>
          <p:nvPr/>
        </p:nvSpPr>
        <p:spPr>
          <a:xfrm>
            <a:off x="4470400" y="2235200"/>
            <a:ext cx="32766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>
                <a:solidFill>
                  <a:srgbClr val="36CBD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YAML </a:t>
            </a:r>
            <a:r>
              <a:rPr lang="zh-TW" altLang="en-US" sz="1400" b="1">
                <a:solidFill>
                  <a:srgbClr val="36CBD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區塊內容限制</a:t>
            </a:r>
          </a:p>
        </p:txBody>
      </p:sp>
      <p:sp>
        <p:nvSpPr>
          <p:cNvPr id="270" name="矩形 269">
            <a:extLst>
              <a:ext uri="{FF2B5EF4-FFF2-40B4-BE49-F238E27FC236}">
                <a16:creationId xmlns:a16="http://schemas.microsoft.com/office/drawing/2014/main" id="{30015757-4722-4CD7-A11C-5E81B2C8592A}"/>
              </a:ext>
            </a:extLst>
          </p:cNvPr>
          <p:cNvSpPr/>
          <p:nvPr/>
        </p:nvSpPr>
        <p:spPr>
          <a:xfrm>
            <a:off x="4470400" y="2590800"/>
            <a:ext cx="3276600" cy="254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1" name="矩形: 圓角 270">
            <a:extLst>
              <a:ext uri="{FF2B5EF4-FFF2-40B4-BE49-F238E27FC236}">
                <a16:creationId xmlns:a16="http://schemas.microsoft.com/office/drawing/2014/main" id="{B67F15B8-AE09-45D0-91FC-C23237A4E64A}"/>
              </a:ext>
            </a:extLst>
          </p:cNvPr>
          <p:cNvSpPr/>
          <p:nvPr/>
        </p:nvSpPr>
        <p:spPr>
          <a:xfrm>
            <a:off x="4470400" y="2743200"/>
            <a:ext cx="3276600" cy="457200"/>
          </a:xfrm>
          <a:prstGeom prst="roundRect">
            <a:avLst/>
          </a:prstGeom>
          <a:solidFill>
            <a:srgbClr val="0914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2CA404CD-FA5E-4261-B6F2-830D9DEE07D7}"/>
              </a:ext>
            </a:extLst>
          </p:cNvPr>
          <p:cNvSpPr/>
          <p:nvPr/>
        </p:nvSpPr>
        <p:spPr>
          <a:xfrm>
            <a:off x="4470400" y="2743200"/>
            <a:ext cx="38100" cy="4572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3" name="文字方塊 272">
            <a:extLst>
              <a:ext uri="{FF2B5EF4-FFF2-40B4-BE49-F238E27FC236}">
                <a16:creationId xmlns:a16="http://schemas.microsoft.com/office/drawing/2014/main" id="{B748C0E2-9F4C-4D0A-8837-2D49E8D39D1E}"/>
              </a:ext>
            </a:extLst>
          </p:cNvPr>
          <p:cNvSpPr txBox="1"/>
          <p:nvPr/>
        </p:nvSpPr>
        <p:spPr>
          <a:xfrm>
            <a:off x="4597400" y="2794000"/>
            <a:ext cx="30734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>
                <a:solidFill>
                  <a:srgbClr val="36CBD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/>
              </a:rPr>
              <a:t>&lt; </a:t>
            </a:r>
            <a:r>
              <a:rPr lang="zh-TW" altLang="en-US" sz="1400" b="1">
                <a:solidFill>
                  <a:srgbClr val="36CBD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/>
              </a:rPr>
              <a:t>和 </a:t>
            </a:r>
            <a:r>
              <a:rPr lang="en-US" altLang="zh-TW" sz="1400" b="1">
                <a:solidFill>
                  <a:srgbClr val="36CBD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/>
              </a:rPr>
              <a:t>&gt;</a:t>
            </a:r>
            <a:endParaRPr lang="zh-TW" altLang="en-US" sz="1400" b="1">
              <a:solidFill>
                <a:srgbClr val="36CBDA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ourier New"/>
            </a:endParaRPr>
          </a:p>
        </p:txBody>
      </p:sp>
      <p:sp>
        <p:nvSpPr>
          <p:cNvPr id="274" name="文字方塊 273">
            <a:extLst>
              <a:ext uri="{FF2B5EF4-FFF2-40B4-BE49-F238E27FC236}">
                <a16:creationId xmlns:a16="http://schemas.microsoft.com/office/drawing/2014/main" id="{6EC4FCC5-4665-487F-90FC-AE3177F27CE4}"/>
              </a:ext>
            </a:extLst>
          </p:cNvPr>
          <p:cNvSpPr txBox="1"/>
          <p:nvPr/>
        </p:nvSpPr>
        <p:spPr>
          <a:xfrm>
            <a:off x="4470400" y="3299023"/>
            <a:ext cx="32766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 dirty="0">
                <a:solidFill>
                  <a:srgbClr val="8AAB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XML </a:t>
            </a:r>
            <a:r>
              <a:rPr lang="zh-TW" altLang="en-US" sz="1400" b="1" dirty="0">
                <a:solidFill>
                  <a:srgbClr val="8AAB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標籤字元，</a:t>
            </a:r>
            <a:r>
              <a:rPr lang="en-US" altLang="zh-TW" sz="1400" b="1" dirty="0">
                <a:solidFill>
                  <a:srgbClr val="8AAB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YAML </a:t>
            </a:r>
            <a:r>
              <a:rPr lang="zh-TW" altLang="en-US" sz="1400" b="1" dirty="0">
                <a:solidFill>
                  <a:srgbClr val="8AAB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區塊絕對禁止</a:t>
            </a:r>
          </a:p>
        </p:txBody>
      </p:sp>
      <p:sp>
        <p:nvSpPr>
          <p:cNvPr id="275" name="矩形: 圓角 274">
            <a:extLst>
              <a:ext uri="{FF2B5EF4-FFF2-40B4-BE49-F238E27FC236}">
                <a16:creationId xmlns:a16="http://schemas.microsoft.com/office/drawing/2014/main" id="{FF0A40FE-5584-435D-A0F7-16AC8093D1C6}"/>
              </a:ext>
            </a:extLst>
          </p:cNvPr>
          <p:cNvSpPr/>
          <p:nvPr/>
        </p:nvSpPr>
        <p:spPr>
          <a:xfrm>
            <a:off x="4470400" y="3835400"/>
            <a:ext cx="3276600" cy="457200"/>
          </a:xfrm>
          <a:prstGeom prst="roundRect">
            <a:avLst/>
          </a:prstGeom>
          <a:solidFill>
            <a:srgbClr val="0914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049B1D94-69AE-4424-9AA0-988321189018}"/>
              </a:ext>
            </a:extLst>
          </p:cNvPr>
          <p:cNvSpPr/>
          <p:nvPr/>
        </p:nvSpPr>
        <p:spPr>
          <a:xfrm>
            <a:off x="4470400" y="3835400"/>
            <a:ext cx="38100" cy="4572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7" name="文字方塊 276">
            <a:extLst>
              <a:ext uri="{FF2B5EF4-FFF2-40B4-BE49-F238E27FC236}">
                <a16:creationId xmlns:a16="http://schemas.microsoft.com/office/drawing/2014/main" id="{21FCAFEB-7905-4967-A3B7-881D7175B198}"/>
              </a:ext>
            </a:extLst>
          </p:cNvPr>
          <p:cNvSpPr txBox="1"/>
          <p:nvPr/>
        </p:nvSpPr>
        <p:spPr>
          <a:xfrm>
            <a:off x="4597400" y="3886200"/>
            <a:ext cx="30734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>
                <a:solidFill>
                  <a:srgbClr val="36CBD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/>
              </a:rPr>
              <a:t>XML </a:t>
            </a:r>
            <a:r>
              <a:rPr lang="zh-TW" altLang="en-US" sz="1400" b="1">
                <a:solidFill>
                  <a:srgbClr val="36CBD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/>
              </a:rPr>
              <a:t>片段</a:t>
            </a:r>
          </a:p>
        </p:txBody>
      </p:sp>
      <p:sp>
        <p:nvSpPr>
          <p:cNvPr id="278" name="文字方塊 277">
            <a:extLst>
              <a:ext uri="{FF2B5EF4-FFF2-40B4-BE49-F238E27FC236}">
                <a16:creationId xmlns:a16="http://schemas.microsoft.com/office/drawing/2014/main" id="{A03B7C4D-7BB5-47F9-ADC0-040E3A298183}"/>
              </a:ext>
            </a:extLst>
          </p:cNvPr>
          <p:cNvSpPr txBox="1"/>
          <p:nvPr/>
        </p:nvSpPr>
        <p:spPr>
          <a:xfrm>
            <a:off x="4470400" y="4447977"/>
            <a:ext cx="32766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 b="1" dirty="0">
                <a:solidFill>
                  <a:srgbClr val="8AAB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引發資安風險及讀取錯誤</a:t>
            </a:r>
          </a:p>
        </p:txBody>
      </p:sp>
      <p:sp>
        <p:nvSpPr>
          <p:cNvPr id="279" name="矩形 278">
            <a:extLst>
              <a:ext uri="{FF2B5EF4-FFF2-40B4-BE49-F238E27FC236}">
                <a16:creationId xmlns:a16="http://schemas.microsoft.com/office/drawing/2014/main" id="{18517E6F-1F25-4A16-97F6-0751147CEAED}"/>
              </a:ext>
            </a:extLst>
          </p:cNvPr>
          <p:cNvSpPr/>
          <p:nvPr/>
        </p:nvSpPr>
        <p:spPr>
          <a:xfrm>
            <a:off x="4470400" y="5308600"/>
            <a:ext cx="3276600" cy="787400"/>
          </a:xfrm>
          <a:prstGeom prst="rect">
            <a:avLst/>
          </a:prstGeom>
          <a:solidFill>
            <a:srgbClr val="060E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0" name="文字方塊 279">
            <a:extLst>
              <a:ext uri="{FF2B5EF4-FFF2-40B4-BE49-F238E27FC236}">
                <a16:creationId xmlns:a16="http://schemas.microsoft.com/office/drawing/2014/main" id="{391731F7-5C82-4F0A-AA03-D992CBB13EA4}"/>
              </a:ext>
            </a:extLst>
          </p:cNvPr>
          <p:cNvSpPr txBox="1"/>
          <p:nvPr/>
        </p:nvSpPr>
        <p:spPr>
          <a:xfrm>
            <a:off x="4521200" y="53848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💡</a:t>
            </a:r>
          </a:p>
        </p:txBody>
      </p:sp>
      <p:sp>
        <p:nvSpPr>
          <p:cNvPr id="281" name="文字方塊 280">
            <a:extLst>
              <a:ext uri="{FF2B5EF4-FFF2-40B4-BE49-F238E27FC236}">
                <a16:creationId xmlns:a16="http://schemas.microsoft.com/office/drawing/2014/main" id="{FA6747F9-EA8B-4D2F-BEF5-80D4A22CA6D8}"/>
              </a:ext>
            </a:extLst>
          </p:cNvPr>
          <p:cNvSpPr txBox="1"/>
          <p:nvPr/>
        </p:nvSpPr>
        <p:spPr>
          <a:xfrm>
            <a:off x="4851400" y="538480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>
                <a:solidFill>
                  <a:srgbClr val="6A8BA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YAML </a:t>
            </a:r>
            <a:r>
              <a:rPr lang="zh-TW" altLang="en-US" sz="1400" b="1">
                <a:solidFill>
                  <a:srgbClr val="6A8BA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內只放純文字說明
不要嵌入任何標記語言</a:t>
            </a:r>
          </a:p>
        </p:txBody>
      </p:sp>
      <p:sp>
        <p:nvSpPr>
          <p:cNvPr id="282" name="矩形: 圓角 281">
            <a:extLst>
              <a:ext uri="{FF2B5EF4-FFF2-40B4-BE49-F238E27FC236}">
                <a16:creationId xmlns:a16="http://schemas.microsoft.com/office/drawing/2014/main" id="{ABAFE549-BB6A-441F-9D96-241EA44D314C}"/>
              </a:ext>
            </a:extLst>
          </p:cNvPr>
          <p:cNvSpPr/>
          <p:nvPr/>
        </p:nvSpPr>
        <p:spPr>
          <a:xfrm>
            <a:off x="8305800" y="1244600"/>
            <a:ext cx="3683000" cy="5080000"/>
          </a:xfrm>
          <a:prstGeom prst="roundRect">
            <a:avLst/>
          </a:prstGeom>
          <a:solidFill>
            <a:srgbClr val="0D1E3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AB237BAD-E2CE-493E-8924-0B94C72A2216}"/>
              </a:ext>
            </a:extLst>
          </p:cNvPr>
          <p:cNvSpPr/>
          <p:nvPr/>
        </p:nvSpPr>
        <p:spPr>
          <a:xfrm>
            <a:off x="8305800" y="1244600"/>
            <a:ext cx="3683000" cy="63500"/>
          </a:xfrm>
          <a:prstGeom prst="rect">
            <a:avLst/>
          </a:prstGeom>
          <a:solidFill>
            <a:srgbClr val="FFD6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4" name="文字方塊 283">
            <a:extLst>
              <a:ext uri="{FF2B5EF4-FFF2-40B4-BE49-F238E27FC236}">
                <a16:creationId xmlns:a16="http://schemas.microsoft.com/office/drawing/2014/main" id="{DE117C92-DE5A-4260-ADCC-9339E9375613}"/>
              </a:ext>
            </a:extLst>
          </p:cNvPr>
          <p:cNvSpPr txBox="1"/>
          <p:nvPr/>
        </p:nvSpPr>
        <p:spPr>
          <a:xfrm>
            <a:off x="8509000" y="1422400"/>
            <a:ext cx="32766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200" b="1">
                <a:solidFill>
                  <a:srgbClr val="FFD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Rule 03</a:t>
            </a:r>
            <a:endParaRPr lang="zh-TW" altLang="en-US" sz="2200" b="1">
              <a:solidFill>
                <a:srgbClr val="FFD6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5" name="文字方塊 284">
            <a:extLst>
              <a:ext uri="{FF2B5EF4-FFF2-40B4-BE49-F238E27FC236}">
                <a16:creationId xmlns:a16="http://schemas.microsoft.com/office/drawing/2014/main" id="{4E6A0268-A3F2-4496-8091-08F9DA1E8706}"/>
              </a:ext>
            </a:extLst>
          </p:cNvPr>
          <p:cNvSpPr txBox="1"/>
          <p:nvPr/>
        </p:nvSpPr>
        <p:spPr>
          <a:xfrm>
            <a:off x="8509000" y="1854200"/>
            <a:ext cx="3276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b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檔名限制</a:t>
            </a:r>
          </a:p>
        </p:txBody>
      </p:sp>
      <p:sp>
        <p:nvSpPr>
          <p:cNvPr id="286" name="文字方塊 285">
            <a:extLst>
              <a:ext uri="{FF2B5EF4-FFF2-40B4-BE49-F238E27FC236}">
                <a16:creationId xmlns:a16="http://schemas.microsoft.com/office/drawing/2014/main" id="{66BDF6B2-74CC-4754-B368-D82C15ECE590}"/>
              </a:ext>
            </a:extLst>
          </p:cNvPr>
          <p:cNvSpPr txBox="1"/>
          <p:nvPr/>
        </p:nvSpPr>
        <p:spPr>
          <a:xfrm>
            <a:off x="8509000" y="2235200"/>
            <a:ext cx="32766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 b="1">
                <a:solidFill>
                  <a:srgbClr val="FFD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資料夾結構限制</a:t>
            </a:r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F9FDC1F7-B5A8-4ECE-AB1C-BE1CB4F28478}"/>
              </a:ext>
            </a:extLst>
          </p:cNvPr>
          <p:cNvSpPr/>
          <p:nvPr/>
        </p:nvSpPr>
        <p:spPr>
          <a:xfrm>
            <a:off x="8509000" y="2590800"/>
            <a:ext cx="3276600" cy="25400"/>
          </a:xfrm>
          <a:prstGeom prst="rect">
            <a:avLst/>
          </a:prstGeom>
          <a:solidFill>
            <a:srgbClr val="FFD6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8" name="矩形: 圓角 287">
            <a:extLst>
              <a:ext uri="{FF2B5EF4-FFF2-40B4-BE49-F238E27FC236}">
                <a16:creationId xmlns:a16="http://schemas.microsoft.com/office/drawing/2014/main" id="{71887D64-20EE-43CF-86C1-549DE388910A}"/>
              </a:ext>
            </a:extLst>
          </p:cNvPr>
          <p:cNvSpPr/>
          <p:nvPr/>
        </p:nvSpPr>
        <p:spPr>
          <a:xfrm>
            <a:off x="8509000" y="2743200"/>
            <a:ext cx="3276600" cy="457200"/>
          </a:xfrm>
          <a:prstGeom prst="roundRect">
            <a:avLst/>
          </a:prstGeom>
          <a:solidFill>
            <a:srgbClr val="0914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F6A594C0-AF82-4DEB-87FE-1C73AD9E5B4F}"/>
              </a:ext>
            </a:extLst>
          </p:cNvPr>
          <p:cNvSpPr/>
          <p:nvPr/>
        </p:nvSpPr>
        <p:spPr>
          <a:xfrm>
            <a:off x="8509000" y="2743200"/>
            <a:ext cx="38100" cy="457200"/>
          </a:xfrm>
          <a:prstGeom prst="rect">
            <a:avLst/>
          </a:prstGeom>
          <a:solidFill>
            <a:srgbClr val="FFD6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0" name="文字方塊 289">
            <a:extLst>
              <a:ext uri="{FF2B5EF4-FFF2-40B4-BE49-F238E27FC236}">
                <a16:creationId xmlns:a16="http://schemas.microsoft.com/office/drawing/2014/main" id="{C197B822-8357-4582-B2CC-74F3CEF2A9A5}"/>
              </a:ext>
            </a:extLst>
          </p:cNvPr>
          <p:cNvSpPr txBox="1"/>
          <p:nvPr/>
        </p:nvSpPr>
        <p:spPr>
          <a:xfrm>
            <a:off x="8636000" y="2823398"/>
            <a:ext cx="30734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 dirty="0">
                <a:solidFill>
                  <a:srgbClr val="FFD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/>
              </a:rPr>
              <a:t>skill.md</a:t>
            </a:r>
            <a:r>
              <a:rPr lang="zh-TW" altLang="en-US" sz="1400" b="1" dirty="0">
                <a:solidFill>
                  <a:srgbClr val="FFD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/>
              </a:rPr>
              <a:t>（小寫）</a:t>
            </a:r>
          </a:p>
        </p:txBody>
      </p:sp>
      <p:sp>
        <p:nvSpPr>
          <p:cNvPr id="291" name="文字方塊 290">
            <a:extLst>
              <a:ext uri="{FF2B5EF4-FFF2-40B4-BE49-F238E27FC236}">
                <a16:creationId xmlns:a16="http://schemas.microsoft.com/office/drawing/2014/main" id="{F4726517-0F34-4412-B72F-3D209FF1E763}"/>
              </a:ext>
            </a:extLst>
          </p:cNvPr>
          <p:cNvSpPr txBox="1"/>
          <p:nvPr/>
        </p:nvSpPr>
        <p:spPr>
          <a:xfrm>
            <a:off x="8509000" y="3299022"/>
            <a:ext cx="32766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 b="1" dirty="0">
                <a:solidFill>
                  <a:srgbClr val="8AAB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核心檔案只能是全大寫 </a:t>
            </a:r>
            <a:r>
              <a:rPr lang="en-US" altLang="zh-TW" sz="1400" b="1" dirty="0">
                <a:solidFill>
                  <a:srgbClr val="8AAB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SKILL.md</a:t>
            </a:r>
            <a:endParaRPr lang="zh-TW" altLang="en-US" sz="1400" b="1" dirty="0">
              <a:solidFill>
                <a:srgbClr val="8AABC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2" name="矩形: 圓角 291">
            <a:extLst>
              <a:ext uri="{FF2B5EF4-FFF2-40B4-BE49-F238E27FC236}">
                <a16:creationId xmlns:a16="http://schemas.microsoft.com/office/drawing/2014/main" id="{B302918F-3AEC-4C79-92A1-60BC01B9D906}"/>
              </a:ext>
            </a:extLst>
          </p:cNvPr>
          <p:cNvSpPr/>
          <p:nvPr/>
        </p:nvSpPr>
        <p:spPr>
          <a:xfrm>
            <a:off x="8509000" y="3835400"/>
            <a:ext cx="3276600" cy="457200"/>
          </a:xfrm>
          <a:prstGeom prst="roundRect">
            <a:avLst/>
          </a:prstGeom>
          <a:solidFill>
            <a:srgbClr val="0914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CEB2496D-848C-4436-AFAA-F75D2E0C1198}"/>
              </a:ext>
            </a:extLst>
          </p:cNvPr>
          <p:cNvSpPr/>
          <p:nvPr/>
        </p:nvSpPr>
        <p:spPr>
          <a:xfrm>
            <a:off x="8509000" y="3835400"/>
            <a:ext cx="38100" cy="457200"/>
          </a:xfrm>
          <a:prstGeom prst="rect">
            <a:avLst/>
          </a:prstGeom>
          <a:solidFill>
            <a:srgbClr val="FFD6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4" name="文字方塊 293">
            <a:extLst>
              <a:ext uri="{FF2B5EF4-FFF2-40B4-BE49-F238E27FC236}">
                <a16:creationId xmlns:a16="http://schemas.microsoft.com/office/drawing/2014/main" id="{4081663F-27F1-4FC3-B110-AB56C9B814CE}"/>
              </a:ext>
            </a:extLst>
          </p:cNvPr>
          <p:cNvSpPr txBox="1"/>
          <p:nvPr/>
        </p:nvSpPr>
        <p:spPr>
          <a:xfrm>
            <a:off x="8636000" y="3935511"/>
            <a:ext cx="30734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b="1" dirty="0">
                <a:solidFill>
                  <a:srgbClr val="FFD6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ourier New"/>
              </a:rPr>
              <a:t>README.md</a:t>
            </a:r>
            <a:endParaRPr lang="zh-TW" altLang="en-US" sz="1400" b="1" dirty="0">
              <a:solidFill>
                <a:srgbClr val="FFD6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Courier New"/>
            </a:endParaRPr>
          </a:p>
        </p:txBody>
      </p:sp>
      <p:sp>
        <p:nvSpPr>
          <p:cNvPr id="295" name="文字方塊 294">
            <a:extLst>
              <a:ext uri="{FF2B5EF4-FFF2-40B4-BE49-F238E27FC236}">
                <a16:creationId xmlns:a16="http://schemas.microsoft.com/office/drawing/2014/main" id="{9A7711FD-546A-414B-BAFE-219F7F2C4BCF}"/>
              </a:ext>
            </a:extLst>
          </p:cNvPr>
          <p:cNvSpPr txBox="1"/>
          <p:nvPr/>
        </p:nvSpPr>
        <p:spPr>
          <a:xfrm>
            <a:off x="8509000" y="4447977"/>
            <a:ext cx="32766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 b="1">
                <a:solidFill>
                  <a:srgbClr val="8AAB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資料夾內不要放，系統將被混淆</a:t>
            </a:r>
          </a:p>
        </p:txBody>
      </p:sp>
      <p:sp>
        <p:nvSpPr>
          <p:cNvPr id="296" name="矩形 295">
            <a:extLst>
              <a:ext uri="{FF2B5EF4-FFF2-40B4-BE49-F238E27FC236}">
                <a16:creationId xmlns:a16="http://schemas.microsoft.com/office/drawing/2014/main" id="{08779932-5D0D-4EF0-B1E1-F46A65FD93C5}"/>
              </a:ext>
            </a:extLst>
          </p:cNvPr>
          <p:cNvSpPr/>
          <p:nvPr/>
        </p:nvSpPr>
        <p:spPr>
          <a:xfrm>
            <a:off x="8509000" y="5308600"/>
            <a:ext cx="3276600" cy="787400"/>
          </a:xfrm>
          <a:prstGeom prst="rect">
            <a:avLst/>
          </a:prstGeom>
          <a:solidFill>
            <a:srgbClr val="060E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7" name="文字方塊 296">
            <a:extLst>
              <a:ext uri="{FF2B5EF4-FFF2-40B4-BE49-F238E27FC236}">
                <a16:creationId xmlns:a16="http://schemas.microsoft.com/office/drawing/2014/main" id="{08F578CE-8722-45E4-9AC4-54543697EE0E}"/>
              </a:ext>
            </a:extLst>
          </p:cNvPr>
          <p:cNvSpPr txBox="1"/>
          <p:nvPr/>
        </p:nvSpPr>
        <p:spPr>
          <a:xfrm>
            <a:off x="8559800" y="5384800"/>
            <a:ext cx="304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💡</a:t>
            </a:r>
          </a:p>
        </p:txBody>
      </p:sp>
      <p:sp>
        <p:nvSpPr>
          <p:cNvPr id="298" name="文字方塊 297">
            <a:extLst>
              <a:ext uri="{FF2B5EF4-FFF2-40B4-BE49-F238E27FC236}">
                <a16:creationId xmlns:a16="http://schemas.microsoft.com/office/drawing/2014/main" id="{F70F5AE8-3DA0-4B26-8835-C8B63C736043}"/>
              </a:ext>
            </a:extLst>
          </p:cNvPr>
          <p:cNvSpPr txBox="1"/>
          <p:nvPr/>
        </p:nvSpPr>
        <p:spPr>
          <a:xfrm>
            <a:off x="8890000" y="538480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 b="1">
                <a:solidFill>
                  <a:srgbClr val="6A8BA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資料夾名稱用英文小寫
核心檔案必須全大寫 </a:t>
            </a:r>
            <a:r>
              <a:rPr lang="en-US" altLang="zh-TW" sz="1400" b="1">
                <a:solidFill>
                  <a:srgbClr val="6A8BA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SKILL.md</a:t>
            </a:r>
            <a:endParaRPr lang="zh-TW" altLang="en-US" sz="1400" b="1">
              <a:solidFill>
                <a:srgbClr val="6A8BA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9" name="文字方塊 298">
            <a:extLst>
              <a:ext uri="{FF2B5EF4-FFF2-40B4-BE49-F238E27FC236}">
                <a16:creationId xmlns:a16="http://schemas.microsoft.com/office/drawing/2014/main" id="{4238261E-812D-1B6A-ABD5-2DC952C5E8A9}"/>
              </a:ext>
            </a:extLst>
          </p:cNvPr>
          <p:cNvSpPr txBox="1"/>
          <p:nvPr/>
        </p:nvSpPr>
        <p:spPr>
          <a:xfrm>
            <a:off x="50800" y="171450"/>
            <a:ext cx="1016000" cy="889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altLang="zh-TW" sz="4000" b="1" dirty="0">
                <a:solidFill>
                  <a:srgbClr val="186AFF"/>
                </a:solidFill>
                <a:latin typeface="Microsoft JhengHei"/>
                <a:ea typeface="Microsoft JhengHei"/>
              </a:rPr>
              <a:t>04</a:t>
            </a:r>
            <a:endParaRPr lang="zh-TW" altLang="en-US" sz="4000" b="1" dirty="0">
              <a:solidFill>
                <a:srgbClr val="186AFF"/>
              </a:solidFill>
              <a:latin typeface="Microsoft Jheng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156706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矩形 111">
            <a:extLst>
              <a:ext uri="{FF2B5EF4-FFF2-40B4-BE49-F238E27FC236}">
                <a16:creationId xmlns:a16="http://schemas.microsoft.com/office/drawing/2014/main" id="{F6039DA0-DE59-4858-886A-1F2D20BD5D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41A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dirty="0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7E8D9362-26EF-4E5A-BD05-3DF8614CE119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CE986934-5BD4-4DCF-A091-35DFAA2BEB6B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35F9C310-C567-4F8F-BA82-CA12D65ACE60}"/>
              </a:ext>
            </a:extLst>
          </p:cNvPr>
          <p:cNvSpPr/>
          <p:nvPr/>
        </p:nvSpPr>
        <p:spPr>
          <a:xfrm>
            <a:off x="0" y="6578600"/>
            <a:ext cx="4064000" cy="279400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4697870B-0A9F-4A2C-8AB8-8C066A5FE3FA}"/>
              </a:ext>
            </a:extLst>
          </p:cNvPr>
          <p:cNvSpPr/>
          <p:nvPr/>
        </p:nvSpPr>
        <p:spPr>
          <a:xfrm>
            <a:off x="4064000" y="6578600"/>
            <a:ext cx="4064000" cy="2794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79DECB30-AEBD-4A6C-A9F5-A57704B12943}"/>
              </a:ext>
            </a:extLst>
          </p:cNvPr>
          <p:cNvSpPr/>
          <p:nvPr/>
        </p:nvSpPr>
        <p:spPr>
          <a:xfrm>
            <a:off x="8128000" y="6578600"/>
            <a:ext cx="4064000" cy="279400"/>
          </a:xfrm>
          <a:prstGeom prst="rect">
            <a:avLst/>
          </a:prstGeom>
          <a:solidFill>
            <a:srgbClr val="0843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40A06698-E440-4324-A68C-87BD80CB5B2A}"/>
              </a:ext>
            </a:extLst>
          </p:cNvPr>
          <p:cNvSpPr/>
          <p:nvPr/>
        </p:nvSpPr>
        <p:spPr>
          <a:xfrm>
            <a:off x="101600" y="1476694"/>
            <a:ext cx="12090400" cy="45719"/>
          </a:xfrm>
          <a:prstGeom prst="rect">
            <a:avLst/>
          </a:prstGeom>
          <a:solidFill>
            <a:srgbClr val="36CBD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A58DD41F-9BD0-4A7A-8D81-6E4764F8FEB9}"/>
              </a:ext>
            </a:extLst>
          </p:cNvPr>
          <p:cNvSpPr/>
          <p:nvPr/>
        </p:nvSpPr>
        <p:spPr>
          <a:xfrm>
            <a:off x="123824" y="1854200"/>
            <a:ext cx="11814175" cy="1244600"/>
          </a:xfrm>
          <a:prstGeom prst="rect">
            <a:avLst/>
          </a:prstGeom>
          <a:solidFill>
            <a:srgbClr val="0D3A6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grpSp>
        <p:nvGrpSpPr>
          <p:cNvPr id="154" name="群組 153">
            <a:extLst>
              <a:ext uri="{FF2B5EF4-FFF2-40B4-BE49-F238E27FC236}">
                <a16:creationId xmlns:a16="http://schemas.microsoft.com/office/drawing/2014/main" id="{488FAC66-347A-C806-F0B8-B13B5E0FD6D3}"/>
              </a:ext>
            </a:extLst>
          </p:cNvPr>
          <p:cNvGrpSpPr/>
          <p:nvPr/>
        </p:nvGrpSpPr>
        <p:grpSpPr>
          <a:xfrm>
            <a:off x="225425" y="1860550"/>
            <a:ext cx="1143000" cy="1244600"/>
            <a:chOff x="177800" y="2540000"/>
            <a:chExt cx="1143000" cy="1244600"/>
          </a:xfrm>
        </p:grpSpPr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63E4E2EA-F26A-4D40-B14E-13027F327BFF}"/>
                </a:ext>
              </a:extLst>
            </p:cNvPr>
            <p:cNvSpPr/>
            <p:nvPr/>
          </p:nvSpPr>
          <p:spPr>
            <a:xfrm>
              <a:off x="177800" y="2540000"/>
              <a:ext cx="76200" cy="1244600"/>
            </a:xfrm>
            <a:prstGeom prst="rect">
              <a:avLst/>
            </a:prstGeom>
            <a:solidFill>
              <a:srgbClr val="36CBD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/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290D9EE5-F187-4E53-A57D-06686510B2B9}"/>
                </a:ext>
              </a:extLst>
            </p:cNvPr>
            <p:cNvSpPr/>
            <p:nvPr/>
          </p:nvSpPr>
          <p:spPr>
            <a:xfrm>
              <a:off x="254000" y="2540000"/>
              <a:ext cx="1066800" cy="304800"/>
            </a:xfrm>
            <a:prstGeom prst="rect">
              <a:avLst/>
            </a:prstGeom>
            <a:solidFill>
              <a:srgbClr val="36CBD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/>
            </a:p>
          </p:txBody>
        </p:sp>
        <p:sp>
          <p:nvSpPr>
            <p:cNvPr id="128" name="文字方塊 127">
              <a:extLst>
                <a:ext uri="{FF2B5EF4-FFF2-40B4-BE49-F238E27FC236}">
                  <a16:creationId xmlns:a16="http://schemas.microsoft.com/office/drawing/2014/main" id="{E2D31690-89FC-404C-82C0-EF09444EB270}"/>
                </a:ext>
              </a:extLst>
            </p:cNvPr>
            <p:cNvSpPr txBox="1"/>
            <p:nvPr/>
          </p:nvSpPr>
          <p:spPr>
            <a:xfrm>
              <a:off x="425450" y="2997200"/>
              <a:ext cx="787400" cy="406400"/>
            </a:xfrm>
            <a:prstGeom prst="rect">
              <a:avLst/>
            </a:prstGeom>
            <a:noFill/>
          </p:spPr>
          <p:txBody>
            <a:bodyPr vertOverflow="overflow" vert="horz" wrap="none" rtlCol="0" anchor="t" anchorCtr="0">
              <a:noAutofit/>
            </a:bodyPr>
            <a:lstStyle/>
            <a:p>
              <a:pPr algn="l"/>
              <a:r>
                <a:rPr lang="en-US" altLang="zh-TW" sz="2800" b="1" dirty="0">
                  <a:solidFill>
                    <a:srgbClr val="36CBDA"/>
                  </a:solidFill>
                  <a:latin typeface="Microsoft JhengHei"/>
                  <a:ea typeface="Microsoft JhengHei"/>
                </a:rPr>
                <a:t>01</a:t>
              </a:r>
              <a:endParaRPr lang="zh-TW" altLang="en-US" sz="2800" b="1" dirty="0">
                <a:solidFill>
                  <a:srgbClr val="36CBDA"/>
                </a:solidFill>
                <a:latin typeface="Microsoft JhengHei"/>
                <a:ea typeface="Microsoft JhengHei"/>
              </a:endParaRPr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54CC57CF-ADEF-4E95-B4A9-A1B8B3980185}"/>
                </a:ext>
              </a:extLst>
            </p:cNvPr>
            <p:cNvSpPr/>
            <p:nvPr/>
          </p:nvSpPr>
          <p:spPr>
            <a:xfrm>
              <a:off x="1295400" y="2667000"/>
              <a:ext cx="25400" cy="990600"/>
            </a:xfrm>
            <a:prstGeom prst="rect">
              <a:avLst/>
            </a:prstGeom>
            <a:solidFill>
              <a:srgbClr val="36CBD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/>
            </a:p>
          </p:txBody>
        </p:sp>
      </p:grpSp>
      <p:sp>
        <p:nvSpPr>
          <p:cNvPr id="130" name="文字方塊 129">
            <a:extLst>
              <a:ext uri="{FF2B5EF4-FFF2-40B4-BE49-F238E27FC236}">
                <a16:creationId xmlns:a16="http://schemas.microsoft.com/office/drawing/2014/main" id="{BC501EB4-C071-40F9-9C01-A50CB4C676B9}"/>
              </a:ext>
            </a:extLst>
          </p:cNvPr>
          <p:cNvSpPr txBox="1"/>
          <p:nvPr/>
        </p:nvSpPr>
        <p:spPr>
          <a:xfrm>
            <a:off x="1475978" y="2043748"/>
            <a:ext cx="10363200" cy="381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zh-TW" altLang="en-US" sz="2000" b="1" dirty="0">
                <a:solidFill>
                  <a:srgbClr val="FFFFFF"/>
                </a:solidFill>
                <a:latin typeface="Microsoft JhengHei"/>
                <a:ea typeface="Microsoft JhengHei"/>
              </a:rPr>
              <a:t>一致的品質標準</a:t>
            </a:r>
          </a:p>
        </p:txBody>
      </p:sp>
      <p:sp>
        <p:nvSpPr>
          <p:cNvPr id="131" name="文字方塊 130">
            <a:extLst>
              <a:ext uri="{FF2B5EF4-FFF2-40B4-BE49-F238E27FC236}">
                <a16:creationId xmlns:a16="http://schemas.microsoft.com/office/drawing/2014/main" id="{C35CB2B9-88ED-4100-8C1E-8553399C6555}"/>
              </a:ext>
            </a:extLst>
          </p:cNvPr>
          <p:cNvSpPr txBox="1"/>
          <p:nvPr/>
        </p:nvSpPr>
        <p:spPr>
          <a:xfrm>
            <a:off x="1603375" y="2497773"/>
            <a:ext cx="103632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TW" altLang="en-US" sz="1400" b="1" dirty="0">
                <a:solidFill>
                  <a:srgbClr val="B2D9FC"/>
                </a:solidFill>
                <a:latin typeface="Microsoft JhengHei"/>
                <a:ea typeface="Microsoft JhengHei"/>
              </a:rPr>
              <a:t>將固定的資料清洗步驟或程式碼審查寫成 </a:t>
            </a:r>
            <a:r>
              <a:rPr lang="en-US" altLang="zh-TW" sz="1400" b="1" dirty="0">
                <a:solidFill>
                  <a:srgbClr val="B2D9FC"/>
                </a:solidFill>
                <a:latin typeface="Microsoft JhengHei"/>
                <a:ea typeface="Microsoft JhengHei"/>
              </a:rPr>
              <a:t>Skills</a:t>
            </a:r>
            <a:r>
              <a:rPr lang="zh-TW" altLang="en-US" sz="1400" b="1" dirty="0">
                <a:solidFill>
                  <a:srgbClr val="B2D9FC"/>
                </a:solidFill>
                <a:latin typeface="Microsoft JhengHei"/>
                <a:ea typeface="Microsoft JhengHei"/>
              </a:rPr>
              <a:t>，確保每次執行品質都一樣標準，不再依賴個人 </a:t>
            </a:r>
            <a:r>
              <a:rPr lang="en-US" altLang="zh-TW" sz="1400" b="1" dirty="0">
                <a:solidFill>
                  <a:srgbClr val="B2D9FC"/>
                </a:solidFill>
                <a:latin typeface="Microsoft JhengHei"/>
                <a:ea typeface="Microsoft JhengHei"/>
              </a:rPr>
              <a:t>Prompt </a:t>
            </a:r>
            <a:r>
              <a:rPr lang="zh-TW" altLang="en-US" sz="1400" b="1" dirty="0">
                <a:solidFill>
                  <a:srgbClr val="B2D9FC"/>
                </a:solidFill>
                <a:latin typeface="Microsoft JhengHei"/>
                <a:ea typeface="Microsoft JhengHei"/>
              </a:rPr>
              <a:t>好壞。</a:t>
            </a:r>
          </a:p>
        </p:txBody>
      </p:sp>
      <p:grpSp>
        <p:nvGrpSpPr>
          <p:cNvPr id="156" name="群組 155">
            <a:extLst>
              <a:ext uri="{FF2B5EF4-FFF2-40B4-BE49-F238E27FC236}">
                <a16:creationId xmlns:a16="http://schemas.microsoft.com/office/drawing/2014/main" id="{51324427-E406-EB34-51BD-4ABAD3D41372}"/>
              </a:ext>
            </a:extLst>
          </p:cNvPr>
          <p:cNvGrpSpPr/>
          <p:nvPr/>
        </p:nvGrpSpPr>
        <p:grpSpPr>
          <a:xfrm>
            <a:off x="101600" y="3435350"/>
            <a:ext cx="11836400" cy="1244600"/>
            <a:chOff x="177800" y="3873500"/>
            <a:chExt cx="11836400" cy="1244600"/>
          </a:xfrm>
        </p:grpSpPr>
        <p:grpSp>
          <p:nvGrpSpPr>
            <p:cNvPr id="155" name="群組 154">
              <a:extLst>
                <a:ext uri="{FF2B5EF4-FFF2-40B4-BE49-F238E27FC236}">
                  <a16:creationId xmlns:a16="http://schemas.microsoft.com/office/drawing/2014/main" id="{84E56CB6-E2CF-B57F-5BE6-40DF64368644}"/>
                </a:ext>
              </a:extLst>
            </p:cNvPr>
            <p:cNvGrpSpPr/>
            <p:nvPr/>
          </p:nvGrpSpPr>
          <p:grpSpPr>
            <a:xfrm>
              <a:off x="177800" y="4419600"/>
              <a:ext cx="482600" cy="152400"/>
              <a:chOff x="177800" y="4419600"/>
              <a:chExt cx="482600" cy="152400"/>
            </a:xfrm>
          </p:grpSpPr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50FDFDC6-DA29-46E3-81E6-2D6E6AF2727B}"/>
                  </a:ext>
                </a:extLst>
              </p:cNvPr>
              <p:cNvSpPr/>
              <p:nvPr/>
            </p:nvSpPr>
            <p:spPr>
              <a:xfrm>
                <a:off x="508000" y="4419600"/>
                <a:ext cx="152400" cy="152400"/>
              </a:xfrm>
              <a:prstGeom prst="rect">
                <a:avLst/>
              </a:prstGeom>
              <a:solidFill>
                <a:srgbClr val="186AFF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zh-TW" altLang="en-US"/>
              </a:p>
            </p:txBody>
          </p:sp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2F928B15-2164-4F5A-AD9C-0C9BC3742E45}"/>
                  </a:ext>
                </a:extLst>
              </p:cNvPr>
              <p:cNvSpPr/>
              <p:nvPr/>
            </p:nvSpPr>
            <p:spPr>
              <a:xfrm>
                <a:off x="177800" y="4483100"/>
                <a:ext cx="330200" cy="25400"/>
              </a:xfrm>
              <a:prstGeom prst="rect">
                <a:avLst/>
              </a:prstGeom>
              <a:solidFill>
                <a:srgbClr val="186AFF"/>
              </a:solidFill>
              <a:ln w="1270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t"/>
              <a:lstStyle/>
              <a:p>
                <a:pPr algn="l"/>
                <a:endParaRPr lang="zh-TW" altLang="en-US"/>
              </a:p>
            </p:txBody>
          </p:sp>
        </p:grp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85376F07-211C-43C9-97D6-422A4D432AAF}"/>
                </a:ext>
              </a:extLst>
            </p:cNvPr>
            <p:cNvSpPr/>
            <p:nvPr/>
          </p:nvSpPr>
          <p:spPr>
            <a:xfrm>
              <a:off x="177800" y="3873500"/>
              <a:ext cx="11836400" cy="1244600"/>
            </a:xfrm>
            <a:prstGeom prst="rect">
              <a:avLst/>
            </a:prstGeom>
            <a:solidFill>
              <a:srgbClr val="072D7A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/>
            </a:p>
          </p:txBody>
        </p:sp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63129665-C348-4BA6-B40E-1A7723F8B8CE}"/>
                </a:ext>
              </a:extLst>
            </p:cNvPr>
            <p:cNvSpPr/>
            <p:nvPr/>
          </p:nvSpPr>
          <p:spPr>
            <a:xfrm>
              <a:off x="584200" y="3873500"/>
              <a:ext cx="114300" cy="1244600"/>
            </a:xfrm>
            <a:prstGeom prst="rect">
              <a:avLst/>
            </a:prstGeom>
            <a:solidFill>
              <a:srgbClr val="186A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/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33C9D508-3BB4-45E1-8C57-C665C6F5D854}"/>
                </a:ext>
              </a:extLst>
            </p:cNvPr>
            <p:cNvSpPr/>
            <p:nvPr/>
          </p:nvSpPr>
          <p:spPr>
            <a:xfrm>
              <a:off x="698500" y="3873500"/>
              <a:ext cx="1066800" cy="304800"/>
            </a:xfrm>
            <a:prstGeom prst="rect">
              <a:avLst/>
            </a:prstGeom>
            <a:solidFill>
              <a:srgbClr val="186A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/>
            </a:p>
          </p:txBody>
        </p:sp>
        <p:sp>
          <p:nvSpPr>
            <p:cNvPr id="138" name="文字方塊 137">
              <a:extLst>
                <a:ext uri="{FF2B5EF4-FFF2-40B4-BE49-F238E27FC236}">
                  <a16:creationId xmlns:a16="http://schemas.microsoft.com/office/drawing/2014/main" id="{30C5A404-AD81-4269-9BD5-18C3BA1B2CCF}"/>
                </a:ext>
              </a:extLst>
            </p:cNvPr>
            <p:cNvSpPr txBox="1"/>
            <p:nvPr/>
          </p:nvSpPr>
          <p:spPr>
            <a:xfrm>
              <a:off x="863600" y="4279900"/>
              <a:ext cx="787400" cy="482600"/>
            </a:xfrm>
            <a:prstGeom prst="rect">
              <a:avLst/>
            </a:prstGeom>
            <a:noFill/>
          </p:spPr>
          <p:txBody>
            <a:bodyPr vertOverflow="overflow" vert="horz" wrap="none" rtlCol="0" anchor="t" anchorCtr="0">
              <a:noAutofit/>
            </a:bodyPr>
            <a:lstStyle/>
            <a:p>
              <a:pPr algn="l"/>
              <a:r>
                <a:rPr lang="en-US" altLang="zh-TW" sz="3400" b="1" dirty="0">
                  <a:solidFill>
                    <a:srgbClr val="186AFF"/>
                  </a:solidFill>
                  <a:latin typeface="Microsoft JhengHei"/>
                  <a:ea typeface="Microsoft JhengHei"/>
                </a:rPr>
                <a:t>02</a:t>
              </a:r>
              <a:endParaRPr lang="zh-TW" altLang="en-US" sz="3400" b="1" dirty="0">
                <a:solidFill>
                  <a:srgbClr val="186AFF"/>
                </a:solidFill>
                <a:latin typeface="Microsoft JhengHei"/>
                <a:ea typeface="Microsoft JhengHei"/>
              </a:endParaRPr>
            </a:p>
          </p:txBody>
        </p:sp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DF103BFF-AE07-486A-81E3-D9B31A9C1B5F}"/>
                </a:ext>
              </a:extLst>
            </p:cNvPr>
            <p:cNvSpPr/>
            <p:nvPr/>
          </p:nvSpPr>
          <p:spPr>
            <a:xfrm>
              <a:off x="1739900" y="4000500"/>
              <a:ext cx="25400" cy="990600"/>
            </a:xfrm>
            <a:prstGeom prst="rect">
              <a:avLst/>
            </a:prstGeom>
            <a:solidFill>
              <a:srgbClr val="186A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/>
            </a:p>
          </p:txBody>
        </p:sp>
        <p:sp>
          <p:nvSpPr>
            <p:cNvPr id="140" name="文字方塊 139">
              <a:extLst>
                <a:ext uri="{FF2B5EF4-FFF2-40B4-BE49-F238E27FC236}">
                  <a16:creationId xmlns:a16="http://schemas.microsoft.com/office/drawing/2014/main" id="{6CEDA831-E076-41C0-A4E0-50A68A4E22BC}"/>
                </a:ext>
              </a:extLst>
            </p:cNvPr>
            <p:cNvSpPr txBox="1"/>
            <p:nvPr/>
          </p:nvSpPr>
          <p:spPr>
            <a:xfrm>
              <a:off x="1841500" y="4049713"/>
              <a:ext cx="9918700" cy="381000"/>
            </a:xfrm>
            <a:prstGeom prst="rect">
              <a:avLst/>
            </a:prstGeom>
            <a:noFill/>
          </p:spPr>
          <p:txBody>
            <a:bodyPr vertOverflow="overflow" vert="horz" wrap="none" rtlCol="0" anchor="t" anchorCtr="0">
              <a:noAutofit/>
            </a:bodyPr>
            <a:lstStyle/>
            <a:p>
              <a:pPr algn="l"/>
              <a:r>
                <a:rPr lang="zh-TW" altLang="en-US" sz="2000" b="1" dirty="0">
                  <a:solidFill>
                    <a:srgbClr val="FFFFFF"/>
                  </a:solidFill>
                  <a:latin typeface="Microsoft JhengHei"/>
                  <a:ea typeface="Microsoft JhengHei"/>
                </a:rPr>
                <a:t>寫一次，全隊共用</a:t>
              </a:r>
            </a:p>
          </p:txBody>
        </p:sp>
        <p:sp>
          <p:nvSpPr>
            <p:cNvPr id="141" name="文字方塊 140">
              <a:extLst>
                <a:ext uri="{FF2B5EF4-FFF2-40B4-BE49-F238E27FC236}">
                  <a16:creationId xmlns:a16="http://schemas.microsoft.com/office/drawing/2014/main" id="{73635C2D-3A44-4977-B3BD-BFA115816D43}"/>
                </a:ext>
              </a:extLst>
            </p:cNvPr>
            <p:cNvSpPr txBox="1"/>
            <p:nvPr/>
          </p:nvSpPr>
          <p:spPr>
            <a:xfrm>
              <a:off x="1914922" y="4503738"/>
              <a:ext cx="9918700" cy="5842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algn="l"/>
              <a:r>
                <a:rPr lang="zh-TW" altLang="en-US" sz="1400" b="1" dirty="0">
                  <a:solidFill>
                    <a:srgbClr val="D0E6FF"/>
                  </a:solidFill>
                  <a:latin typeface="Microsoft JhengHei"/>
                  <a:ea typeface="Microsoft JhengHei"/>
                </a:rPr>
                <a:t>一個人把流程整理成 </a:t>
              </a:r>
              <a:r>
                <a:rPr lang="en-US" altLang="zh-TW" sz="1400" b="1" dirty="0">
                  <a:solidFill>
                    <a:srgbClr val="D0E6FF"/>
                  </a:solidFill>
                  <a:latin typeface="Microsoft JhengHei"/>
                  <a:ea typeface="Microsoft JhengHei"/>
                </a:rPr>
                <a:t>Skill </a:t>
              </a:r>
              <a:r>
                <a:rPr lang="zh-TW" altLang="en-US" sz="1400" b="1" dirty="0">
                  <a:solidFill>
                    <a:srgbClr val="D0E6FF"/>
                  </a:solidFill>
                  <a:latin typeface="Microsoft JhengHei"/>
                  <a:ea typeface="Microsoft JhengHei"/>
                </a:rPr>
                <a:t>並上傳，全團隊的 </a:t>
              </a:r>
              <a:r>
                <a:rPr lang="en-US" altLang="zh-TW" sz="1400" b="1" dirty="0">
                  <a:solidFill>
                    <a:srgbClr val="D0E6FF"/>
                  </a:solidFill>
                  <a:latin typeface="Microsoft JhengHei"/>
                  <a:ea typeface="Microsoft JhengHei"/>
                </a:rPr>
                <a:t>AI </a:t>
              </a:r>
              <a:r>
                <a:rPr lang="zh-TW" altLang="en-US" sz="1400" b="1" dirty="0">
                  <a:solidFill>
                    <a:srgbClr val="D0E6FF"/>
                  </a:solidFill>
                  <a:latin typeface="Microsoft JhengHei"/>
                  <a:ea typeface="Microsoft JhengHei"/>
                </a:rPr>
                <a:t>助手就能直接套用這套標準，不必每個人各自摸索或重複撰寫 </a:t>
              </a:r>
              <a:r>
                <a:rPr lang="en-US" altLang="zh-TW" sz="1400" b="1" dirty="0">
                  <a:solidFill>
                    <a:srgbClr val="D0E6FF"/>
                  </a:solidFill>
                  <a:latin typeface="Microsoft JhengHei"/>
                  <a:ea typeface="Microsoft JhengHei"/>
                </a:rPr>
                <a:t>Prompt</a:t>
              </a:r>
              <a:r>
                <a:rPr lang="zh-TW" altLang="en-US" sz="1400" b="1" dirty="0">
                  <a:solidFill>
                    <a:srgbClr val="D0E6FF"/>
                  </a:solidFill>
                  <a:latin typeface="Microsoft JhengHei"/>
                  <a:ea typeface="Microsoft JhengHei"/>
                </a:rPr>
                <a:t>。</a:t>
              </a:r>
            </a:p>
          </p:txBody>
        </p:sp>
      </p:grpSp>
      <p:grpSp>
        <p:nvGrpSpPr>
          <p:cNvPr id="164" name="群組 163">
            <a:extLst>
              <a:ext uri="{FF2B5EF4-FFF2-40B4-BE49-F238E27FC236}">
                <a16:creationId xmlns:a16="http://schemas.microsoft.com/office/drawing/2014/main" id="{38FED7D8-4957-277E-3B06-BB4A1839498E}"/>
              </a:ext>
            </a:extLst>
          </p:cNvPr>
          <p:cNvGrpSpPr/>
          <p:nvPr/>
        </p:nvGrpSpPr>
        <p:grpSpPr>
          <a:xfrm>
            <a:off x="114300" y="4972050"/>
            <a:ext cx="11820922" cy="1244600"/>
            <a:chOff x="193278" y="5207000"/>
            <a:chExt cx="11820922" cy="1244600"/>
          </a:xfrm>
        </p:grpSpPr>
        <p:sp>
          <p:nvSpPr>
            <p:cNvPr id="144" name="矩形 143">
              <a:extLst>
                <a:ext uri="{FF2B5EF4-FFF2-40B4-BE49-F238E27FC236}">
                  <a16:creationId xmlns:a16="http://schemas.microsoft.com/office/drawing/2014/main" id="{AADAC2B4-D5FE-46CA-926E-FD9F2E9DF27B}"/>
                </a:ext>
              </a:extLst>
            </p:cNvPr>
            <p:cNvSpPr/>
            <p:nvPr/>
          </p:nvSpPr>
          <p:spPr>
            <a:xfrm>
              <a:off x="193278" y="5207000"/>
              <a:ext cx="11820922" cy="1244600"/>
            </a:xfrm>
            <a:prstGeom prst="rect">
              <a:avLst/>
            </a:prstGeom>
            <a:solidFill>
              <a:srgbClr val="FFD600">
                <a:alpha val="34000"/>
              </a:srgbClr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 dirty="0"/>
            </a:p>
          </p:txBody>
        </p:sp>
        <p:sp>
          <p:nvSpPr>
            <p:cNvPr id="145" name="矩形 144">
              <a:extLst>
                <a:ext uri="{FF2B5EF4-FFF2-40B4-BE49-F238E27FC236}">
                  <a16:creationId xmlns:a16="http://schemas.microsoft.com/office/drawing/2014/main" id="{3678FCB0-BE2C-4E38-9228-106F64E9DA59}"/>
                </a:ext>
              </a:extLst>
            </p:cNvPr>
            <p:cNvSpPr/>
            <p:nvPr/>
          </p:nvSpPr>
          <p:spPr>
            <a:xfrm>
              <a:off x="990600" y="5207000"/>
              <a:ext cx="165100" cy="1244600"/>
            </a:xfrm>
            <a:prstGeom prst="rect">
              <a:avLst/>
            </a:prstGeom>
            <a:solidFill>
              <a:srgbClr val="FFD600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/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662782AD-0B3E-468E-A99E-E7C4A70C21A2}"/>
                </a:ext>
              </a:extLst>
            </p:cNvPr>
            <p:cNvSpPr/>
            <p:nvPr/>
          </p:nvSpPr>
          <p:spPr>
            <a:xfrm>
              <a:off x="1155700" y="5207000"/>
              <a:ext cx="1066800" cy="304800"/>
            </a:xfrm>
            <a:prstGeom prst="rect">
              <a:avLst/>
            </a:prstGeom>
            <a:solidFill>
              <a:srgbClr val="FFD600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/>
            </a:p>
          </p:txBody>
        </p:sp>
        <p:sp>
          <p:nvSpPr>
            <p:cNvPr id="148" name="文字方塊 147">
              <a:extLst>
                <a:ext uri="{FF2B5EF4-FFF2-40B4-BE49-F238E27FC236}">
                  <a16:creationId xmlns:a16="http://schemas.microsoft.com/office/drawing/2014/main" id="{9A547526-76FA-4C64-B0DB-B1B2F9D6DD64}"/>
                </a:ext>
              </a:extLst>
            </p:cNvPr>
            <p:cNvSpPr txBox="1"/>
            <p:nvPr/>
          </p:nvSpPr>
          <p:spPr>
            <a:xfrm>
              <a:off x="1266825" y="5603875"/>
              <a:ext cx="787400" cy="558800"/>
            </a:xfrm>
            <a:prstGeom prst="rect">
              <a:avLst/>
            </a:prstGeom>
            <a:noFill/>
          </p:spPr>
          <p:txBody>
            <a:bodyPr vertOverflow="overflow" vert="horz" wrap="none" rtlCol="0" anchor="t" anchorCtr="0">
              <a:noAutofit/>
            </a:bodyPr>
            <a:lstStyle/>
            <a:p>
              <a:pPr algn="l"/>
              <a:r>
                <a:rPr lang="en-US" altLang="zh-TW" sz="4000" b="1" dirty="0">
                  <a:solidFill>
                    <a:srgbClr val="FFD600"/>
                  </a:solidFill>
                  <a:latin typeface="Microsoft JhengHei"/>
                  <a:ea typeface="Microsoft JhengHei"/>
                </a:rPr>
                <a:t>03</a:t>
              </a:r>
              <a:endParaRPr lang="zh-TW" altLang="en-US" sz="4000" b="1" dirty="0">
                <a:solidFill>
                  <a:srgbClr val="FFD600"/>
                </a:solidFill>
                <a:latin typeface="Microsoft JhengHei"/>
                <a:ea typeface="Microsoft JhengHei"/>
              </a:endParaRPr>
            </a:p>
          </p:txBody>
        </p:sp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5A7B1432-AFB8-4EB3-A158-8A900557E3A4}"/>
                </a:ext>
              </a:extLst>
            </p:cNvPr>
            <p:cNvSpPr/>
            <p:nvPr/>
          </p:nvSpPr>
          <p:spPr>
            <a:xfrm>
              <a:off x="2197100" y="5334000"/>
              <a:ext cx="25400" cy="990600"/>
            </a:xfrm>
            <a:prstGeom prst="rect">
              <a:avLst/>
            </a:prstGeom>
            <a:solidFill>
              <a:srgbClr val="FFD600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/>
            </a:p>
          </p:txBody>
        </p:sp>
        <p:sp>
          <p:nvSpPr>
            <p:cNvPr id="150" name="文字方塊 149">
              <a:extLst>
                <a:ext uri="{FF2B5EF4-FFF2-40B4-BE49-F238E27FC236}">
                  <a16:creationId xmlns:a16="http://schemas.microsoft.com/office/drawing/2014/main" id="{1E2F7484-8832-4247-8963-E5AB1E1F3FCB}"/>
                </a:ext>
              </a:extLst>
            </p:cNvPr>
            <p:cNvSpPr txBox="1"/>
            <p:nvPr/>
          </p:nvSpPr>
          <p:spPr>
            <a:xfrm>
              <a:off x="2387600" y="5403850"/>
              <a:ext cx="9461500" cy="381000"/>
            </a:xfrm>
            <a:prstGeom prst="rect">
              <a:avLst/>
            </a:prstGeom>
            <a:noFill/>
          </p:spPr>
          <p:txBody>
            <a:bodyPr vertOverflow="overflow" vert="horz" wrap="none" rtlCol="0" anchor="t" anchorCtr="0">
              <a:noAutofit/>
            </a:bodyPr>
            <a:lstStyle/>
            <a:p>
              <a:pPr algn="l"/>
              <a:r>
                <a:rPr lang="zh-TW" altLang="en-US" sz="2000" b="1" dirty="0">
                  <a:solidFill>
                    <a:srgbClr val="FFFFFF"/>
                  </a:solidFill>
                  <a:latin typeface="Microsoft JhengHei"/>
                  <a:ea typeface="Microsoft JhengHei"/>
                </a:rPr>
                <a:t>讓做法看得見、傳得下去</a:t>
              </a:r>
            </a:p>
          </p:txBody>
        </p:sp>
        <p:sp>
          <p:nvSpPr>
            <p:cNvPr id="151" name="文字方塊 150">
              <a:extLst>
                <a:ext uri="{FF2B5EF4-FFF2-40B4-BE49-F238E27FC236}">
                  <a16:creationId xmlns:a16="http://schemas.microsoft.com/office/drawing/2014/main" id="{8E1DA75B-7259-4F8A-8033-894C57353D30}"/>
                </a:ext>
              </a:extLst>
            </p:cNvPr>
            <p:cNvSpPr txBox="1"/>
            <p:nvPr/>
          </p:nvSpPr>
          <p:spPr>
            <a:xfrm>
              <a:off x="2403078" y="5864225"/>
              <a:ext cx="9461500" cy="5842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noAutofit/>
            </a:bodyPr>
            <a:lstStyle/>
            <a:p>
              <a:pPr algn="l"/>
              <a:r>
                <a:rPr lang="zh-TW" altLang="en-US" sz="1400" b="1" dirty="0">
                  <a:solidFill>
                    <a:srgbClr val="EEF5FF"/>
                  </a:solidFill>
                  <a:latin typeface="Microsoft JhengHei"/>
                  <a:ea typeface="Microsoft JhengHei"/>
                </a:rPr>
                <a:t>把原本只存在腦袋裡的操作習慣寫成 </a:t>
              </a:r>
              <a:r>
                <a:rPr lang="en-US" altLang="zh-TW" sz="1400" b="1" dirty="0">
                  <a:solidFill>
                    <a:srgbClr val="EEF5FF"/>
                  </a:solidFill>
                  <a:latin typeface="Microsoft JhengHei"/>
                  <a:ea typeface="Microsoft JhengHei"/>
                </a:rPr>
                <a:t>Skill</a:t>
              </a:r>
              <a:r>
                <a:rPr lang="zh-TW" altLang="en-US" sz="1400" b="1" dirty="0">
                  <a:solidFill>
                    <a:srgbClr val="EEF5FF"/>
                  </a:solidFill>
                  <a:latin typeface="Microsoft JhengHei"/>
                  <a:ea typeface="Microsoft JhengHei"/>
                </a:rPr>
                <a:t>，新進或接手同仁不必靠前輩交接，打開就能照著跑。</a:t>
              </a:r>
            </a:p>
          </p:txBody>
        </p:sp>
      </p:grpSp>
      <p:sp>
        <p:nvSpPr>
          <p:cNvPr id="152" name="矩形 151">
            <a:extLst>
              <a:ext uri="{FF2B5EF4-FFF2-40B4-BE49-F238E27FC236}">
                <a16:creationId xmlns:a16="http://schemas.microsoft.com/office/drawing/2014/main" id="{5D96A286-EAF1-4C86-A485-E24E17D510A4}"/>
              </a:ext>
            </a:extLst>
          </p:cNvPr>
          <p:cNvSpPr/>
          <p:nvPr/>
        </p:nvSpPr>
        <p:spPr>
          <a:xfrm>
            <a:off x="177800" y="6553200"/>
            <a:ext cx="11836400" cy="254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grpSp>
        <p:nvGrpSpPr>
          <p:cNvPr id="158" name="群組 157">
            <a:extLst>
              <a:ext uri="{FF2B5EF4-FFF2-40B4-BE49-F238E27FC236}">
                <a16:creationId xmlns:a16="http://schemas.microsoft.com/office/drawing/2014/main" id="{536A872E-9119-9D6B-D636-7A906FE6CDB7}"/>
              </a:ext>
            </a:extLst>
          </p:cNvPr>
          <p:cNvGrpSpPr/>
          <p:nvPr/>
        </p:nvGrpSpPr>
        <p:grpSpPr>
          <a:xfrm>
            <a:off x="114300" y="5530850"/>
            <a:ext cx="858838" cy="152400"/>
            <a:chOff x="0" y="5464175"/>
            <a:chExt cx="858838" cy="152400"/>
          </a:xfrm>
        </p:grpSpPr>
        <p:sp>
          <p:nvSpPr>
            <p:cNvPr id="159" name="矩形 158">
              <a:extLst>
                <a:ext uri="{FF2B5EF4-FFF2-40B4-BE49-F238E27FC236}">
                  <a16:creationId xmlns:a16="http://schemas.microsoft.com/office/drawing/2014/main" id="{8B7774F8-DCCD-FB37-38EA-0F4DAD500B0F}"/>
                </a:ext>
              </a:extLst>
            </p:cNvPr>
            <p:cNvSpPr/>
            <p:nvPr/>
          </p:nvSpPr>
          <p:spPr>
            <a:xfrm>
              <a:off x="0" y="5540375"/>
              <a:ext cx="736600" cy="25400"/>
            </a:xfrm>
            <a:prstGeom prst="rect">
              <a:avLst/>
            </a:prstGeom>
            <a:solidFill>
              <a:srgbClr val="FFD600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 dirty="0"/>
            </a:p>
          </p:txBody>
        </p:sp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881C4441-BF27-48BC-4D74-BFE98D8BC865}"/>
                </a:ext>
              </a:extLst>
            </p:cNvPr>
            <p:cNvSpPr/>
            <p:nvPr/>
          </p:nvSpPr>
          <p:spPr>
            <a:xfrm>
              <a:off x="706438" y="5464175"/>
              <a:ext cx="152400" cy="152400"/>
            </a:xfrm>
            <a:prstGeom prst="rect">
              <a:avLst/>
            </a:prstGeom>
            <a:solidFill>
              <a:srgbClr val="FFD600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/>
            </a:p>
          </p:txBody>
        </p:sp>
      </p:grpSp>
      <p:grpSp>
        <p:nvGrpSpPr>
          <p:cNvPr id="167" name="群組 166">
            <a:extLst>
              <a:ext uri="{FF2B5EF4-FFF2-40B4-BE49-F238E27FC236}">
                <a16:creationId xmlns:a16="http://schemas.microsoft.com/office/drawing/2014/main" id="{F282CB9C-E81F-49D2-822D-91B76163B0FC}"/>
              </a:ext>
            </a:extLst>
          </p:cNvPr>
          <p:cNvGrpSpPr/>
          <p:nvPr/>
        </p:nvGrpSpPr>
        <p:grpSpPr>
          <a:xfrm>
            <a:off x="149225" y="304799"/>
            <a:ext cx="7021513" cy="876301"/>
            <a:chOff x="149225" y="304799"/>
            <a:chExt cx="7021513" cy="876301"/>
          </a:xfrm>
        </p:grpSpPr>
        <p:sp>
          <p:nvSpPr>
            <p:cNvPr id="120" name="文字方塊 119">
              <a:extLst>
                <a:ext uri="{FF2B5EF4-FFF2-40B4-BE49-F238E27FC236}">
                  <a16:creationId xmlns:a16="http://schemas.microsoft.com/office/drawing/2014/main" id="{E63D168B-6B9E-4B91-9B63-A69508FEC486}"/>
                </a:ext>
              </a:extLst>
            </p:cNvPr>
            <p:cNvSpPr txBox="1"/>
            <p:nvPr/>
          </p:nvSpPr>
          <p:spPr>
            <a:xfrm>
              <a:off x="820738" y="383064"/>
              <a:ext cx="6350000" cy="654050"/>
            </a:xfrm>
            <a:prstGeom prst="rect">
              <a:avLst/>
            </a:prstGeom>
            <a:noFill/>
          </p:spPr>
          <p:txBody>
            <a:bodyPr vertOverflow="overflow" vert="horz" wrap="none" rtlCol="0" anchor="t" anchorCtr="0">
              <a:noAutofit/>
            </a:bodyPr>
            <a:lstStyle/>
            <a:p>
              <a:pPr algn="l"/>
              <a:r>
                <a:rPr lang="zh-TW" altLang="en-US" sz="3200" b="1" dirty="0">
                  <a:solidFill>
                    <a:srgbClr val="FFFFFF"/>
                  </a:solidFill>
                  <a:latin typeface="Microsoft JhengHei"/>
                  <a:ea typeface="Microsoft JhengHei"/>
                </a:rPr>
                <a:t>結語</a:t>
              </a:r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A2B38DDA-2F5C-4FD2-B831-637A2A02EA47}"/>
                </a:ext>
              </a:extLst>
            </p:cNvPr>
            <p:cNvSpPr/>
            <p:nvPr/>
          </p:nvSpPr>
          <p:spPr>
            <a:xfrm>
              <a:off x="202164" y="974090"/>
              <a:ext cx="1687909" cy="47625"/>
            </a:xfrm>
            <a:prstGeom prst="rect">
              <a:avLst/>
            </a:prstGeom>
            <a:solidFill>
              <a:srgbClr val="FFD600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/>
            </a:p>
          </p:txBody>
        </p:sp>
        <p:sp>
          <p:nvSpPr>
            <p:cNvPr id="166" name="文字方塊 165">
              <a:extLst>
                <a:ext uri="{FF2B5EF4-FFF2-40B4-BE49-F238E27FC236}">
                  <a16:creationId xmlns:a16="http://schemas.microsoft.com/office/drawing/2014/main" id="{43D609F8-A487-A5D1-607E-953B7B2876E9}"/>
                </a:ext>
              </a:extLst>
            </p:cNvPr>
            <p:cNvSpPr txBox="1"/>
            <p:nvPr/>
          </p:nvSpPr>
          <p:spPr>
            <a:xfrm>
              <a:off x="149225" y="304799"/>
              <a:ext cx="1016000" cy="876301"/>
            </a:xfrm>
            <a:prstGeom prst="rect">
              <a:avLst/>
            </a:prstGeom>
            <a:noFill/>
          </p:spPr>
          <p:txBody>
            <a:bodyPr vertOverflow="overflow" vert="horz" wrap="none" rtlCol="0" anchor="t" anchorCtr="0">
              <a:noAutofit/>
            </a:bodyPr>
            <a:lstStyle/>
            <a:p>
              <a:pPr algn="l"/>
              <a:r>
                <a:rPr lang="en-US" altLang="zh-TW" sz="4000" b="1" dirty="0">
                  <a:solidFill>
                    <a:srgbClr val="186A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05</a:t>
              </a:r>
              <a:endParaRPr lang="zh-TW" altLang="en-US" sz="4000" b="1" dirty="0">
                <a:solidFill>
                  <a:srgbClr val="186A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6979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9234851-F396-4222-A900-516C55B92730}"/>
              </a:ext>
            </a:extLst>
          </p:cNvPr>
          <p:cNvSpPr/>
          <p:nvPr/>
        </p:nvSpPr>
        <p:spPr>
          <a:xfrm>
            <a:off x="31750" y="170522"/>
            <a:ext cx="12192000" cy="6858000"/>
          </a:xfrm>
          <a:prstGeom prst="rect">
            <a:avLst/>
          </a:prstGeom>
          <a:solidFill>
            <a:srgbClr val="0F19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D47354-8F2E-4533-8265-7C87530CD4F0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F61699-01C5-4525-A531-5B1B7C1D8955}"/>
              </a:ext>
            </a:extLst>
          </p:cNvPr>
          <p:cNvSpPr/>
          <p:nvPr/>
        </p:nvSpPr>
        <p:spPr>
          <a:xfrm>
            <a:off x="0" y="6578600"/>
            <a:ext cx="4064000" cy="279400"/>
          </a:xfrm>
          <a:prstGeom prst="rect">
            <a:avLst/>
          </a:prstGeom>
          <a:solidFill>
            <a:srgbClr val="0D22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7242AA-53C4-4CC7-B226-FAEA8FEDC7B5}"/>
              </a:ext>
            </a:extLst>
          </p:cNvPr>
          <p:cNvSpPr/>
          <p:nvPr/>
        </p:nvSpPr>
        <p:spPr>
          <a:xfrm>
            <a:off x="4064000" y="6578600"/>
            <a:ext cx="4064000" cy="2794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09A39E-F21B-4D5B-976D-6CAAA2DEC6AF}"/>
              </a:ext>
            </a:extLst>
          </p:cNvPr>
          <p:cNvSpPr/>
          <p:nvPr/>
        </p:nvSpPr>
        <p:spPr>
          <a:xfrm>
            <a:off x="8128000" y="6578600"/>
            <a:ext cx="4064000" cy="279400"/>
          </a:xfrm>
          <a:prstGeom prst="rect">
            <a:avLst/>
          </a:prstGeom>
          <a:solidFill>
            <a:srgbClr val="08206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2E286C-E256-462B-9C3E-38E32A9E31D9}"/>
              </a:ext>
            </a:extLst>
          </p:cNvPr>
          <p:cNvSpPr/>
          <p:nvPr/>
        </p:nvSpPr>
        <p:spPr>
          <a:xfrm>
            <a:off x="0" y="63500"/>
            <a:ext cx="63500" cy="6515100"/>
          </a:xfrm>
          <a:prstGeom prst="rect">
            <a:avLst/>
          </a:prstGeom>
          <a:solidFill>
            <a:srgbClr val="186A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AA4CE18-274A-01C7-FF81-F841840F881E}"/>
              </a:ext>
            </a:extLst>
          </p:cNvPr>
          <p:cNvSpPr/>
          <p:nvPr/>
        </p:nvSpPr>
        <p:spPr>
          <a:xfrm>
            <a:off x="63500" y="0"/>
            <a:ext cx="12128500" cy="1165860"/>
          </a:xfrm>
          <a:prstGeom prst="rect">
            <a:avLst/>
          </a:prstGeom>
          <a:solidFill>
            <a:srgbClr val="041A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grpSp>
        <p:nvGrpSpPr>
          <p:cNvPr id="72" name="群組 71">
            <a:extLst>
              <a:ext uri="{FF2B5EF4-FFF2-40B4-BE49-F238E27FC236}">
                <a16:creationId xmlns:a16="http://schemas.microsoft.com/office/drawing/2014/main" id="{113B47AD-461E-34B9-964F-35D4AD7E0C61}"/>
              </a:ext>
            </a:extLst>
          </p:cNvPr>
          <p:cNvGrpSpPr/>
          <p:nvPr/>
        </p:nvGrpSpPr>
        <p:grpSpPr>
          <a:xfrm>
            <a:off x="311150" y="362945"/>
            <a:ext cx="3197860" cy="630242"/>
            <a:chOff x="346075" y="416608"/>
            <a:chExt cx="3197860" cy="630242"/>
          </a:xfrm>
        </p:grpSpPr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005E5C22-4614-40C4-8873-E67C8410FFDE}"/>
                </a:ext>
              </a:extLst>
            </p:cNvPr>
            <p:cNvSpPr txBox="1"/>
            <p:nvPr/>
          </p:nvSpPr>
          <p:spPr>
            <a:xfrm>
              <a:off x="346075" y="416608"/>
              <a:ext cx="3197860" cy="52322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zh-TW" altLang="en-US" sz="28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附錄</a:t>
              </a: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D7262894-9962-CDCC-A1F4-E9DA4A1D2634}"/>
                </a:ext>
              </a:extLst>
            </p:cNvPr>
            <p:cNvSpPr/>
            <p:nvPr/>
          </p:nvSpPr>
          <p:spPr>
            <a:xfrm>
              <a:off x="346075" y="1001131"/>
              <a:ext cx="1007511" cy="45719"/>
            </a:xfrm>
            <a:prstGeom prst="rect">
              <a:avLst/>
            </a:prstGeom>
            <a:solidFill>
              <a:srgbClr val="FFD600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zh-TW" altLang="en-US"/>
            </a:p>
          </p:txBody>
        </p:sp>
      </p:grpSp>
      <p:sp>
        <p:nvSpPr>
          <p:cNvPr id="2" name="文字方塊 1">
            <a:extLst>
              <a:ext uri="{FF2B5EF4-FFF2-40B4-BE49-F238E27FC236}">
                <a16:creationId xmlns:a16="http://schemas.microsoft.com/office/drawing/2014/main" id="{CD488E98-2994-9ADE-B0F7-3418D918AE04}"/>
              </a:ext>
            </a:extLst>
          </p:cNvPr>
          <p:cNvSpPr txBox="1"/>
          <p:nvPr/>
        </p:nvSpPr>
        <p:spPr>
          <a:xfrm>
            <a:off x="311150" y="1453414"/>
            <a:ext cx="839322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PPT Layout 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參考</a:t>
            </a:r>
            <a:b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https://furoku.github.io/bananaX/projects/infographic-evaluation/zh/index.html?lang=zh&amp;tab=Business</a:t>
            </a:r>
            <a:b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b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Anthropic 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講解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Agent Skills</a:t>
            </a:r>
            <a:b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https://blog.aihao.tw/2026/02/24/dont-build-agents-build-skills/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Build Agent Skills</a:t>
            </a:r>
          </a:p>
          <a:p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4"/>
              </a:rPr>
              <a:t>https://www.bnext.com.tw/article/90058/agent-skills-free-course-deeplearning-ai-anthropic-latest-partnership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Agent Skills 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工作流指南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5"/>
              </a:rPr>
              <a:t>https://www.bnext.com.tw/article/90186/what-is-agent-skill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Anthropic </a:t>
            </a:r>
            <a:r>
              <a:rPr lang="en-US" altLang="zh-TW" b="1" dirty="0" err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Github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repo for Agent Skills </a:t>
            </a:r>
          </a:p>
          <a:p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hlinkClick r:id="rId6"/>
              </a:rPr>
              <a:t>https://github.com/anthropics/skills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b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zh-TW" altLang="en-US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25638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300EB05-CB4B-457B-B8A5-B114389FA8FD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1285</TotalTime>
  <Words>1450</Words>
  <Application>Microsoft Office PowerPoint</Application>
  <PresentationFormat>寬螢幕</PresentationFormat>
  <Paragraphs>185</Paragraphs>
  <Slides>12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0" baseType="lpstr">
      <vt:lpstr>Roboto Flex</vt:lpstr>
      <vt:lpstr>微軟正黑體</vt:lpstr>
      <vt:lpstr>微軟正黑體</vt:lpstr>
      <vt:lpstr>Arial</vt:lpstr>
      <vt:lpstr>Calibri</vt:lpstr>
      <vt:lpstr>Calibri Light</vt:lpstr>
      <vt:lpstr>Consolas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Cathay Century Insurance CO.,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孟哲 呂</dc:creator>
  <cp:lastModifiedBy>呂孟哲 JACKY</cp:lastModifiedBy>
  <cp:revision>36</cp:revision>
  <dcterms:created xsi:type="dcterms:W3CDTF">2026-03-02T08:26:09Z</dcterms:created>
  <dcterms:modified xsi:type="dcterms:W3CDTF">2026-03-03T05:52:56Z</dcterms:modified>
</cp:coreProperties>
</file>